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Scaffold R²</c:v>
                </c:pt>
              </c:strCache>
            </c:strRef>
          </c:tx>
          <c:spPr>
            <a:solidFill>
              <a:srgbClr val="116E64"/>
            </a:solidFill>
            <a:effectLst/>
          </c:spPr>
          <c:invertIfNegative val="0"/>
          <c:dLbls>
            <c:numFmt formatCode="0.00" sourceLinked="0"/>
            <c:txPr>
              <a:bodyPr/>
              <a:lstStyle/>
              <a:p>
                <a:pPr>
                  <a:defRPr b="0" i="0" strike="noStrike" sz="1100" u="none">
                    <a:solidFill>
                      <a:srgbClr val="22333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5-HT₂A</c:v>
                  </c:pt>
                  <c:pt idx="1">
                    <c:v>Dopamine D₃</c:v>
                  </c:pt>
                </c:lvl>
              </c:multiLvlStrCache>
            </c:multiLvlStrRef>
          </c:cat>
          <c:val>
            <c:numRef>
              <c:f>Sheet1!$B$2:$B$3</c:f>
              <c:numCache>
                <c:formatCode>General</c:formatCode>
                <c:ptCount val="2"/>
                <c:pt idx="0">
                  <c:v>0.562</c:v>
                </c:pt>
                <c:pt idx="1">
                  <c:v>0.644</c:v>
                </c:pt>
              </c:numCache>
            </c:numRef>
          </c:val>
        </c:ser>
        <c:ser>
          <c:idx val="1"/>
          <c:order val="1"/>
          <c:tx>
            <c:strRef>
              <c:f>Sheet1!$C$1</c:f>
              <c:strCache>
                <c:ptCount val="1"/>
                <c:pt idx="0">
                  <c:v>10-fold CV R²</c:v>
                </c:pt>
              </c:strCache>
            </c:strRef>
          </c:tx>
          <c:spPr>
            <a:solidFill>
              <a:srgbClr val="BE5638"/>
            </a:solidFill>
            <a:effectLst/>
          </c:spPr>
          <c:invertIfNegative val="0"/>
          <c:dLbls>
            <c:numFmt formatCode="0.00" sourceLinked="0"/>
            <c:txPr>
              <a:bodyPr/>
              <a:lstStyle/>
              <a:p>
                <a:pPr>
                  <a:defRPr b="0" i="0" strike="noStrike" sz="1100" u="none">
                    <a:solidFill>
                      <a:srgbClr val="22333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5-HT₂A</c:v>
                  </c:pt>
                  <c:pt idx="1">
                    <c:v>Dopamine D₃</c:v>
                  </c:pt>
                </c:lvl>
              </c:multiLvlStrCache>
            </c:multiLvlStrRef>
          </c:cat>
          <c:val>
            <c:numRef>
              <c:f>Sheet1!$C$2:$C$3</c:f>
              <c:numCache>
                <c:formatCode>General</c:formatCode>
                <c:ptCount val="2"/>
                <c:pt idx="0">
                  <c:v>0.679</c:v>
                </c:pt>
                <c:pt idx="1">
                  <c:v>0.717</c:v>
                </c:pt>
              </c:numCache>
            </c:numRef>
          </c:val>
        </c:ser>
        <c:dLbls>
          <c:numFmt formatCode="0.00" sourceLinked="0"/>
          <c:txPr>
            <a:bodyPr/>
            <a:lstStyle/>
            <a:p>
              <a:pPr>
                <a:defRPr b="0" i="0" strike="noStrike" sz="1100" u="none">
                  <a:solidFill>
                    <a:srgbClr val="22333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ECFP4 only</c:v>
                </c:pt>
              </c:strCache>
            </c:strRef>
          </c:tx>
          <c:spPr>
            <a:solidFill>
              <a:srgbClr val="8FB3AE"/>
            </a:solidFill>
            <a:effectLst/>
          </c:spPr>
          <c:invertIfNegative val="0"/>
          <c:dLbls>
            <c:numFmt formatCode="0.000" sourceLinked="0"/>
            <c:txPr>
              <a:bodyPr/>
              <a:lstStyle/>
              <a:p>
                <a:pPr>
                  <a:defRPr b="0" i="0" strike="noStrike" sz="1000" u="none">
                    <a:solidFill>
                      <a:srgbClr val="22333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5-HT₂A</c:v>
                  </c:pt>
                  <c:pt idx="1">
                    <c:v>Dopamine D₃</c:v>
                  </c:pt>
                </c:lvl>
              </c:multiLvlStrCache>
            </c:multiLvlStrRef>
          </c:cat>
          <c:val>
            <c:numRef>
              <c:f>Sheet1!$B$2:$B$3</c:f>
              <c:numCache>
                <c:formatCode>General</c:formatCode>
                <c:ptCount val="2"/>
                <c:pt idx="0">
                  <c:v>0.544</c:v>
                </c:pt>
                <c:pt idx="1">
                  <c:v>0.639</c:v>
                </c:pt>
              </c:numCache>
            </c:numRef>
          </c:val>
        </c:ser>
        <c:ser>
          <c:idx val="1"/>
          <c:order val="1"/>
          <c:tx>
            <c:strRef>
              <c:f>Sheet1!$C$1</c:f>
              <c:strCache>
                <c:ptCount val="1"/>
                <c:pt idx="0">
                  <c:v>Descriptors only</c:v>
                </c:pt>
              </c:strCache>
            </c:strRef>
          </c:tx>
          <c:spPr>
            <a:solidFill>
              <a:srgbClr val="60727A"/>
            </a:solidFill>
            <a:effectLst/>
          </c:spPr>
          <c:invertIfNegative val="0"/>
          <c:dLbls>
            <c:numFmt formatCode="0.000" sourceLinked="0"/>
            <c:txPr>
              <a:bodyPr/>
              <a:lstStyle/>
              <a:p>
                <a:pPr>
                  <a:defRPr b="0" i="0" strike="noStrike" sz="1000" u="none">
                    <a:solidFill>
                      <a:srgbClr val="22333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5-HT₂A</c:v>
                  </c:pt>
                  <c:pt idx="1">
                    <c:v>Dopamine D₃</c:v>
                  </c:pt>
                </c:lvl>
              </c:multiLvlStrCache>
            </c:multiLvlStrRef>
          </c:cat>
          <c:val>
            <c:numRef>
              <c:f>Sheet1!$C$2:$C$3</c:f>
              <c:numCache>
                <c:formatCode>General</c:formatCode>
                <c:ptCount val="2"/>
                <c:pt idx="0">
                  <c:v>0.521</c:v>
                </c:pt>
                <c:pt idx="1">
                  <c:v>0.598</c:v>
                </c:pt>
              </c:numCache>
            </c:numRef>
          </c:val>
        </c:ser>
        <c:ser>
          <c:idx val="2"/>
          <c:order val="2"/>
          <c:tx>
            <c:strRef>
              <c:f>Sheet1!$D$1</c:f>
              <c:strCache>
                <c:ptCount val="1"/>
                <c:pt idx="0">
                  <c:v>Fused</c:v>
                </c:pt>
              </c:strCache>
            </c:strRef>
          </c:tx>
          <c:spPr>
            <a:solidFill>
              <a:srgbClr val="116E64"/>
            </a:solidFill>
            <a:effectLst/>
          </c:spPr>
          <c:invertIfNegative val="0"/>
          <c:dLbls>
            <c:numFmt formatCode="0.000" sourceLinked="0"/>
            <c:txPr>
              <a:bodyPr/>
              <a:lstStyle/>
              <a:p>
                <a:pPr>
                  <a:defRPr b="0" i="0" strike="noStrike" sz="1000" u="none">
                    <a:solidFill>
                      <a:srgbClr val="22333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5-HT₂A</c:v>
                  </c:pt>
                  <c:pt idx="1">
                    <c:v>Dopamine D₃</c:v>
                  </c:pt>
                </c:lvl>
              </c:multiLvlStrCache>
            </c:multiLvlStrRef>
          </c:cat>
          <c:val>
            <c:numRef>
              <c:f>Sheet1!$D$2:$D$3</c:f>
              <c:numCache>
                <c:formatCode>General</c:formatCode>
                <c:ptCount val="2"/>
                <c:pt idx="0">
                  <c:v>0.562</c:v>
                </c:pt>
                <c:pt idx="1">
                  <c:v>0.644</c:v>
                </c:pt>
              </c:numCache>
            </c:numRef>
          </c:val>
        </c:ser>
        <c:dLbls>
          <c:numFmt formatCode="0.000" sourceLinked="0"/>
          <c:txPr>
            <a:bodyPr/>
            <a:lstStyle/>
            <a:p>
              <a:pPr>
                <a:defRPr b="0" i="0" strike="noStrike" sz="1000" u="none">
                  <a:solidFill>
                    <a:srgbClr val="22333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noMultiLvlLbl val="1"/>
      </c:catAx>
      <c:valAx>
        <c:axId val="2094734552"/>
        <c:scaling>
          <c:orientation val="minMax"/>
          <c:max val="0.75"/>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Dagmawi Tarekegn Fikadu and I will present the machine-learning part of my thesis: predicting GPCR binding affinity directly from molecular structure. Supervised by Prof. Giorgetti and Filippo Baldessari. The thread running through the talk is not just building a model that predicts well, but validating it carefully enough that we can trust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how the project fits together. Part One was curation and characterisation: a clean clinical-stage GPCR ligand dataset, and mapping its chemistry. Part Two, today, uses that dataset to predict binding affinity with careful validation. Then the four parts of the talk: the task, the models, the validation discipline which is the heart of the work,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GPCRs are the most productive drug-target class we have, about a third of approved drugs. The aminergic subfamily is especially rich in drugs because its pockets fit small drug-like molecules. What we predict is binding affinity, Ki, on a log scale as pKi. The only thing to remember: higher pKi means tighter binding.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curation pipeline: human Ki binding data from ChEMBL, compounds in clinical Phases I to IV, below 700 daltons, with salt removal, peptides excluded, a rotatable-bond flexibility filter, and deduplication keeping the highest pKi per molecule. That yields 3,011 compound-target records spanning 719 unique molecules, 47 targets and 18 receptor families. The reason to curate by clinical stage rather than by potency is that this chemistry has already cleared safety and developability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chemical space is strongly aminergic: serotonin 25.3%, adrenergic 21.1%, dopamine 17.2%, muscarinic 15.3%, opiate 7.5%, together about 86% of records. On clinical phase, an important subtlety: at record level 69.8% are Phase IV, but approved drugs are promiscuous and get assayed against many targets, so they are over-counted. Counted per unique molecule it is 52.4% Phase IV, 31.4% Phase II, 12.4% Phase III, 3.8% Phase I. That class imbalance is a defining feature and it is carried through every later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defining property of a clinically curated set is that its compounds are extensively polypharmacological, which follows directly from selecting on clinical status rather than single-target potency. Across the 719 molecules the mean is 4.19 distinct targets, median 2, maximum 31, and 64.7% hit more than one target. Promiscuity crosses family boundaries too: 1.89 families on average, and 38% act on more than one family. This matters twice: it is the basis for repurposing, and it is why I later remove promiscuous compounds and retrain as a robustness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Part One rests on this panel. Fifteen descriptors computed with RDKit for every curated compound. Eleven are physicochemical and structural: molecular weight, LogP, LogS, polar surface area, hydrogen-bond acceptors and donors, rotatable bonds, heavy-atom count, ring count, fraction of sp3 carbons, and halogen count. Four are composite efficiency metrics built from those plus the measured affinity: QED, ligand efficiency, lipophilic ligand efficiency, and LELP. These are the interpretable ones, and they are what the next two slides analyse. Hold on to this number, fifteen, because in Part Two the same idea is scaled to about 200 normalised descriptors plus a 2,048-bit fingerprint. That is the bridge between the two halves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to earn its place, so I start with the question rather than the plot. Raw potency is easy to buy: add atoms, add grease, and affinity goes up. So the first thing to ask of any potency dataset is whether the potency was earned or purchased. Ligand efficiency answers that, because it is binding energy per heavy atom, 1.37 times pKi divided by heavy-atom count. On the left, affinity against size, and the dashed diagonals are iso-efficiency contours: every compound on one line has the same efficiency whatever its size. Most of the set sits between 0.2 and 0.5, which is the normal band for optimised drugs. On the right, efficiency falls steeply with size, Spearman rho minus 0.77. And here is the number that makes it concrete. Compare compounds with twenty or fewer heavy atoms against those with thirty-five or more: median ligand efficiency drops from 0.52 to 0.24, less than half, while median potency is 6.66 against 6.51, essentially identical. Those extra fifteen heavy atoms bought nothing. That is why efficiency rather than raw potency is the right optimisation target. If asked about the clipped axis: the axis is clipped at the 95th percentile, 0.645, not the data. Every compound is still in the analysis and in the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PCA on the standardized descriptors, at record level. Two components carry 65.5 per cent of the variance and four reach eighty, so the descriptor space is low-dimensional. PC1, 41.2 per cent, is a size and efficiency axis; PC2, 24.3 per cent, is polarity. Now the caveat I would raise myself rather than wait for it. Three of the fifteen descriptors, ligand efficiency, LLE and LELP, are computed from pKi, so this is not purely a chemical space: PC1 correlates with affinity at minus 0.27. I therefore repeated the analysis on the eleven purely structural descriptors, where that correlation falls to minus 0.02, and the conclusion is unchanged. Clinical phase does not meaningfully separate. It is statistically detectable at this sample size, but the effect sizes are negligible, epsilon-squared 0.005 on PC1 and 0.02 on PC2 against 0.06 for what would count as a small effect, and between 94 and 100 per cent of Phase I compounds sit inside the Phase IV range. So the honest statement is no useful discrimination rather than no separation at all, and that is exactly why the modelling moves to fingerprints instead of bulk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slides folded into one, and I will talk through most of it. These are the two receptors: serotonin 5-HT2A and dopamine D3, both data-rich aminergic GPCRs. I am showing the endogenous ligands rather than an arbitrary drug, because the receptors are named after them and because they make the word aminergic concrete. Both carry a protonatable amine, circled, which forms a salt bridge to a conserved aspartate in transmembrane helix three. That is the anchor point every ligand in my dataset competes for, and it is worth holding on to, because when we reach the interpretation slides 5-HT2A turns out to be driven by charge and electrostatics. Now the arrows, and I want to be upfront about this because my title says clinical-stage. The curated clinical set gives only 172 and 173 compounds for these two targets, too few to train on and validate honestly at the same time. So each was extended with preclinical ChEMBL compounds under the same metadata-based curation rules, roughly 27-fold for 5-HT2A and 32-fold for D3, reaching 4,620 and 5,488. The critical point is that the scaffold split still holds out whole scaffold families, so every test compound remains structurally novel to the model. A fair expansion, not a shortcut, and it is what took R-squared from about 0.3 to about 0.6. If asked whether the preclinical set occupies the same chemical space: 84 and 87 per cent of the added compounds fall inside the clinical region, median nearest-clinical Tanimoto 0.33, so related but not redundant. There is a real offset of 0.7 and 1.1 standard deviations, and it is coherent, because everything that shifts is size, polarity or three-dimensionality while LogP does not move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three clicks. The whole pipeline in one line. A molecule goes in as a structure, is turned into a fixed set of numbers, those go into a model, and out comes a predicted pKi. The key point, and the reason the next two slides exist: a model is just a mathematical function. It only works on numbers, it cannot read a chemical drawing. So the first real step is translating the molecule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has two parts. First, a fingerprint. For every atom I look at its local neighbourhood out to two bonds, a small substructure, and hash it into one of 2,048 slots. The figure shows the idea on tyrosine: circle a substructure, and it switches on one bit. Present is 1, absent is 0. Two things matter: the vector is always 2,048 bits whatever the molecule size, which is exactly what a model needs, and similar structures give similar barcodes. I use tyrosine here because it is simple enough to read at a glance, and it happens to be the biosynthetic precursor of dopamine, so it is not an arbitrary example for this target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is about 200 physicochemical descriptors: whole-molecule properties like weight, lipophilicity, polar surface area, charge. I concatenate fingerprint and descriptors into a single 2,248-dimensional vector, and that fused vector is the only thing the model ever sees. I did compare the three options rather than assume: fusion helped modestly on 5-HT2A and tied on D3, so it was adopted as best-or-tied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four clicks, three cards then the diagram. Three tree ensembles. Random Forest builds hundreds of trees on random subsets and averages them so individual errors cancel. XGBoost and CatBoost are boosting: trees added one after another, each correcting the last one mistakes. CatBoost was added mainly to check the result is not specific to one method. I chose tree ensembles over deep learning because at this data scale they are competitive, robust and interpretable.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I care most about, so I slow down here. The obvious test is a random train-test split, but it is misleading on this kind of data. Medicinal chemistry datasets are full of analogue series, dozens of variations on one core, so a random split scatters near-identical analogues across both sides and the model recognises what it has effectively already seen. The score looks excellent and it is inflated. The fix is to split by family. A scaffold is the core skeleton: strip every side chain and keep the ring system and the linkers between rings. Whole scaffold families are held out together, so every test compound is chemistry the model has genuinely never seen. The score drops, and that drop is the entire point. Concretely: grouping is by exact Bemis-Murcko scaffold, whole groups assigned to one side, repeated over 12 randomised 80/20 partitions, mean reported with a confidence interval. IF ASKED WHETHER THIS IS A SIMILARITY-BASED SPLIT, and it is the most likely technical question of the talk, the answer is no and I should be precise. Molecules are grouped by their exact Murcko scaffold string and whole groups go to one side. It is not Butina or Tanimoto clustering. The honest consequence is that two chemically similar but formally different scaffolds could in principle sit on opposite sides. That is exactly why I also report the nearest-neighbour read-across baseline: copying the affinity of the single most Tanimoto-similar training compound is precisely the strategy that would exploit any residual similarity, and the models beat it by about 0.2 R-squared, 0.347 to 0.562 and 0.435 to 0.644. So whatever leftover similarity exists, it is not what drives the result. AND I DID RUN THE STRICTER SPLIT, so I should not offer it as future work. I repeated the classification task with compounds grouped into single-linkage connected components at 0.60 Tanimoto, which guarantees the separation by construction; I used connected components rather than Butina because Butina clusters are not transitively closed, so two compounds above the threshold can land in different clusters and the split does not actually enforce what it promises. Under that harsher partition MCC roughly halves, 0.632 to 0.328 and 0.633 to 0.296. For D3 the model still beats read-across, 0.296 against 0.234, winning 11 of 12 splits, p equals 0.016. For 5-HT2A it does not, 0.328 against 0.331, p equals 0.73. That is in the thesis, section 3.5.9, and I would rather state it than be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results. The best model, fused features with XGBoost, reaches a scaffold-split R-squared of 0.56 for 5-HT2A and 0.64 for D3, with a scaffold-split RMSE of 0.81 and 0.76 log units, about 1.6 and 1.5 times the experimental noise floor of the data itself. Note this is the scaffold RMSE, measured over the same 12 splits; the 0.68 to 0.70 figures elsewhere are the ten-fold cross-validation RMSE and are not comparable. The bars show the honest scaffold score against the more optimistic cross-validation score. Random Forest and CatBoost land in the same place, so performance here is set by the data and the representation, not by which learner I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against measured pKi on held-out compounds, both targets on identical axes. The grey dashed line is perfect prediction. The solid line is the actual fit through the points, and the gap between them is the whole message. That fitted slope is 0.58 for 5-HT2A and 0.61 for D3, not 1. What that means concretely: a compound whose real pKi is 5 gets predicted at about 6, over-predicted by roughly a log unit, and a compound whose real pKi is 9.5 gets predicted at about 8.5, under-predicted by roughly the same. The predicted spread is 74 and 76 per cent of the measured spread. This is regression to the mean under a leakage-controlled split rather than a defect: predicting near the average is the safest way to minimise average error, so the model is deliberately cautious at the extremes. The practical consequence, and I would volunteer it: the ranking is reliable, which is what the enrichment result shows, but absolute predicted values are conservative at the potent end. Held-out n is 949 and 1,131.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histograms on identical bins and axes, so the comparison is direct rather than asserted. On the left, the experimental pKi of the held-out compounds. On the right, what the model predicted for those same compounds. The measured distribution runs from about 3.5 to 11; the predicted one is squeezed into roughly 5 to 10. Numerically, standard deviation 1.24 and 1.28 measured against 0.92 and 0.98 predicted, so about 74 and 76 per cent of the real spread survives. This is regression to the mean under a leakage-controlled split, and it is expected: predicting near the average is the safest way to minimise average error, so the model is deliberately cautious at the extremes. It is the same finding as the parity slope, seen a second way: the slope said the line is too flat, this says the histogram is too narrow. The consequence carries into the screening section later, where the model will rarely commit to a very high predicted affinity, so absolute values at the potent end should be read as conservative. If asked why there is no enrichment curve in the deck, the enrichment number and its ceiling are quantified later on the screening metrics slide, and this comparison says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that the gain is genuinely data-driven. The two panels are on identical scales, x to 4,800 and y from 0.10 to 0.75 on both, so the curves can be compared directly. Every point carries its R-squared and its actual training-set size, so nothing has to be read off the axis. IF ASKED WHY THE CURVE STOPS AT 3,696 AND 4,390 WHEN THE SETS ARE 4,620 AND 5,488: the x axis is the training pool, which is 80 per cent of each set. The other 20 per cent, 924 and 1,098 compounds, is the held-out test set that every R-squared on this figure is measured on. It is noted on the figure itself. As the training set grows, R-squared climbs from 0.249 at 200 training compounds to 0.560 at the full 3,696 for 5-HT2A, and from 0.370 to 0.634 at 4,390 for D3, with sharply diminishing returns. Each point is a mean over five scaffold splits and the shaded band is one standard deviation, so the scatter is visible rather than hidden. Two things to draw out. First, D3 sits above 5-HT2A at every matched training size, not just at the end, which says the D3 structure-activity relationship is easier to learn rather than that it merely had more data. Second, the plateau is the model approaching the ceiling reachable from single-target data at this representation, so adding more of the same data would not help much from here; exceeding it needs multitask learning or structural information. The flat tail is the useful part: for 5-HT2A the first thousand compounds buy 0.264 of the total 0.311 gain and the last 1,696 add 0.007, so more of the same data would not help. D3 is still climbing slightly at the full pool, which fits its larger and smoother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worth answering rather than assuming: was fusing the two representations worth it? For 5-HT2A the fused representation is best at 0.562, just ahead of the fingerprint alone at 0.544 and the descriptor panel alone at 0.521, so the two feature types carry partly independent signal and combining them helps modestly. For dopamine D3 the fingerprint alone already captures almost everything at 0.639, and fusion adds essentially nothing, 0.644. So fused was adopted throughout as the best-or-tied choice on both targets. Note the descriptor panel alone is the weakest of the three on both targets: whole-molecule properties matter, but substructure matters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control asks whether the performance reflects real structure-activity signal or chance fitting. I permuted the training labels 100 times and refitted, for each target. If the model were fitting noise, shuffling the labels would leave it roughly unchanged. Instead the held-out R-squared collapses to a null distribution centered well below zero, mean minus 0.08 and minus 0.07, with a maximum of 0.02, far below the true values of 0.60 and 0.63 on this split. No permutation reaches the true value, giving a permutation p of 0.0099 for both targets. So the models are capturing signal, not fitting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control. The most deflating explanation for a good QSAR score is that the model has just memorised which training compound each test compound looks like. So I benchmarked against exactly that: a one-nearest-neighbour read-across, where each test compound is assigned the pKi of its most Tanimoto-similar training compound. No learning at all. That reaches R-squared of only 0.347 for 5-HT2A and 0.435 for D3. The models reach 0.562 and 0.644, so they beat the lookup by roughly 0.2 R-squared on both targets. That is the evidence that they learn aggregate structure-activity relationships rather than performing a disguised similarity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natural worry is whether performance rests on a handful of promiscuous multi-target drugs, the tamoxifens and amiodarones from the polypharmacology slide. So I removed every compound hitting five or more distinct targets, 136 of 4,620 for 5-HT2A and 117 of 5,488 for D3, and retrained. R-squared did not drop; it rose slightly, 0.56 to 0.58 and 0.64 to 0.67. The regression result therefore does not depend on those compounds. If asked why removal helps rather than hurts: a molecule optimised to hit many targets sits in a region where the structure-activity relationship for any one target is weaker, so those compounds are harder to fit and removing them leaves a marginally cleaner signal. I repeated the same ablation on the classifier and it gives the same answer in MCC, 0.632 to 0.662 and 0.633 to 0.635; that is on the classification controls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 the models actually use I computed SHAP values, which attribute each prediction back to the input features. The interesting result: the two targets rely on different chemistry. 5-HT2A is driven mostly by partial-charge and electrostatic descriptors, while D3 leans on shape and topology, Balaban J, Kappa1, Chi indices. That is chemically sensible and mirrors the different binding pockets, so the models are not black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defines the task, and it should come before any score. Every compound in the set is a measured binder, so I am not separating binders from non-binders; I am separating potent from weak. The cut is at 100 nanomolar, a pKi of 7, drawn as the solid line. That gives 2,742 active against 1,878 inactive for 5-HT2A, 59 to 41 per cent, and 3,687 against 1,801 for D3, 67 to 33. Near-balanced, which is what makes MCC a meaningful number rather than a formality. Now the obvious question, and I would rather answer it before it is asked: why 100 nanomolar and not 1 micromolar, which is the more common screening cut-off. The dashed line is 1 micromolar. On this library it leaves 85 and 87 per cent of compounds on the active side, because almost everything here is at least a micromolar binder, and the measured consequence is that MCC drops from 0.635 to 0.346 for 5-HT2A and from 0.632 to 0.426 for D3. So the threshold is not arbitrary and it is not tuned to flatter the result. It is the cut-off at which this library actually contains two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classifier itself rather than a summary of it. Read the top-left cell of each panel: for 5-HT2A, 444 of the 534 true actives were found, and 325 of the 393 true inactives correctly rejected, with 68 false alarms and 90 missed. For D3, 637 of 731 actives found, 286 of 371 inactives rejected. This is one representative split, and I want to be precise about what representative means: the seed was chosen as the one minimising distance to the twelve-split median MCC, not the best of twelve. Its MCC is 0.65 and 0.64, against twelve-split means of 0.63 and 0.63, so it is a fair picture rather than a flattering one. The thing to point at is the balance. Recall and specificity are both about 0.83 for 5-HT2A. For D3 recall is 0.87 and specificity 0.77, so it is slightly more willing to call something active, which follows from D3 being 67 per cent active to begin with. Every metric on the next slide is computed from these four numbers, so if anyone doubts a metric they can recompute it from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finished the regression results, I now recast the same models as a classifier, because that is closer to how they would actually be used. Filippo asked me to say what the metrics are rather than put numbers on a screen, so this slide leads with definitions. MCC first. Accuracy is misleading when one class dominates, and my library is 59 and 67 per cent active at the 100 nanomolar cut-off, so a model answering active every single time scores 59 per cent accurate and is completely useless. The Matthews correlation coefficient uses all four cells of the confusion matrix, so it only goes high when both classes are called correctly. Plus one perfect, zero chance, minus one perfectly wrong. Ours is 0.635 and 0.632 over twelve scaffold splits, and all three learners agree within about 0.03. Enrichment factor second. Rank the library by predicted affinity, take the top one per cent, and ask how much richer in true actives that slice is than the library as a whole. One means random ranking. Ours is 1.67 and 1.46, and this is the number people misread, so give the ceiling immediately: the maximum achievable is one divided by the active fraction, 1.69 and 1.49 here, so we are at about 98 per cent of the theoretical maximum, not at a mediocre 1.67. Then the caveat, volunteered: every compound in this set is a measured binder, so this separates potent binders from weaker binders, not binders from non-binders. A genuine binder-versus-decoy screen would need inactive data my dataset does not contain. ROC-AUC is 0.92 for both targets and it is in my results, but I do not lead with it because on a majority-active library it flatters any model. If asked for the confusion matrix, it is on the previous slide: for 5-HT2A, 444 true positives, 68 false positives, 90 false negatives, 325 true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Filippo asked for the classification equivalent of the regression diagnostics, and calibration is the right one because it is the direct counterpart of the predicted-versus-experimental plot: mean predicted probability on the x-axis, observed fraction active on the y-axis, and the identity line. Points on the line mean the probabilities are trustworthy numbers, so when the model says eighty per cent active, about eighty per cent really are. Dopamine D3 tracks the diagonal almost exactly; 5-HT2A shows mild under-confidence in the middle of the range, between roughly 0.4 and 0.6, involving relatively few compounds. Why this matters: it is the one property that neither MCC nor enrichment factor can test. MCC is a threshold metric and enrichment is a ranking metric, and a model can score well on both while producing probabilities that mean nothing. If asked about separation of the two classes, that is what the MCC of 0.635 and 0.632 and the confusion matrix on the previous slide already establish, so I do not repeat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applied to the classifier. First, what the axis is: for a classifier the tree contributions sum to the margin in log-odds, not to a probability, because the sigmoid comes afterwards and is not additive. So the ranking is comparable to my regression SHAP figure but the magnitudes are not, and I have labelled the axis accordingly. The headline is agreement. Across all 200 named descriptors the Spearman rank correlation between the regression and classification attributions is 0.90 for 5-HT2A and 0.87 for D3, and ten out of ten of the regression top-ten remain in the classifier top-twenty for 5-HT2A. That matters because it means the interpretation is not an artefact of choosing squared error: ask the model a different question and it leans on the same chemistry. The receptor contrast survives too. 5-HT2A is dominated by PEOE_VSA terms, which are surface areas binned by partial charge, with lipophilicity behind them. D3 is dominated by Balaban J, a topological branching index, which alone carries 18 per cent of the total attribution and is six times the next descriptor. If asked whether the charge terms recover the salt bridge: the two largest do run in the expected direction, negative-charge surface pushing toward inactive and positive toward active, but I checked all fourteen charge bins and there is no monotonic trend, so I would not claim the model recovered the mechanism. It has learned something more specific than cations bind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classification section, and the point of the slide is that this section was held to the same standard as the main one. All three controls from the regression section were repeated. Representation: the same ordering, fused best or tied, ECFP4 0.629 and 0.629, descriptors 0.604 and 0.585, fused 0.632 and 0.633. Y-randomisation: MCC collapses to a null centred at zero: mean plus 0.02 and minus 0.00 over 100 permutations, best case 0.17 and 0.14, against 0.68 and 0.67 for the true labels on that same split, giving p equals 0.0099. These are single-split values from one scaffold partition, which is what a permutation test needs; the twelve-split means are 0.635 and 0.632. Note that the MCC null sits at zero rather than below it, because MCC is defined so chance equals zero, whereas R-squared can go negative. Read-across: MCC 0.574 and 0.551 against the models 0.632 and 0.633. And that last one is the number I would volunteer rather than wait to be asked. On regression the models beat nearest-neighbour lookup by about 0.2 R-squared, a 48 to 62 per cent gain. As a classifier the margin narrows to 0.06 and 0.08 MCC, only 10 to 15 per cent. The reason is that thresholded classification is an easier task: a compound and its closest structural neighbour usually fall on the same side of a 100 nanomolar cut-off, so lookup is already strong. Predicting the actual affinity value is where the model earns its keep, and that is precisely why I lead with regression and treat this whole section as a screening view rather than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own the limitations rather than be caught on them. Ki labels are pooled across assays and laboratories, and inter-lab reproducibility is only about half a log unit, which floors the achievable error. Only two targets, chosen for data density. The representation is 2D, so no conformation or protein structure. Validation is internal and leakage-controlled but there is no external or prospective test set. The library is binder-only. And hyperparameters are sensible defaults rather than nested-CV tuned. Each of these is a concrete next step rather than a flaw I am hiding.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headline result is the screening view: MCC of 0.63 on both receptors at the 100 nanomolar cut-off, with top-one-per-cent enrichment at about 98 per cent of its achievable ceiling and probabilities that are calibrated rather than merely ranked. An MCC above 0.6 is a good classifier by any standard, and it survives four separate controls: a scaffold split, a permutation test, a nearest-neighbour baseline and a promiscuity ablation. Underneath it sits the affinity model at R-squared 0.56 to 0.64, which is the honest number for predicting a continuous value on unseen chemotypes, and the SHAP analysis showing the two targets are driven by different property families. Going forward, the way past the single-target ceiling is multitask learning across the receptor panel and bringing in three-dimensional structural information. Thank you to Prof. Giorgetti, to Filippo Baldessari, to the professors of the programme, and to my family.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33B"/>
        </a:solidFill>
      </p:bgPr>
    </p:bg>
    <p:spTree>
      <p:nvGrpSpPr>
        <p:cNvPr id="1" name=""/>
        <p:cNvGrpSpPr/>
        <p:nvPr/>
      </p:nvGrpSpPr>
      <p:grpSpPr>
        <a:xfrm>
          <a:off x="0" y="0"/>
          <a:ext cx="0" cy="0"/>
          <a:chOff x="0" y="0"/>
          <a:chExt cx="0" cy="0"/>
        </a:xfrm>
      </p:grpSpPr>
      <p:sp>
        <p:nvSpPr>
          <p:cNvPr id="2" name="Text 0"/>
          <p:cNvSpPr/>
          <p:nvPr/>
        </p:nvSpPr>
        <p:spPr>
          <a:xfrm>
            <a:off x="822960" y="1188720"/>
            <a:ext cx="10058400" cy="365760"/>
          </a:xfrm>
          <a:prstGeom prst="rect">
            <a:avLst/>
          </a:prstGeom>
          <a:noFill/>
          <a:ln/>
        </p:spPr>
        <p:txBody>
          <a:bodyPr wrap="square" rtlCol="0" anchor="ctr"/>
          <a:lstStyle/>
          <a:p>
            <a:pPr indent="0" marL="0">
              <a:buNone/>
            </a:pPr>
            <a:r>
              <a:rPr lang="en-US" sz="1300" b="1" spc="400" kern="0" dirty="0">
                <a:solidFill>
                  <a:srgbClr val="8FB3AE"/>
                </a:solidFill>
                <a:latin typeface="Calibri" pitchFamily="34" charset="0"/>
                <a:ea typeface="Calibri" pitchFamily="34" charset="-122"/>
                <a:cs typeface="Calibri" pitchFamily="34" charset="-120"/>
              </a:rPr>
              <a:t>MSc THESIS DEFENCE</a:t>
            </a:r>
            <a:endParaRPr lang="en-US" sz="1300" dirty="0"/>
          </a:p>
        </p:txBody>
      </p:sp>
      <p:sp>
        <p:nvSpPr>
          <p:cNvPr id="3" name="Text 1"/>
          <p:cNvSpPr/>
          <p:nvPr/>
        </p:nvSpPr>
        <p:spPr>
          <a:xfrm>
            <a:off x="822960" y="1691640"/>
            <a:ext cx="10607040" cy="2286000"/>
          </a:xfrm>
          <a:prstGeom prst="rect">
            <a:avLst/>
          </a:prstGeom>
          <a:noFill/>
          <a:ln/>
        </p:spPr>
        <p:txBody>
          <a:bodyPr wrap="square" rtlCol="0" anchor="ctr"/>
          <a:lstStyle/>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Curation and Cheminformatic Characterization of a Clinical-Stage GPCR Ligand Dataset for Machine-Learning-Based Binding Prediction</a:t>
            </a:r>
            <a:endParaRPr lang="en-US" sz="3000" dirty="0"/>
          </a:p>
        </p:txBody>
      </p:sp>
      <p:sp>
        <p:nvSpPr>
          <p:cNvPr id="4" name="Shape 2"/>
          <p:cNvSpPr/>
          <p:nvPr/>
        </p:nvSpPr>
        <p:spPr>
          <a:xfrm>
            <a:off x="822960" y="4160520"/>
            <a:ext cx="1371600" cy="32004"/>
          </a:xfrm>
          <a:prstGeom prst="rect">
            <a:avLst/>
          </a:prstGeom>
          <a:solidFill>
            <a:srgbClr val="BE5638"/>
          </a:solidFill>
          <a:ln/>
        </p:spPr>
      </p:sp>
      <p:sp>
        <p:nvSpPr>
          <p:cNvPr id="5" name="Text 3"/>
          <p:cNvSpPr/>
          <p:nvPr/>
        </p:nvSpPr>
        <p:spPr>
          <a:xfrm>
            <a:off x="822960" y="4389120"/>
            <a:ext cx="10607040" cy="457200"/>
          </a:xfrm>
          <a:prstGeom prst="rect">
            <a:avLst/>
          </a:prstGeom>
          <a:noFill/>
          <a:ln/>
        </p:spPr>
        <p:txBody>
          <a:bodyPr wrap="square" rtlCol="0" anchor="ctr"/>
          <a:lstStyle/>
          <a:p>
            <a:pPr indent="0" marL="0">
              <a:buNone/>
            </a:pPr>
            <a:r>
              <a:rPr lang="en-US" sz="1450" i="1" dirty="0">
                <a:solidFill>
                  <a:srgbClr val="C9D6D4"/>
                </a:solidFill>
                <a:latin typeface="Calibri" pitchFamily="34" charset="0"/>
                <a:ea typeface="Calibri" pitchFamily="34" charset="-122"/>
                <a:cs typeface="Calibri" pitchFamily="34" charset="-120"/>
              </a:rPr>
              <a:t>Part One: curation and chemical characterisation   ·   Part Two: machine-learning prediction of binding affinity</a:t>
            </a:r>
            <a:endParaRPr lang="en-US" sz="1450" dirty="0"/>
          </a:p>
        </p:txBody>
      </p:sp>
      <p:sp>
        <p:nvSpPr>
          <p:cNvPr id="6" name="Text 4"/>
          <p:cNvSpPr/>
          <p:nvPr/>
        </p:nvSpPr>
        <p:spPr>
          <a:xfrm>
            <a:off x="822960" y="5120640"/>
            <a:ext cx="10058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Dagmawi Tarekegn Fikadu</a:t>
            </a:r>
            <a:pPr indent="0" marL="0">
              <a:buNone/>
            </a:pPr>
            <a:r>
              <a:rPr lang="en-US" sz="1400" dirty="0">
                <a:solidFill>
                  <a:srgbClr val="FFFFFF"/>
                </a:solidFill>
                <a:latin typeface="Calibri" pitchFamily="34" charset="0"/>
                <a:ea typeface="Calibri" pitchFamily="34" charset="-122"/>
                <a:cs typeface="Calibri" pitchFamily="34" charset="-120"/>
              </a:rPr>
              <a:t>    MSc Molecular &amp; Medical Biotechnology</a:t>
            </a:r>
            <a:endParaRPr lang="en-US" sz="1400" dirty="0"/>
          </a:p>
        </p:txBody>
      </p:sp>
      <p:sp>
        <p:nvSpPr>
          <p:cNvPr id="7" name="Text 5"/>
          <p:cNvSpPr/>
          <p:nvPr/>
        </p:nvSpPr>
        <p:spPr>
          <a:xfrm>
            <a:off x="822960" y="5559552"/>
            <a:ext cx="10607040" cy="365760"/>
          </a:xfrm>
          <a:prstGeom prst="rect">
            <a:avLst/>
          </a:prstGeom>
          <a:noFill/>
          <a:ln/>
        </p:spPr>
        <p:txBody>
          <a:bodyPr wrap="square" rtlCol="0" anchor="ctr"/>
          <a:lstStyle/>
          <a:p>
            <a:pPr indent="0" marL="0">
              <a:buNone/>
            </a:pPr>
            <a:r>
              <a:rPr lang="en-US" sz="1200" dirty="0">
                <a:solidFill>
                  <a:srgbClr val="8FB3AE"/>
                </a:solidFill>
                <a:latin typeface="Calibri" pitchFamily="34" charset="0"/>
                <a:ea typeface="Calibri" pitchFamily="34" charset="-122"/>
                <a:cs typeface="Calibri" pitchFamily="34" charset="-120"/>
              </a:rPr>
              <a:t>Principal Investigator: Prof. Alejandro Giorgetti   ·   Supervisor: Filippo Baldessari   ·   University of Verona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A two-part thesis, and what today covers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548640" y="1572768"/>
            <a:ext cx="5029200" cy="2331720"/>
          </a:xfrm>
          <a:prstGeom prst="roundRect">
            <a:avLst>
              <a:gd name="adj" fmla="val 3529"/>
            </a:avLst>
          </a:prstGeom>
          <a:solidFill>
            <a:srgbClr val="E9F1F0"/>
          </a:solidFill>
          <a:ln/>
        </p:spPr>
      </p:sp>
      <p:sp>
        <p:nvSpPr>
          <p:cNvPr id="7" name="Text 5"/>
          <p:cNvSpPr/>
          <p:nvPr/>
        </p:nvSpPr>
        <p:spPr>
          <a:xfrm>
            <a:off x="868680" y="1700784"/>
            <a:ext cx="4572000" cy="274320"/>
          </a:xfrm>
          <a:prstGeom prst="rect">
            <a:avLst/>
          </a:prstGeom>
          <a:noFill/>
          <a:ln/>
        </p:spPr>
        <p:txBody>
          <a:bodyPr wrap="square" rtlCol="0" anchor="ctr"/>
          <a:lstStyle/>
          <a:p>
            <a:pPr indent="0" marL="0">
              <a:buNone/>
            </a:pPr>
            <a:r>
              <a:rPr lang="en-US" sz="1150" b="1" spc="200" kern="0" dirty="0">
                <a:solidFill>
                  <a:srgbClr val="116E64"/>
                </a:solidFill>
                <a:latin typeface="Calibri" pitchFamily="34" charset="0"/>
                <a:ea typeface="Calibri" pitchFamily="34" charset="-122"/>
                <a:cs typeface="Calibri" pitchFamily="34" charset="-120"/>
              </a:rPr>
              <a:t>PART ONE</a:t>
            </a:r>
            <a:endParaRPr lang="en-US" sz="1150" dirty="0"/>
          </a:p>
        </p:txBody>
      </p:sp>
      <p:sp>
        <p:nvSpPr>
          <p:cNvPr id="8" name="Text 6"/>
          <p:cNvSpPr/>
          <p:nvPr/>
        </p:nvSpPr>
        <p:spPr>
          <a:xfrm>
            <a:off x="868680" y="1965960"/>
            <a:ext cx="4572000" cy="365760"/>
          </a:xfrm>
          <a:prstGeom prst="rect">
            <a:avLst/>
          </a:prstGeom>
          <a:noFill/>
          <a:ln/>
        </p:spPr>
        <p:txBody>
          <a:bodyPr wrap="square" rtlCol="0" anchor="ctr"/>
          <a:lstStyle/>
          <a:p>
            <a:pPr indent="0" marL="0">
              <a:buNone/>
            </a:pPr>
            <a:r>
              <a:rPr lang="en-US" sz="1800" b="1" dirty="0">
                <a:solidFill>
                  <a:srgbClr val="22333B"/>
                </a:solidFill>
                <a:latin typeface="Cambria" pitchFamily="34" charset="0"/>
                <a:ea typeface="Cambria" pitchFamily="34" charset="-122"/>
                <a:cs typeface="Cambria" pitchFamily="34" charset="-120"/>
              </a:rPr>
              <a:t>Curate &amp; characterise</a:t>
            </a:r>
            <a:endParaRPr lang="en-US" sz="1800" dirty="0"/>
          </a:p>
        </p:txBody>
      </p:sp>
      <p:sp>
        <p:nvSpPr>
          <p:cNvPr id="9" name="Text 7"/>
          <p:cNvSpPr/>
          <p:nvPr/>
        </p:nvSpPr>
        <p:spPr>
          <a:xfrm>
            <a:off x="868680" y="2359152"/>
            <a:ext cx="4480560" cy="1417320"/>
          </a:xfrm>
          <a:prstGeom prst="rect">
            <a:avLst/>
          </a:prstGeom>
          <a:noFill/>
          <a:ln/>
        </p:spPr>
        <p:txBody>
          <a:bodyPr wrap="square" rtlCol="0" anchor="t"/>
          <a:lstStyle/>
          <a:p>
            <a:pPr marL="152400" indent="-152400">
              <a:spcAft>
                <a:spcPts val="500"/>
              </a:spcAft>
              <a:buSzPct val="100000"/>
              <a:buChar char="•"/>
            </a:pPr>
            <a:r>
              <a:rPr lang="en-US" sz="1200" dirty="0">
                <a:solidFill>
                  <a:srgbClr val="22333B"/>
                </a:solidFill>
                <a:latin typeface="Calibri" pitchFamily="34" charset="0"/>
                <a:ea typeface="Calibri" pitchFamily="34" charset="-122"/>
                <a:cs typeface="Calibri" pitchFamily="34" charset="-120"/>
              </a:rPr>
              <a:t>Build a clean clinical-stage GPCR ligand dataset</a:t>
            </a:r>
            <a:endParaRPr lang="en-US" sz="1200" dirty="0"/>
          </a:p>
          <a:p>
            <a:pPr marL="152400" indent="-152400">
              <a:spcAft>
                <a:spcPts val="500"/>
              </a:spcAft>
              <a:buSzPct val="100000"/>
              <a:buChar char="•"/>
            </a:pPr>
            <a:r>
              <a:rPr lang="en-US" sz="1200" dirty="0">
                <a:solidFill>
                  <a:srgbClr val="22333B"/>
                </a:solidFill>
                <a:latin typeface="Calibri" pitchFamily="34" charset="0"/>
                <a:ea typeface="Calibri" pitchFamily="34" charset="-122"/>
                <a:cs typeface="Calibri" pitchFamily="34" charset="-120"/>
              </a:rPr>
              <a:t>Measure 15 descriptors on every molecule</a:t>
            </a:r>
            <a:endParaRPr lang="en-US" sz="1200" dirty="0"/>
          </a:p>
          <a:p>
            <a:pPr marL="152400" indent="-152400">
              <a:buSzPct val="100000"/>
              <a:buChar char="•"/>
            </a:pPr>
            <a:r>
              <a:rPr lang="en-US" sz="1200" dirty="0">
                <a:solidFill>
                  <a:srgbClr val="22333B"/>
                </a:solidFill>
                <a:latin typeface="Calibri" pitchFamily="34" charset="0"/>
                <a:ea typeface="Calibri" pitchFamily="34" charset="-122"/>
                <a:cs typeface="Calibri" pitchFamily="34" charset="-120"/>
              </a:rPr>
              <a:t>Drug-likeness and ligand efficiency</a:t>
            </a:r>
            <a:endParaRPr lang="en-US" sz="1200" dirty="0"/>
          </a:p>
        </p:txBody>
      </p:sp>
      <p:sp>
        <p:nvSpPr>
          <p:cNvPr id="10" name="Text 8"/>
          <p:cNvSpPr/>
          <p:nvPr/>
        </p:nvSpPr>
        <p:spPr>
          <a:xfrm>
            <a:off x="5669280" y="1572768"/>
            <a:ext cx="822960" cy="2331720"/>
          </a:xfrm>
          <a:prstGeom prst="rect">
            <a:avLst/>
          </a:prstGeom>
          <a:noFill/>
          <a:ln/>
        </p:spPr>
        <p:txBody>
          <a:bodyPr wrap="square" rtlCol="0" anchor="ctr"/>
          <a:lstStyle/>
          <a:p>
            <a:pPr algn="ctr" indent="0" marL="0">
              <a:buNone/>
            </a:pPr>
            <a:r>
              <a:rPr lang="en-US" sz="3400" b="1" dirty="0">
                <a:solidFill>
                  <a:srgbClr val="BE5638"/>
                </a:solidFill>
                <a:latin typeface="Calibri" pitchFamily="34" charset="0"/>
                <a:ea typeface="Calibri" pitchFamily="34" charset="-122"/>
                <a:cs typeface="Calibri" pitchFamily="34" charset="-120"/>
              </a:rPr>
              <a:t>→</a:t>
            </a:r>
            <a:endParaRPr lang="en-US" sz="3400" dirty="0"/>
          </a:p>
        </p:txBody>
      </p:sp>
      <p:sp>
        <p:nvSpPr>
          <p:cNvPr id="11" name="Shape 9"/>
          <p:cNvSpPr/>
          <p:nvPr/>
        </p:nvSpPr>
        <p:spPr>
          <a:xfrm>
            <a:off x="6583680" y="1572768"/>
            <a:ext cx="5029200" cy="2331720"/>
          </a:xfrm>
          <a:prstGeom prst="roundRect">
            <a:avLst>
              <a:gd name="adj" fmla="val 3529"/>
            </a:avLst>
          </a:prstGeom>
          <a:solidFill>
            <a:srgbClr val="F5ECE6"/>
          </a:solidFill>
          <a:ln/>
        </p:spPr>
      </p:sp>
      <p:sp>
        <p:nvSpPr>
          <p:cNvPr id="12" name="Text 10"/>
          <p:cNvSpPr/>
          <p:nvPr/>
        </p:nvSpPr>
        <p:spPr>
          <a:xfrm>
            <a:off x="6903720" y="1700784"/>
            <a:ext cx="4572000" cy="274320"/>
          </a:xfrm>
          <a:prstGeom prst="rect">
            <a:avLst/>
          </a:prstGeom>
          <a:noFill/>
          <a:ln/>
        </p:spPr>
        <p:txBody>
          <a:bodyPr wrap="square" rtlCol="0" anchor="ctr"/>
          <a:lstStyle/>
          <a:p>
            <a:pPr indent="0" marL="0">
              <a:buNone/>
            </a:pPr>
            <a:r>
              <a:rPr lang="en-US" sz="1150" b="1" spc="200" kern="0" dirty="0">
                <a:solidFill>
                  <a:srgbClr val="BE5638"/>
                </a:solidFill>
                <a:latin typeface="Calibri" pitchFamily="34" charset="0"/>
                <a:ea typeface="Calibri" pitchFamily="34" charset="-122"/>
                <a:cs typeface="Calibri" pitchFamily="34" charset="-120"/>
              </a:rPr>
              <a:t>PART TWO · TODAY</a:t>
            </a:r>
            <a:endParaRPr lang="en-US" sz="1150" dirty="0"/>
          </a:p>
        </p:txBody>
      </p:sp>
      <p:sp>
        <p:nvSpPr>
          <p:cNvPr id="13" name="Text 11"/>
          <p:cNvSpPr/>
          <p:nvPr/>
        </p:nvSpPr>
        <p:spPr>
          <a:xfrm>
            <a:off x="6903720" y="1965960"/>
            <a:ext cx="4572000" cy="365760"/>
          </a:xfrm>
          <a:prstGeom prst="rect">
            <a:avLst/>
          </a:prstGeom>
          <a:noFill/>
          <a:ln/>
        </p:spPr>
        <p:txBody>
          <a:bodyPr wrap="square" rtlCol="0" anchor="ctr"/>
          <a:lstStyle/>
          <a:p>
            <a:pPr indent="0" marL="0">
              <a:buNone/>
            </a:pPr>
            <a:r>
              <a:rPr lang="en-US" sz="1800" b="1" dirty="0">
                <a:solidFill>
                  <a:srgbClr val="22333B"/>
                </a:solidFill>
                <a:latin typeface="Cambria" pitchFamily="34" charset="0"/>
                <a:ea typeface="Cambria" pitchFamily="34" charset="-122"/>
                <a:cs typeface="Cambria" pitchFamily="34" charset="-120"/>
              </a:rPr>
              <a:t>Model binding affinity</a:t>
            </a:r>
            <a:endParaRPr lang="en-US" sz="1800" dirty="0"/>
          </a:p>
        </p:txBody>
      </p:sp>
      <p:sp>
        <p:nvSpPr>
          <p:cNvPr id="14" name="Text 12"/>
          <p:cNvSpPr/>
          <p:nvPr/>
        </p:nvSpPr>
        <p:spPr>
          <a:xfrm>
            <a:off x="6903720" y="2359152"/>
            <a:ext cx="4480560" cy="1417320"/>
          </a:xfrm>
          <a:prstGeom prst="rect">
            <a:avLst/>
          </a:prstGeom>
          <a:noFill/>
          <a:ln/>
        </p:spPr>
        <p:txBody>
          <a:bodyPr wrap="square" rtlCol="0" anchor="t"/>
          <a:lstStyle/>
          <a:p>
            <a:pPr marL="152400" indent="-152400">
              <a:spcAft>
                <a:spcPts val="500"/>
              </a:spcAft>
              <a:buSzPct val="100000"/>
              <a:buChar char="•"/>
            </a:pPr>
            <a:r>
              <a:rPr lang="en-US" sz="1200" dirty="0">
                <a:solidFill>
                  <a:srgbClr val="22333B"/>
                </a:solidFill>
                <a:latin typeface="Calibri" pitchFamily="34" charset="0"/>
                <a:ea typeface="Calibri" pitchFamily="34" charset="-122"/>
                <a:cs typeface="Calibri" pitchFamily="34" charset="-120"/>
              </a:rPr>
              <a:t>Use that dataset to predict pKi from structure</a:t>
            </a:r>
            <a:endParaRPr lang="en-US" sz="1200" dirty="0"/>
          </a:p>
          <a:p>
            <a:pPr marL="152400" indent="-152400">
              <a:spcAft>
                <a:spcPts val="500"/>
              </a:spcAft>
              <a:buSzPct val="100000"/>
              <a:buChar char="•"/>
            </a:pPr>
            <a:r>
              <a:rPr lang="en-US" sz="1200" dirty="0">
                <a:solidFill>
                  <a:srgbClr val="22333B"/>
                </a:solidFill>
                <a:latin typeface="Calibri" pitchFamily="34" charset="0"/>
                <a:ea typeface="Calibri" pitchFamily="34" charset="-122"/>
                <a:cs typeface="Calibri" pitchFamily="34" charset="-120"/>
              </a:rPr>
              <a:t>Rigorous, leakage-controlled validation</a:t>
            </a:r>
            <a:endParaRPr lang="en-US" sz="1200" dirty="0"/>
          </a:p>
          <a:p>
            <a:pPr marL="152400" indent="-152400">
              <a:buSzPct val="100000"/>
              <a:buChar char="•"/>
            </a:pPr>
            <a:r>
              <a:rPr lang="en-US" sz="1200" dirty="0">
                <a:solidFill>
                  <a:srgbClr val="22333B"/>
                </a:solidFill>
                <a:latin typeface="Calibri" pitchFamily="34" charset="0"/>
                <a:ea typeface="Calibri" pitchFamily="34" charset="-122"/>
                <a:cs typeface="Calibri" pitchFamily="34" charset="-120"/>
              </a:rPr>
              <a:t>Regression, virtual screening, and interpretation</a:t>
            </a:r>
            <a:endParaRPr lang="en-US" sz="1200" dirty="0"/>
          </a:p>
        </p:txBody>
      </p:sp>
      <p:sp>
        <p:nvSpPr>
          <p:cNvPr id="15" name="Shape 13"/>
          <p:cNvSpPr/>
          <p:nvPr/>
        </p:nvSpPr>
        <p:spPr>
          <a:xfrm>
            <a:off x="548640" y="4133088"/>
            <a:ext cx="2606040" cy="1572768"/>
          </a:xfrm>
          <a:prstGeom prst="roundRect">
            <a:avLst>
              <a:gd name="adj" fmla="val 5233"/>
            </a:avLst>
          </a:prstGeom>
          <a:solidFill>
            <a:srgbClr val="E9F1F0"/>
          </a:solidFill>
          <a:ln/>
        </p:spPr>
      </p:sp>
      <p:sp>
        <p:nvSpPr>
          <p:cNvPr id="16" name="Text 14"/>
          <p:cNvSpPr/>
          <p:nvPr/>
        </p:nvSpPr>
        <p:spPr>
          <a:xfrm>
            <a:off x="822960" y="4233672"/>
            <a:ext cx="914400" cy="301752"/>
          </a:xfrm>
          <a:prstGeom prst="rect">
            <a:avLst/>
          </a:prstGeom>
          <a:noFill/>
          <a:ln/>
        </p:spPr>
        <p:txBody>
          <a:bodyPr wrap="square" rtlCol="0" anchor="ctr"/>
          <a:lstStyle/>
          <a:p>
            <a:pPr indent="0" marL="0">
              <a:buNone/>
            </a:pPr>
            <a:r>
              <a:rPr lang="en-US" sz="1350" b="1" dirty="0">
                <a:solidFill>
                  <a:srgbClr val="116E64"/>
                </a:solidFill>
                <a:latin typeface="Cambria" pitchFamily="34" charset="0"/>
                <a:ea typeface="Cambria" pitchFamily="34" charset="-122"/>
                <a:cs typeface="Cambria" pitchFamily="34" charset="-120"/>
              </a:rPr>
              <a:t>01</a:t>
            </a:r>
            <a:endParaRPr lang="en-US" sz="1350" dirty="0"/>
          </a:p>
        </p:txBody>
      </p:sp>
      <p:sp>
        <p:nvSpPr>
          <p:cNvPr id="17" name="Text 15"/>
          <p:cNvSpPr/>
          <p:nvPr/>
        </p:nvSpPr>
        <p:spPr>
          <a:xfrm>
            <a:off x="822960" y="4517136"/>
            <a:ext cx="2103120" cy="301752"/>
          </a:xfrm>
          <a:prstGeom prst="rect">
            <a:avLst/>
          </a:prstGeom>
          <a:noFill/>
          <a:ln/>
        </p:spPr>
        <p:txBody>
          <a:bodyPr wrap="square" rtlCol="0" anchor="ctr"/>
          <a:lstStyle/>
          <a:p>
            <a:pPr indent="0" marL="0">
              <a:buNone/>
            </a:pPr>
            <a:r>
              <a:rPr lang="en-US" sz="1450" b="1" dirty="0">
                <a:solidFill>
                  <a:srgbClr val="22333B"/>
                </a:solidFill>
                <a:latin typeface="Cambria" pitchFamily="34" charset="0"/>
                <a:ea typeface="Cambria" pitchFamily="34" charset="-122"/>
                <a:cs typeface="Cambria" pitchFamily="34" charset="-120"/>
              </a:rPr>
              <a:t>The dataset</a:t>
            </a:r>
            <a:endParaRPr lang="en-US" sz="1450" dirty="0"/>
          </a:p>
        </p:txBody>
      </p:sp>
      <p:sp>
        <p:nvSpPr>
          <p:cNvPr id="18" name="Text 16"/>
          <p:cNvSpPr/>
          <p:nvPr/>
        </p:nvSpPr>
        <p:spPr>
          <a:xfrm>
            <a:off x="822960" y="4828032"/>
            <a:ext cx="2103120" cy="777240"/>
          </a:xfrm>
          <a:prstGeom prst="rect">
            <a:avLst/>
          </a:prstGeom>
          <a:noFill/>
          <a:ln/>
        </p:spPr>
        <p:txBody>
          <a:bodyPr wrap="square" rtlCol="0" anchor="t"/>
          <a:lstStyle/>
          <a:p>
            <a:pPr indent="0" marL="0">
              <a:buNone/>
            </a:pPr>
            <a:r>
              <a:rPr lang="en-US" sz="1100" dirty="0">
                <a:solidFill>
                  <a:srgbClr val="22333B"/>
                </a:solidFill>
                <a:latin typeface="Calibri" pitchFamily="34" charset="0"/>
                <a:ea typeface="Calibri" pitchFamily="34" charset="-122"/>
                <a:cs typeface="Calibri" pitchFamily="34" charset="-120"/>
              </a:rPr>
              <a:t>719 clinical-stage GPCR ligands, curated and characterised.</a:t>
            </a:r>
            <a:endParaRPr lang="en-US" sz="1100" dirty="0"/>
          </a:p>
        </p:txBody>
      </p:sp>
      <p:sp>
        <p:nvSpPr>
          <p:cNvPr id="19" name="Shape 17"/>
          <p:cNvSpPr/>
          <p:nvPr/>
        </p:nvSpPr>
        <p:spPr>
          <a:xfrm>
            <a:off x="3364992" y="4133088"/>
            <a:ext cx="2606040" cy="1572768"/>
          </a:xfrm>
          <a:prstGeom prst="roundRect">
            <a:avLst>
              <a:gd name="adj" fmla="val 5233"/>
            </a:avLst>
          </a:prstGeom>
          <a:solidFill>
            <a:srgbClr val="F5ECE6"/>
          </a:solidFill>
          <a:ln/>
        </p:spPr>
      </p:sp>
      <p:sp>
        <p:nvSpPr>
          <p:cNvPr id="20" name="Text 18"/>
          <p:cNvSpPr/>
          <p:nvPr/>
        </p:nvSpPr>
        <p:spPr>
          <a:xfrm>
            <a:off x="3639312" y="4233672"/>
            <a:ext cx="914400" cy="301752"/>
          </a:xfrm>
          <a:prstGeom prst="rect">
            <a:avLst/>
          </a:prstGeom>
          <a:noFill/>
          <a:ln/>
        </p:spPr>
        <p:txBody>
          <a:bodyPr wrap="square" rtlCol="0" anchor="ctr"/>
          <a:lstStyle/>
          <a:p>
            <a:pPr indent="0" marL="0">
              <a:buNone/>
            </a:pPr>
            <a:r>
              <a:rPr lang="en-US" sz="1350" b="1" dirty="0">
                <a:solidFill>
                  <a:srgbClr val="BE5638"/>
                </a:solidFill>
                <a:latin typeface="Cambria" pitchFamily="34" charset="0"/>
                <a:ea typeface="Cambria" pitchFamily="34" charset="-122"/>
                <a:cs typeface="Cambria" pitchFamily="34" charset="-120"/>
              </a:rPr>
              <a:t>02</a:t>
            </a:r>
            <a:endParaRPr lang="en-US" sz="1350" dirty="0"/>
          </a:p>
        </p:txBody>
      </p:sp>
      <p:sp>
        <p:nvSpPr>
          <p:cNvPr id="21" name="Text 19"/>
          <p:cNvSpPr/>
          <p:nvPr/>
        </p:nvSpPr>
        <p:spPr>
          <a:xfrm>
            <a:off x="3639312" y="4517136"/>
            <a:ext cx="2103120" cy="301752"/>
          </a:xfrm>
          <a:prstGeom prst="rect">
            <a:avLst/>
          </a:prstGeom>
          <a:noFill/>
          <a:ln/>
        </p:spPr>
        <p:txBody>
          <a:bodyPr wrap="square" rtlCol="0" anchor="ctr"/>
          <a:lstStyle/>
          <a:p>
            <a:pPr indent="0" marL="0">
              <a:buNone/>
            </a:pPr>
            <a:r>
              <a:rPr lang="en-US" sz="1450" b="1" dirty="0">
                <a:solidFill>
                  <a:srgbClr val="22333B"/>
                </a:solidFill>
                <a:latin typeface="Cambria" pitchFamily="34" charset="0"/>
                <a:ea typeface="Cambria" pitchFamily="34" charset="-122"/>
                <a:cs typeface="Cambria" pitchFamily="34" charset="-120"/>
              </a:rPr>
              <a:t>The models</a:t>
            </a:r>
            <a:endParaRPr lang="en-US" sz="1450" dirty="0"/>
          </a:p>
        </p:txBody>
      </p:sp>
      <p:sp>
        <p:nvSpPr>
          <p:cNvPr id="22" name="Text 20"/>
          <p:cNvSpPr/>
          <p:nvPr/>
        </p:nvSpPr>
        <p:spPr>
          <a:xfrm>
            <a:off x="3639312" y="4828032"/>
            <a:ext cx="2103120" cy="777240"/>
          </a:xfrm>
          <a:prstGeom prst="rect">
            <a:avLst/>
          </a:prstGeom>
          <a:noFill/>
          <a:ln/>
        </p:spPr>
        <p:txBody>
          <a:bodyPr wrap="square" rtlCol="0" anchor="t"/>
          <a:lstStyle/>
          <a:p>
            <a:pPr indent="0" marL="0">
              <a:buNone/>
            </a:pPr>
            <a:r>
              <a:rPr lang="en-US" sz="1100" dirty="0">
                <a:solidFill>
                  <a:srgbClr val="22333B"/>
                </a:solidFill>
                <a:latin typeface="Calibri" pitchFamily="34" charset="0"/>
                <a:ea typeface="Calibri" pitchFamily="34" charset="-122"/>
                <a:cs typeface="Calibri" pitchFamily="34" charset="-120"/>
              </a:rPr>
              <a:t>Turn molecules into numbers, then learn with tree ensembles.</a:t>
            </a:r>
            <a:endParaRPr lang="en-US" sz="1100" dirty="0"/>
          </a:p>
        </p:txBody>
      </p:sp>
      <p:sp>
        <p:nvSpPr>
          <p:cNvPr id="23" name="Shape 21"/>
          <p:cNvSpPr/>
          <p:nvPr/>
        </p:nvSpPr>
        <p:spPr>
          <a:xfrm>
            <a:off x="6181344" y="4133088"/>
            <a:ext cx="2606040" cy="1572768"/>
          </a:xfrm>
          <a:prstGeom prst="roundRect">
            <a:avLst>
              <a:gd name="adj" fmla="val 5233"/>
            </a:avLst>
          </a:prstGeom>
          <a:solidFill>
            <a:srgbClr val="E9F1F0"/>
          </a:solidFill>
          <a:ln/>
        </p:spPr>
      </p:sp>
      <p:sp>
        <p:nvSpPr>
          <p:cNvPr id="24" name="Text 22"/>
          <p:cNvSpPr/>
          <p:nvPr/>
        </p:nvSpPr>
        <p:spPr>
          <a:xfrm>
            <a:off x="6455664" y="4233672"/>
            <a:ext cx="914400" cy="301752"/>
          </a:xfrm>
          <a:prstGeom prst="rect">
            <a:avLst/>
          </a:prstGeom>
          <a:noFill/>
          <a:ln/>
        </p:spPr>
        <p:txBody>
          <a:bodyPr wrap="square" rtlCol="0" anchor="ctr"/>
          <a:lstStyle/>
          <a:p>
            <a:pPr indent="0" marL="0">
              <a:buNone/>
            </a:pPr>
            <a:r>
              <a:rPr lang="en-US" sz="1350" b="1" dirty="0">
                <a:solidFill>
                  <a:srgbClr val="116E64"/>
                </a:solidFill>
                <a:latin typeface="Cambria" pitchFamily="34" charset="0"/>
                <a:ea typeface="Cambria" pitchFamily="34" charset="-122"/>
                <a:cs typeface="Cambria" pitchFamily="34" charset="-120"/>
              </a:rPr>
              <a:t>03</a:t>
            </a:r>
            <a:endParaRPr lang="en-US" sz="1350" dirty="0"/>
          </a:p>
        </p:txBody>
      </p:sp>
      <p:sp>
        <p:nvSpPr>
          <p:cNvPr id="25" name="Text 23"/>
          <p:cNvSpPr/>
          <p:nvPr/>
        </p:nvSpPr>
        <p:spPr>
          <a:xfrm>
            <a:off x="6455664" y="4517136"/>
            <a:ext cx="2103120" cy="301752"/>
          </a:xfrm>
          <a:prstGeom prst="rect">
            <a:avLst/>
          </a:prstGeom>
          <a:noFill/>
          <a:ln/>
        </p:spPr>
        <p:txBody>
          <a:bodyPr wrap="square" rtlCol="0" anchor="ctr"/>
          <a:lstStyle/>
          <a:p>
            <a:pPr indent="0" marL="0">
              <a:buNone/>
            </a:pPr>
            <a:r>
              <a:rPr lang="en-US" sz="1450" b="1" dirty="0">
                <a:solidFill>
                  <a:srgbClr val="22333B"/>
                </a:solidFill>
                <a:latin typeface="Cambria" pitchFamily="34" charset="0"/>
                <a:ea typeface="Cambria" pitchFamily="34" charset="-122"/>
                <a:cs typeface="Cambria" pitchFamily="34" charset="-120"/>
              </a:rPr>
              <a:t>The discipline</a:t>
            </a:r>
            <a:endParaRPr lang="en-US" sz="1450" dirty="0"/>
          </a:p>
        </p:txBody>
      </p:sp>
      <p:sp>
        <p:nvSpPr>
          <p:cNvPr id="26" name="Text 24"/>
          <p:cNvSpPr/>
          <p:nvPr/>
        </p:nvSpPr>
        <p:spPr>
          <a:xfrm>
            <a:off x="6455664" y="4828032"/>
            <a:ext cx="2103120" cy="777240"/>
          </a:xfrm>
          <a:prstGeom prst="rect">
            <a:avLst/>
          </a:prstGeom>
          <a:noFill/>
          <a:ln/>
        </p:spPr>
        <p:txBody>
          <a:bodyPr wrap="square" rtlCol="0" anchor="t"/>
          <a:lstStyle/>
          <a:p>
            <a:pPr indent="0" marL="0">
              <a:buNone/>
            </a:pPr>
            <a:r>
              <a:rPr lang="en-US" sz="1100" dirty="0">
                <a:solidFill>
                  <a:srgbClr val="22333B"/>
                </a:solidFill>
                <a:latin typeface="Calibri" pitchFamily="34" charset="0"/>
                <a:ea typeface="Calibri" pitchFamily="34" charset="-122"/>
                <a:cs typeface="Calibri" pitchFamily="34" charset="-120"/>
              </a:rPr>
              <a:t>Validation built to resist over-optimism: the core of the work.</a:t>
            </a:r>
            <a:endParaRPr lang="en-US" sz="1100" dirty="0"/>
          </a:p>
        </p:txBody>
      </p:sp>
      <p:sp>
        <p:nvSpPr>
          <p:cNvPr id="27" name="Shape 25"/>
          <p:cNvSpPr/>
          <p:nvPr/>
        </p:nvSpPr>
        <p:spPr>
          <a:xfrm>
            <a:off x="8997696" y="4133088"/>
            <a:ext cx="2606040" cy="1572768"/>
          </a:xfrm>
          <a:prstGeom prst="roundRect">
            <a:avLst>
              <a:gd name="adj" fmla="val 5233"/>
            </a:avLst>
          </a:prstGeom>
          <a:solidFill>
            <a:srgbClr val="F5ECE6"/>
          </a:solidFill>
          <a:ln/>
        </p:spPr>
      </p:sp>
      <p:sp>
        <p:nvSpPr>
          <p:cNvPr id="28" name="Text 26"/>
          <p:cNvSpPr/>
          <p:nvPr/>
        </p:nvSpPr>
        <p:spPr>
          <a:xfrm>
            <a:off x="9272016" y="4233672"/>
            <a:ext cx="914400" cy="301752"/>
          </a:xfrm>
          <a:prstGeom prst="rect">
            <a:avLst/>
          </a:prstGeom>
          <a:noFill/>
          <a:ln/>
        </p:spPr>
        <p:txBody>
          <a:bodyPr wrap="square" rtlCol="0" anchor="ctr"/>
          <a:lstStyle/>
          <a:p>
            <a:pPr indent="0" marL="0">
              <a:buNone/>
            </a:pPr>
            <a:r>
              <a:rPr lang="en-US" sz="1350" b="1" dirty="0">
                <a:solidFill>
                  <a:srgbClr val="BE5638"/>
                </a:solidFill>
                <a:latin typeface="Cambria" pitchFamily="34" charset="0"/>
                <a:ea typeface="Cambria" pitchFamily="34" charset="-122"/>
                <a:cs typeface="Cambria" pitchFamily="34" charset="-120"/>
              </a:rPr>
              <a:t>04</a:t>
            </a:r>
            <a:endParaRPr lang="en-US" sz="1350" dirty="0"/>
          </a:p>
        </p:txBody>
      </p:sp>
      <p:sp>
        <p:nvSpPr>
          <p:cNvPr id="29" name="Text 27"/>
          <p:cNvSpPr/>
          <p:nvPr/>
        </p:nvSpPr>
        <p:spPr>
          <a:xfrm>
            <a:off x="9272016" y="4517136"/>
            <a:ext cx="2103120" cy="301752"/>
          </a:xfrm>
          <a:prstGeom prst="rect">
            <a:avLst/>
          </a:prstGeom>
          <a:noFill/>
          <a:ln/>
        </p:spPr>
        <p:txBody>
          <a:bodyPr wrap="square" rtlCol="0" anchor="ctr"/>
          <a:lstStyle/>
          <a:p>
            <a:pPr indent="0" marL="0">
              <a:buNone/>
            </a:pPr>
            <a:r>
              <a:rPr lang="en-US" sz="1450" b="1" dirty="0">
                <a:solidFill>
                  <a:srgbClr val="22333B"/>
                </a:solidFill>
                <a:latin typeface="Cambria" pitchFamily="34" charset="0"/>
                <a:ea typeface="Cambria" pitchFamily="34" charset="-122"/>
                <a:cs typeface="Cambria" pitchFamily="34" charset="-120"/>
              </a:rPr>
              <a:t>The results</a:t>
            </a:r>
            <a:endParaRPr lang="en-US" sz="1450" dirty="0"/>
          </a:p>
        </p:txBody>
      </p:sp>
      <p:sp>
        <p:nvSpPr>
          <p:cNvPr id="30" name="Text 28"/>
          <p:cNvSpPr/>
          <p:nvPr/>
        </p:nvSpPr>
        <p:spPr>
          <a:xfrm>
            <a:off x="9272016" y="4828032"/>
            <a:ext cx="2103120" cy="777240"/>
          </a:xfrm>
          <a:prstGeom prst="rect">
            <a:avLst/>
          </a:prstGeom>
          <a:noFill/>
          <a:ln/>
        </p:spPr>
        <p:txBody>
          <a:bodyPr wrap="square" rtlCol="0" anchor="t"/>
          <a:lstStyle/>
          <a:p>
            <a:pPr indent="0" marL="0">
              <a:buNone/>
            </a:pPr>
            <a:r>
              <a:rPr lang="en-US" sz="1100" dirty="0">
                <a:solidFill>
                  <a:srgbClr val="22333B"/>
                </a:solidFill>
                <a:latin typeface="Calibri" pitchFamily="34" charset="0"/>
                <a:ea typeface="Calibri" pitchFamily="34" charset="-122"/>
                <a:cs typeface="Calibri" pitchFamily="34" charset="-120"/>
              </a:rPr>
              <a:t>Regression, a virtual-screening view, and what drives predictions.</a:t>
            </a:r>
            <a:endParaRPr lang="en-US" sz="1100" dirty="0"/>
          </a:p>
        </p:txBody>
      </p:sp>
      <p:sp>
        <p:nvSpPr>
          <p:cNvPr id="31" name="Text 29"/>
          <p:cNvSpPr/>
          <p:nvPr/>
        </p:nvSpPr>
        <p:spPr>
          <a:xfrm>
            <a:off x="548640" y="5870448"/>
            <a:ext cx="11064240" cy="411480"/>
          </a:xfrm>
          <a:prstGeom prst="rect">
            <a:avLst/>
          </a:prstGeom>
          <a:noFill/>
          <a:ln/>
        </p:spPr>
        <p:txBody>
          <a:bodyPr wrap="square" rtlCol="0" anchor="ctr"/>
          <a:lstStyle/>
          <a:p>
            <a:pPr algn="ctr" indent="0" marL="0">
              <a:buNone/>
            </a:pPr>
            <a:r>
              <a:rPr lang="en-US" sz="1300" i="1" dirty="0">
                <a:solidFill>
                  <a:srgbClr val="60727A"/>
                </a:solidFill>
                <a:latin typeface="Calibri" pitchFamily="34" charset="0"/>
                <a:ea typeface="Calibri" pitchFamily="34" charset="-122"/>
                <a:cs typeface="Calibri" pitchFamily="34" charset="-120"/>
              </a:rPr>
              <a:t>Today focuses on Part Two, but it rests entirely on the curated dataset from Part 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GPCRs and binding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783080"/>
            <a:ext cx="5532120" cy="4572000"/>
          </a:xfrm>
          <a:prstGeom prst="rect">
            <a:avLst/>
          </a:prstGeom>
          <a:noFill/>
          <a:ln/>
        </p:spPr>
        <p:txBody>
          <a:bodyPr wrap="square" rtlCol="0" anchor="t"/>
          <a:lstStyle/>
          <a:p>
            <a:pPr marL="177800" indent="-177800">
              <a:spcAft>
                <a:spcPts val="800"/>
              </a:spcAft>
              <a:buSzPct val="100000"/>
              <a:buChar char="•"/>
            </a:pPr>
            <a:r>
              <a:rPr lang="en-US" sz="1400" dirty="0">
                <a:solidFill>
                  <a:srgbClr val="22333B"/>
                </a:solidFill>
                <a:latin typeface="Calibri" pitchFamily="34" charset="0"/>
                <a:ea typeface="Calibri" pitchFamily="34" charset="-122"/>
                <a:cs typeface="Calibri" pitchFamily="34" charset="-120"/>
              </a:rPr>
              <a:t>G-protein-coupled receptors are the most productive drug-target class: about a third of approved drugs act through them.</a:t>
            </a:r>
            <a:endParaRPr lang="en-US" sz="1400" dirty="0"/>
          </a:p>
          <a:p>
            <a:pPr marL="177800" indent="-177800">
              <a:spcAft>
                <a:spcPts val="800"/>
              </a:spcAft>
              <a:buSzPct val="100000"/>
              <a:buChar char="•"/>
            </a:pPr>
            <a:r>
              <a:rPr lang="en-US" sz="1400" dirty="0">
                <a:solidFill>
                  <a:srgbClr val="22333B"/>
                </a:solidFill>
                <a:latin typeface="Calibri" pitchFamily="34" charset="0"/>
                <a:ea typeface="Calibri" pitchFamily="34" charset="-122"/>
                <a:cs typeface="Calibri" pitchFamily="34" charset="-120"/>
              </a:rPr>
              <a:t>The aminergic subfamily (serotonin, dopamine, adrenergic, muscarinic) is especially drug-rich, with pockets that fit small drug-like molecules.</a:t>
            </a:r>
            <a:endParaRPr lang="en-US" sz="1400" dirty="0"/>
          </a:p>
          <a:p>
            <a:pPr marL="177800" indent="-177800">
              <a:spcAft>
                <a:spcPts val="800"/>
              </a:spcAft>
              <a:buSzPct val="100000"/>
              <a:buChar char="•"/>
            </a:pPr>
            <a:r>
              <a:rPr lang="en-US" sz="1400" dirty="0">
                <a:solidFill>
                  <a:srgbClr val="22333B"/>
                </a:solidFill>
                <a:latin typeface="Calibri" pitchFamily="34" charset="0"/>
                <a:ea typeface="Calibri" pitchFamily="34" charset="-122"/>
                <a:cs typeface="Calibri" pitchFamily="34" charset="-120"/>
              </a:rPr>
              <a:t>Binding affinity is measured as Ki and reported as pKi = 9 − log10(Ki[nM]); higher pKi means tighter binding.</a:t>
            </a:r>
            <a:endParaRPr lang="en-US" sz="1400" dirty="0"/>
          </a:p>
          <a:p>
            <a:pPr marL="177800" indent="-177800">
              <a:spcAft>
                <a:spcPts val="800"/>
              </a:spcAft>
              <a:buSzPct val="100000"/>
              <a:buChar char="•"/>
            </a:pPr>
            <a:r>
              <a:rPr lang="en-US" sz="1400" dirty="0">
                <a:solidFill>
                  <a:srgbClr val="22333B"/>
                </a:solidFill>
                <a:latin typeface="Calibri" pitchFamily="34" charset="0"/>
                <a:ea typeface="Calibri" pitchFamily="34" charset="-122"/>
                <a:cs typeface="Calibri" pitchFamily="34" charset="-120"/>
              </a:rPr>
              <a:t>Predicting pKi from structure is the task of this work.</a:t>
            </a:r>
            <a:endParaRPr lang="en-US" sz="1400" dirty="0"/>
          </a:p>
        </p:txBody>
      </p:sp>
      <p:pic>
        <p:nvPicPr>
          <p:cNvPr id="7" name="Image 0" descr="/sessions/sharp-elegant-gauss/mnt/outputs/thesis_clean/figures/deck_bio_gpcr.png">    </p:cNvPr>
          <p:cNvPicPr>
            <a:picLocks noChangeAspect="1"/>
          </p:cNvPicPr>
          <p:nvPr/>
        </p:nvPicPr>
        <p:blipFill>
          <a:blip r:embed="rId1"/>
          <a:stretch>
            <a:fillRect/>
          </a:stretch>
        </p:blipFill>
        <p:spPr>
          <a:xfrm>
            <a:off x="6263640" y="1874520"/>
            <a:ext cx="5486400" cy="3063240"/>
          </a:xfrm>
          <a:prstGeom prst="rect">
            <a:avLst/>
          </a:prstGeom>
        </p:spPr>
      </p:pic>
      <p:sp>
        <p:nvSpPr>
          <p:cNvPr id="8" name="Text 5"/>
          <p:cNvSpPr/>
          <p:nvPr/>
        </p:nvSpPr>
        <p:spPr>
          <a:xfrm>
            <a:off x="6263640" y="5029200"/>
            <a:ext cx="5486400" cy="731520"/>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A GPCR in the membrane: a small-molecule ligand binds the extracellular pocket and triggers intracellular G-protein signalling.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THE DATASET</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was curated, and how</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48640" y="1737360"/>
            <a:ext cx="274320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719</a:t>
            </a:r>
            <a:endParaRPr lang="en-US" sz="4000" dirty="0"/>
          </a:p>
        </p:txBody>
      </p:sp>
      <p:sp>
        <p:nvSpPr>
          <p:cNvPr id="7" name="Text 5"/>
          <p:cNvSpPr/>
          <p:nvPr/>
        </p:nvSpPr>
        <p:spPr>
          <a:xfrm>
            <a:off x="548640" y="2633472"/>
            <a:ext cx="27432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unique molecules</a:t>
            </a:r>
            <a:endParaRPr lang="en-US" sz="1300" dirty="0"/>
          </a:p>
        </p:txBody>
      </p:sp>
      <p:sp>
        <p:nvSpPr>
          <p:cNvPr id="8" name="Text 6"/>
          <p:cNvSpPr/>
          <p:nvPr/>
        </p:nvSpPr>
        <p:spPr>
          <a:xfrm>
            <a:off x="3566160" y="1737360"/>
            <a:ext cx="274320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3,011</a:t>
            </a:r>
            <a:endParaRPr lang="en-US" sz="4000" dirty="0"/>
          </a:p>
        </p:txBody>
      </p:sp>
      <p:sp>
        <p:nvSpPr>
          <p:cNvPr id="9" name="Text 7"/>
          <p:cNvSpPr/>
          <p:nvPr/>
        </p:nvSpPr>
        <p:spPr>
          <a:xfrm>
            <a:off x="3566160" y="2633472"/>
            <a:ext cx="27432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compound–target records</a:t>
            </a:r>
            <a:endParaRPr lang="en-US" sz="1300" dirty="0"/>
          </a:p>
        </p:txBody>
      </p:sp>
      <p:sp>
        <p:nvSpPr>
          <p:cNvPr id="10" name="Text 8"/>
          <p:cNvSpPr/>
          <p:nvPr/>
        </p:nvSpPr>
        <p:spPr>
          <a:xfrm>
            <a:off x="6583680" y="1737360"/>
            <a:ext cx="274320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47</a:t>
            </a:r>
            <a:endParaRPr lang="en-US" sz="4000" dirty="0"/>
          </a:p>
        </p:txBody>
      </p:sp>
      <p:sp>
        <p:nvSpPr>
          <p:cNvPr id="11" name="Text 9"/>
          <p:cNvSpPr/>
          <p:nvPr/>
        </p:nvSpPr>
        <p:spPr>
          <a:xfrm>
            <a:off x="6583680" y="2633472"/>
            <a:ext cx="27432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targets</a:t>
            </a:r>
            <a:endParaRPr lang="en-US" sz="1300" dirty="0"/>
          </a:p>
        </p:txBody>
      </p:sp>
      <p:sp>
        <p:nvSpPr>
          <p:cNvPr id="12" name="Text 10"/>
          <p:cNvSpPr/>
          <p:nvPr/>
        </p:nvSpPr>
        <p:spPr>
          <a:xfrm>
            <a:off x="9326880" y="1737360"/>
            <a:ext cx="237744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18</a:t>
            </a:r>
            <a:endParaRPr lang="en-US" sz="4000" dirty="0"/>
          </a:p>
        </p:txBody>
      </p:sp>
      <p:sp>
        <p:nvSpPr>
          <p:cNvPr id="13" name="Text 11"/>
          <p:cNvSpPr/>
          <p:nvPr/>
        </p:nvSpPr>
        <p:spPr>
          <a:xfrm>
            <a:off x="9326880" y="2633472"/>
            <a:ext cx="23774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receptor families</a:t>
            </a:r>
            <a:endParaRPr lang="en-US" sz="1300" dirty="0"/>
          </a:p>
        </p:txBody>
      </p:sp>
      <p:sp>
        <p:nvSpPr>
          <p:cNvPr id="14" name="Shape 12"/>
          <p:cNvSpPr/>
          <p:nvPr/>
        </p:nvSpPr>
        <p:spPr>
          <a:xfrm>
            <a:off x="548640" y="3611880"/>
            <a:ext cx="5440680" cy="2148840"/>
          </a:xfrm>
          <a:prstGeom prst="roundRect">
            <a:avLst>
              <a:gd name="adj" fmla="val 3830"/>
            </a:avLst>
          </a:prstGeom>
          <a:solidFill>
            <a:srgbClr val="E9F1F0"/>
          </a:solidFill>
          <a:ln/>
        </p:spPr>
      </p:sp>
      <p:sp>
        <p:nvSpPr>
          <p:cNvPr id="15" name="Text 13"/>
          <p:cNvSpPr/>
          <p:nvPr/>
        </p:nvSpPr>
        <p:spPr>
          <a:xfrm>
            <a:off x="822960" y="3813048"/>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The curation pipeline</a:t>
            </a:r>
            <a:endParaRPr lang="en-US" sz="1500" dirty="0"/>
          </a:p>
        </p:txBody>
      </p:sp>
      <p:sp>
        <p:nvSpPr>
          <p:cNvPr id="16" name="Text 14"/>
          <p:cNvSpPr/>
          <p:nvPr/>
        </p:nvSpPr>
        <p:spPr>
          <a:xfrm>
            <a:off x="822960" y="4288536"/>
            <a:ext cx="4892040" cy="125272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Human Ki binding data from ChEMBL for compounds in clinical Phases I–IV and below 700 Da, with salt removal, peptide exclusion, a rotatable-bond flexibility filter, and highest-pKi deduplication per molecule.</a:t>
            </a:r>
            <a:endParaRPr lang="en-US" sz="1250" dirty="0"/>
          </a:p>
        </p:txBody>
      </p:sp>
      <p:sp>
        <p:nvSpPr>
          <p:cNvPr id="17" name="Shape 15"/>
          <p:cNvSpPr/>
          <p:nvPr/>
        </p:nvSpPr>
        <p:spPr>
          <a:xfrm>
            <a:off x="6199632" y="3611880"/>
            <a:ext cx="5440680" cy="2148840"/>
          </a:xfrm>
          <a:prstGeom prst="roundRect">
            <a:avLst>
              <a:gd name="adj" fmla="val 3830"/>
            </a:avLst>
          </a:prstGeom>
          <a:solidFill>
            <a:srgbClr val="F5ECE6"/>
          </a:solidFill>
          <a:ln/>
        </p:spPr>
      </p:sp>
      <p:sp>
        <p:nvSpPr>
          <p:cNvPr id="18" name="Text 16"/>
          <p:cNvSpPr/>
          <p:nvPr/>
        </p:nvSpPr>
        <p:spPr>
          <a:xfrm>
            <a:off x="6473952" y="3813048"/>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curate by clinical stage</a:t>
            </a:r>
            <a:endParaRPr lang="en-US" sz="1500" dirty="0"/>
          </a:p>
        </p:txBody>
      </p:sp>
      <p:sp>
        <p:nvSpPr>
          <p:cNvPr id="19" name="Text 17"/>
          <p:cNvSpPr/>
          <p:nvPr/>
        </p:nvSpPr>
        <p:spPr>
          <a:xfrm>
            <a:off x="6473952" y="4288536"/>
            <a:ext cx="4892040" cy="125272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Selecting on clinical status rather than single-target potency gives chemistry that has already survived safety and developability selection, and it is what makes the set informative for repurposing.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COMPOSITION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Receptor families and clinical phase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4</a:t>
            </a:r>
            <a:endParaRPr lang="en-US" sz="900" dirty="0"/>
          </a:p>
        </p:txBody>
      </p:sp>
      <p:pic>
        <p:nvPicPr>
          <p:cNvPr id="6" name="Image 0" descr="/sessions/sharp-elegant-gauss/mnt/outputs/thesis_clean/figures/deck_family_pie.png">    </p:cNvPr>
          <p:cNvPicPr>
            <a:picLocks noChangeAspect="1"/>
          </p:cNvPicPr>
          <p:nvPr/>
        </p:nvPicPr>
        <p:blipFill>
          <a:blip r:embed="rId1"/>
          <a:stretch>
            <a:fillRect/>
          </a:stretch>
        </p:blipFill>
        <p:spPr>
          <a:xfrm>
            <a:off x="868680" y="1499616"/>
            <a:ext cx="4315968" cy="3401568"/>
          </a:xfrm>
          <a:prstGeom prst="rect">
            <a:avLst/>
          </a:prstGeom>
        </p:spPr>
      </p:pic>
      <p:sp>
        <p:nvSpPr>
          <p:cNvPr id="7" name="Text 4"/>
          <p:cNvSpPr/>
          <p:nvPr/>
        </p:nvSpPr>
        <p:spPr>
          <a:xfrm>
            <a:off x="5806440" y="1920240"/>
            <a:ext cx="274320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3,011</a:t>
            </a:r>
            <a:endParaRPr lang="en-US" sz="4000" dirty="0"/>
          </a:p>
        </p:txBody>
      </p:sp>
      <p:sp>
        <p:nvSpPr>
          <p:cNvPr id="8" name="Text 5"/>
          <p:cNvSpPr/>
          <p:nvPr/>
        </p:nvSpPr>
        <p:spPr>
          <a:xfrm>
            <a:off x="5806440" y="2816352"/>
            <a:ext cx="27432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compound-target records</a:t>
            </a:r>
            <a:endParaRPr lang="en-US" sz="1300" dirty="0"/>
          </a:p>
        </p:txBody>
      </p:sp>
      <p:sp>
        <p:nvSpPr>
          <p:cNvPr id="9" name="Text 6"/>
          <p:cNvSpPr/>
          <p:nvPr/>
        </p:nvSpPr>
        <p:spPr>
          <a:xfrm>
            <a:off x="8778240" y="1920240"/>
            <a:ext cx="283464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719</a:t>
            </a:r>
            <a:endParaRPr lang="en-US" sz="4000" dirty="0"/>
          </a:p>
        </p:txBody>
      </p:sp>
      <p:sp>
        <p:nvSpPr>
          <p:cNvPr id="10" name="Text 7"/>
          <p:cNvSpPr/>
          <p:nvPr/>
        </p:nvSpPr>
        <p:spPr>
          <a:xfrm>
            <a:off x="8778240" y="2816352"/>
            <a:ext cx="28346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unique molecules</a:t>
            </a:r>
            <a:endParaRPr lang="en-US" sz="1300" dirty="0"/>
          </a:p>
        </p:txBody>
      </p:sp>
      <p:sp>
        <p:nvSpPr>
          <p:cNvPr id="11" name="Text 8"/>
          <p:cNvSpPr/>
          <p:nvPr/>
        </p:nvSpPr>
        <p:spPr>
          <a:xfrm>
            <a:off x="5806440" y="3520440"/>
            <a:ext cx="580644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52.4%</a:t>
            </a:r>
            <a:endParaRPr lang="en-US" sz="4000" dirty="0"/>
          </a:p>
        </p:txBody>
      </p:sp>
      <p:sp>
        <p:nvSpPr>
          <p:cNvPr id="12" name="Text 9"/>
          <p:cNvSpPr/>
          <p:nvPr/>
        </p:nvSpPr>
        <p:spPr>
          <a:xfrm>
            <a:off x="5806440" y="4416552"/>
            <a:ext cx="58064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of molecules reached Phase IV, counted per unique molecule</a:t>
            </a:r>
            <a:endParaRPr lang="en-US" sz="1300" dirty="0"/>
          </a:p>
        </p:txBody>
      </p:sp>
      <p:sp>
        <p:nvSpPr>
          <p:cNvPr id="13" name="Shape 10"/>
          <p:cNvSpPr/>
          <p:nvPr/>
        </p:nvSpPr>
        <p:spPr>
          <a:xfrm>
            <a:off x="548640" y="4983480"/>
            <a:ext cx="11091672" cy="1325880"/>
          </a:xfrm>
          <a:prstGeom prst="roundRect">
            <a:avLst>
              <a:gd name="adj" fmla="val 6207"/>
            </a:avLst>
          </a:prstGeom>
          <a:solidFill>
            <a:srgbClr val="E9F1F0"/>
          </a:solidFill>
          <a:ln/>
        </p:spPr>
      </p:sp>
      <p:sp>
        <p:nvSpPr>
          <p:cNvPr id="14" name="Text 11"/>
          <p:cNvSpPr/>
          <p:nvPr/>
        </p:nvSpPr>
        <p:spPr>
          <a:xfrm>
            <a:off x="822960" y="5184648"/>
            <a:ext cx="10543032"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Records or molecules? It matters</a:t>
            </a:r>
            <a:endParaRPr lang="en-US" sz="1500" dirty="0"/>
          </a:p>
        </p:txBody>
      </p:sp>
      <p:sp>
        <p:nvSpPr>
          <p:cNvPr id="15" name="Text 12"/>
          <p:cNvSpPr/>
          <p:nvPr/>
        </p:nvSpPr>
        <p:spPr>
          <a:xfrm>
            <a:off x="822960" y="5660136"/>
            <a:ext cx="10543032" cy="42976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At record level 69.8% are Phase IV, but approved drugs are promiscuous and assayed against many targets, so they are over-counted. Per unique molecule: 52.4% Phase IV, 31.4% Phase II, 12.4% Phase III, 3.8% Phase I. This class imbalance is carried through every later analysis.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POLYPHARMACOLOGY</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Clinical-stage ligands engage many targets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5</a:t>
            </a:r>
            <a:endParaRPr lang="en-US" sz="900" dirty="0"/>
          </a:p>
        </p:txBody>
      </p:sp>
      <p:pic>
        <p:nvPicPr>
          <p:cNvPr id="6" name="Image 0" descr="/sessions/sharp-elegant-gauss/mnt/outputs/thesis_clean/figures/deck_promiscuous_named.png">    </p:cNvPr>
          <p:cNvPicPr>
            <a:picLocks noChangeAspect="1"/>
          </p:cNvPicPr>
          <p:nvPr/>
        </p:nvPicPr>
        <p:blipFill>
          <a:blip r:embed="rId1"/>
          <a:stretch>
            <a:fillRect/>
          </a:stretch>
        </p:blipFill>
        <p:spPr>
          <a:xfrm>
            <a:off x="411480" y="1783080"/>
            <a:ext cx="7040880" cy="2706624"/>
          </a:xfrm>
          <a:prstGeom prst="rect">
            <a:avLst/>
          </a:prstGeom>
        </p:spPr>
      </p:pic>
      <p:sp>
        <p:nvSpPr>
          <p:cNvPr id="7" name="Text 4"/>
          <p:cNvSpPr/>
          <p:nvPr/>
        </p:nvSpPr>
        <p:spPr>
          <a:xfrm>
            <a:off x="7863840" y="1783080"/>
            <a:ext cx="384048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4.19</a:t>
            </a:r>
            <a:endParaRPr lang="en-US" sz="4000" dirty="0"/>
          </a:p>
        </p:txBody>
      </p:sp>
      <p:sp>
        <p:nvSpPr>
          <p:cNvPr id="8" name="Text 5"/>
          <p:cNvSpPr/>
          <p:nvPr/>
        </p:nvSpPr>
        <p:spPr>
          <a:xfrm>
            <a:off x="7863840" y="2679192"/>
            <a:ext cx="384048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targets per molecule (median 2, max 31)</a:t>
            </a:r>
            <a:endParaRPr lang="en-US" sz="1300" dirty="0"/>
          </a:p>
        </p:txBody>
      </p:sp>
      <p:sp>
        <p:nvSpPr>
          <p:cNvPr id="9" name="Text 6"/>
          <p:cNvSpPr/>
          <p:nvPr/>
        </p:nvSpPr>
        <p:spPr>
          <a:xfrm>
            <a:off x="7863840" y="3401568"/>
            <a:ext cx="384048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64.7%</a:t>
            </a:r>
            <a:endParaRPr lang="en-US" sz="4000" dirty="0"/>
          </a:p>
        </p:txBody>
      </p:sp>
      <p:sp>
        <p:nvSpPr>
          <p:cNvPr id="10" name="Text 7"/>
          <p:cNvSpPr/>
          <p:nvPr/>
        </p:nvSpPr>
        <p:spPr>
          <a:xfrm>
            <a:off x="7863840" y="4297680"/>
            <a:ext cx="384048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act on more than one target</a:t>
            </a:r>
            <a:endParaRPr lang="en-US" sz="1300" dirty="0"/>
          </a:p>
        </p:txBody>
      </p:sp>
      <p:sp>
        <p:nvSpPr>
          <p:cNvPr id="11" name="Shape 8"/>
          <p:cNvSpPr/>
          <p:nvPr/>
        </p:nvSpPr>
        <p:spPr>
          <a:xfrm>
            <a:off x="548640" y="4983480"/>
            <a:ext cx="11091672" cy="1325880"/>
          </a:xfrm>
          <a:prstGeom prst="roundRect">
            <a:avLst>
              <a:gd name="adj" fmla="val 6207"/>
            </a:avLst>
          </a:prstGeom>
          <a:solidFill>
            <a:srgbClr val="F5ECE6"/>
          </a:solidFill>
          <a:ln/>
        </p:spPr>
      </p:sp>
      <p:sp>
        <p:nvSpPr>
          <p:cNvPr id="12" name="Text 9"/>
          <p:cNvSpPr/>
          <p:nvPr/>
        </p:nvSpPr>
        <p:spPr>
          <a:xfrm>
            <a:off x="822960" y="5184648"/>
            <a:ext cx="10543032"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this matters twice</a:t>
            </a:r>
            <a:endParaRPr lang="en-US" sz="1500" dirty="0"/>
          </a:p>
        </p:txBody>
      </p:sp>
      <p:sp>
        <p:nvSpPr>
          <p:cNvPr id="13" name="Text 10"/>
          <p:cNvSpPr/>
          <p:nvPr/>
        </p:nvSpPr>
        <p:spPr>
          <a:xfrm>
            <a:off x="822960" y="5660136"/>
            <a:ext cx="10543032" cy="42976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Promiscuity crosses family boundaries: 1.89 families per molecule on average (max 11), and 38.0% act on more than one. This is the basis for the repurposing motivation, and the reason for the later robustness check that removes multi-target compounds and retrains.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DESCRIPTORS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we measured on every molecule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48640" y="1719072"/>
            <a:ext cx="11091672" cy="548640"/>
          </a:xfrm>
          <a:prstGeom prst="rect">
            <a:avLst/>
          </a:prstGeom>
          <a:noFill/>
          <a:ln/>
        </p:spPr>
        <p:txBody>
          <a:bodyPr wrap="square" rtlCol="0" anchor="ctr"/>
          <a:lstStyle/>
          <a:p>
            <a:pPr indent="0" marL="0">
              <a:buNone/>
            </a:pPr>
            <a:r>
              <a:rPr lang="en-US" sz="1450" dirty="0">
                <a:solidFill>
                  <a:srgbClr val="22333B"/>
                </a:solidFill>
                <a:latin typeface="Calibri" pitchFamily="34" charset="0"/>
                <a:ea typeface="Calibri" pitchFamily="34" charset="-122"/>
                <a:cs typeface="Calibri" pitchFamily="34" charset="-120"/>
              </a:rPr>
              <a:t>Fifteen descriptors were computed for every curated compound with RDKit: eleven physicochemical and structural properties, plus four composite efficiency metrics derived from them and the measured affinity.</a:t>
            </a:r>
            <a:endParaRPr lang="en-US" sz="1450" dirty="0"/>
          </a:p>
        </p:txBody>
      </p:sp>
      <p:sp>
        <p:nvSpPr>
          <p:cNvPr id="7" name="Shape 5"/>
          <p:cNvSpPr/>
          <p:nvPr/>
        </p:nvSpPr>
        <p:spPr>
          <a:xfrm>
            <a:off x="548640" y="2395728"/>
            <a:ext cx="6812280" cy="2331720"/>
          </a:xfrm>
          <a:prstGeom prst="roundRect">
            <a:avLst>
              <a:gd name="adj" fmla="val 3529"/>
            </a:avLst>
          </a:prstGeom>
          <a:solidFill>
            <a:srgbClr val="E9F1F0"/>
          </a:solidFill>
          <a:ln/>
        </p:spPr>
      </p:sp>
      <p:sp>
        <p:nvSpPr>
          <p:cNvPr id="8" name="Text 6"/>
          <p:cNvSpPr/>
          <p:nvPr/>
        </p:nvSpPr>
        <p:spPr>
          <a:xfrm>
            <a:off x="822960" y="2596896"/>
            <a:ext cx="62636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Physicochemical and structural  (11)</a:t>
            </a:r>
            <a:endParaRPr lang="en-US" sz="1500" dirty="0"/>
          </a:p>
        </p:txBody>
      </p:sp>
      <p:sp>
        <p:nvSpPr>
          <p:cNvPr id="9" name="Text 7"/>
          <p:cNvSpPr/>
          <p:nvPr/>
        </p:nvSpPr>
        <p:spPr>
          <a:xfrm>
            <a:off x="822960" y="3072384"/>
            <a:ext cx="6263640" cy="143560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MW · LogP · LogS · TPSA · HBA · HBD · RotB · HAC · RingCount · Fsp³ · HalogenCount</a:t>
            </a:r>
            <a:endParaRPr lang="en-US" sz="1250" dirty="0"/>
          </a:p>
          <a:p>
            <a:pPr indent="0" marL="0">
              <a:lnSpc>
                <a:spcPct val="112000"/>
              </a:lnSpc>
              <a:buNone/>
            </a:pPr>
            <a:endParaRPr lang="en-US" sz="1250" dirty="0"/>
          </a:p>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Size, lipophilicity, solubility, polarity, flexibility and shape: the properties that govern whether a molecule is orally bioavailable and CNS-penetrant.</a:t>
            </a:r>
            <a:endParaRPr lang="en-US" sz="1250" dirty="0"/>
          </a:p>
        </p:txBody>
      </p:sp>
      <p:sp>
        <p:nvSpPr>
          <p:cNvPr id="10" name="Shape 8"/>
          <p:cNvSpPr/>
          <p:nvPr/>
        </p:nvSpPr>
        <p:spPr>
          <a:xfrm>
            <a:off x="7571232" y="2395728"/>
            <a:ext cx="4069080" cy="2331720"/>
          </a:xfrm>
          <a:prstGeom prst="roundRect">
            <a:avLst>
              <a:gd name="adj" fmla="val 3529"/>
            </a:avLst>
          </a:prstGeom>
          <a:solidFill>
            <a:srgbClr val="F5ECE6"/>
          </a:solidFill>
          <a:ln/>
        </p:spPr>
      </p:sp>
      <p:sp>
        <p:nvSpPr>
          <p:cNvPr id="11" name="Text 9"/>
          <p:cNvSpPr/>
          <p:nvPr/>
        </p:nvSpPr>
        <p:spPr>
          <a:xfrm>
            <a:off x="7845552" y="2596896"/>
            <a:ext cx="35204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Efficiency metrics  (4)</a:t>
            </a:r>
            <a:endParaRPr lang="en-US" sz="1500" dirty="0"/>
          </a:p>
        </p:txBody>
      </p:sp>
      <p:sp>
        <p:nvSpPr>
          <p:cNvPr id="12" name="Text 10"/>
          <p:cNvSpPr/>
          <p:nvPr/>
        </p:nvSpPr>
        <p:spPr>
          <a:xfrm>
            <a:off x="7845552" y="3072384"/>
            <a:ext cx="3520440" cy="143560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QED · LE · LLE · LELP</a:t>
            </a:r>
            <a:endParaRPr lang="en-US" sz="1250" dirty="0"/>
          </a:p>
          <a:p>
            <a:pPr indent="0" marL="0">
              <a:lnSpc>
                <a:spcPct val="112000"/>
              </a:lnSpc>
              <a:buNone/>
            </a:pPr>
            <a:endParaRPr lang="en-US" sz="1250" dirty="0"/>
          </a:p>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Derived from the descriptors above together with the measured pKi, so potency is judged relative to size and lipophilicity rather than on its own.</a:t>
            </a:r>
            <a:endParaRPr lang="en-US" sz="1250" dirty="0"/>
          </a:p>
        </p:txBody>
      </p:sp>
      <p:sp>
        <p:nvSpPr>
          <p:cNvPr id="13" name="Text 11"/>
          <p:cNvSpPr/>
          <p:nvPr/>
        </p:nvSpPr>
        <p:spPr>
          <a:xfrm>
            <a:off x="548640" y="4983480"/>
            <a:ext cx="11091672" cy="548640"/>
          </a:xfrm>
          <a:prstGeom prst="rect">
            <a:avLst/>
          </a:prstGeom>
          <a:noFill/>
          <a:ln/>
        </p:spPr>
        <p:txBody>
          <a:bodyPr wrap="square" rtlCol="0" anchor="ctr"/>
          <a:lstStyle/>
          <a:p>
            <a:pPr algn="ctr" indent="0" marL="0">
              <a:buNone/>
            </a:pPr>
            <a:r>
              <a:rPr lang="en-US" sz="1400" i="1" dirty="0">
                <a:solidFill>
                  <a:srgbClr val="60727A"/>
                </a:solidFill>
                <a:latin typeface="Calibri" pitchFamily="34" charset="0"/>
                <a:ea typeface="Calibri" pitchFamily="34" charset="-122"/>
                <a:cs typeface="Calibri" pitchFamily="34" charset="-120"/>
              </a:rPr>
              <a:t>These fifteen are interpretable, and they are what Part One analyses. For modelling, the same idea is scaled up: ~200 normalised descriptors, plus a structural fingerprint.</a:t>
            </a:r>
            <a:endParaRPr lang="en-US" sz="1400" dirty="0"/>
          </a:p>
        </p:txBody>
      </p:sp>
      <p:sp>
        <p:nvSpPr>
          <p:cNvPr id="14" name="Shape 12"/>
          <p:cNvSpPr/>
          <p:nvPr/>
        </p:nvSpPr>
        <p:spPr>
          <a:xfrm>
            <a:off x="3246120" y="5623560"/>
            <a:ext cx="5669280" cy="566928"/>
          </a:xfrm>
          <a:prstGeom prst="roundRect">
            <a:avLst>
              <a:gd name="adj" fmla="val 14516"/>
            </a:avLst>
          </a:prstGeom>
          <a:solidFill>
            <a:srgbClr val="116E64"/>
          </a:solidFill>
          <a:ln/>
        </p:spPr>
      </p:sp>
      <p:sp>
        <p:nvSpPr>
          <p:cNvPr id="15" name="Text 13"/>
          <p:cNvSpPr/>
          <p:nvPr/>
        </p:nvSpPr>
        <p:spPr>
          <a:xfrm>
            <a:off x="3246120" y="5623560"/>
            <a:ext cx="5669280" cy="56692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15 descriptors  →  ~200 for the models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PROPERTIES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Is the potency earned, or bought with size?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48640" y="1609344"/>
            <a:ext cx="11091672" cy="365760"/>
          </a:xfrm>
          <a:prstGeom prst="rect">
            <a:avLst/>
          </a:prstGeom>
          <a:noFill/>
          <a:ln/>
        </p:spPr>
        <p:txBody>
          <a:bodyPr wrap="square" rtlCol="0" anchor="ctr"/>
          <a:lstStyle/>
          <a:p>
            <a:pPr indent="0" marL="0">
              <a:buNone/>
            </a:pPr>
            <a:r>
              <a:rPr lang="en-US" sz="1400" dirty="0">
                <a:solidFill>
                  <a:srgbClr val="22333B"/>
                </a:solidFill>
                <a:latin typeface="Calibri" pitchFamily="34" charset="0"/>
                <a:ea typeface="Calibri" pitchFamily="34" charset="-122"/>
                <a:cs typeface="Calibri" pitchFamily="34" charset="-120"/>
              </a:rPr>
              <a:t>Raw potency is easy to buy: add atoms, add grease, affinity rises. Ligand efficiency asks the harder question, binding energy per heavy atom.</a:t>
            </a:r>
            <a:endParaRPr lang="en-US" sz="1400" dirty="0"/>
          </a:p>
        </p:txBody>
      </p:sp>
      <p:pic>
        <p:nvPicPr>
          <p:cNvPr id="7" name="Image 0" descr="/sessions/sharp-elegant-gauss/mnt/outputs/thesis_clean/figures/deck_ligand_eff.png">    </p:cNvPr>
          <p:cNvPicPr>
            <a:picLocks noChangeAspect="1"/>
          </p:cNvPicPr>
          <p:nvPr/>
        </p:nvPicPr>
        <p:blipFill>
          <a:blip r:embed="rId1"/>
          <a:stretch>
            <a:fillRect/>
          </a:stretch>
        </p:blipFill>
        <p:spPr>
          <a:xfrm>
            <a:off x="548640" y="2084832"/>
            <a:ext cx="6172200" cy="3904488"/>
          </a:xfrm>
          <a:prstGeom prst="rect">
            <a:avLst/>
          </a:prstGeom>
        </p:spPr>
      </p:pic>
      <p:sp>
        <p:nvSpPr>
          <p:cNvPr id="8" name="Text 5"/>
          <p:cNvSpPr/>
          <p:nvPr/>
        </p:nvSpPr>
        <p:spPr>
          <a:xfrm>
            <a:off x="7086600" y="2240280"/>
            <a:ext cx="457200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0.52 → 0.24</a:t>
            </a:r>
            <a:endParaRPr lang="en-US" sz="4000" dirty="0"/>
          </a:p>
        </p:txBody>
      </p:sp>
      <p:sp>
        <p:nvSpPr>
          <p:cNvPr id="9" name="Text 6"/>
          <p:cNvSpPr/>
          <p:nvPr/>
        </p:nvSpPr>
        <p:spPr>
          <a:xfrm>
            <a:off x="7086600" y="3136392"/>
            <a:ext cx="45720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ligand efficiency, smallest compounds vs largest</a:t>
            </a:r>
            <a:endParaRPr lang="en-US" sz="1300" dirty="0"/>
          </a:p>
        </p:txBody>
      </p:sp>
      <p:sp>
        <p:nvSpPr>
          <p:cNvPr id="10" name="Text 7"/>
          <p:cNvSpPr/>
          <p:nvPr/>
        </p:nvSpPr>
        <p:spPr>
          <a:xfrm>
            <a:off x="7086600" y="3886200"/>
            <a:ext cx="457200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6.66 → 6.51</a:t>
            </a:r>
            <a:endParaRPr lang="en-US" sz="4000" dirty="0"/>
          </a:p>
        </p:txBody>
      </p:sp>
      <p:sp>
        <p:nvSpPr>
          <p:cNvPr id="11" name="Text 8"/>
          <p:cNvSpPr/>
          <p:nvPr/>
        </p:nvSpPr>
        <p:spPr>
          <a:xfrm>
            <a:off x="7086600" y="4782312"/>
            <a:ext cx="45720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median pKᵢ across the very same range</a:t>
            </a:r>
            <a:endParaRPr lang="en-US" sz="1300" dirty="0"/>
          </a:p>
        </p:txBody>
      </p:sp>
      <p:sp>
        <p:nvSpPr>
          <p:cNvPr id="12" name="Text 9"/>
          <p:cNvSpPr/>
          <p:nvPr/>
        </p:nvSpPr>
        <p:spPr>
          <a:xfrm>
            <a:off x="7086600" y="5486400"/>
            <a:ext cx="4572000" cy="548640"/>
          </a:xfrm>
          <a:prstGeom prst="rect">
            <a:avLst/>
          </a:prstGeom>
          <a:noFill/>
          <a:ln/>
        </p:spPr>
        <p:txBody>
          <a:bodyPr wrap="square" rtlCol="0" anchor="ctr"/>
          <a:lstStyle/>
          <a:p>
            <a:pPr indent="0" marL="0">
              <a:buNone/>
            </a:pPr>
            <a:r>
              <a:rPr lang="en-US" sz="1300" i="1" dirty="0">
                <a:solidFill>
                  <a:srgbClr val="60727A"/>
                </a:solidFill>
                <a:latin typeface="Calibri" pitchFamily="34" charset="0"/>
                <a:ea typeface="Calibri" pitchFamily="34" charset="-122"/>
                <a:cs typeface="Calibri" pitchFamily="34" charset="-120"/>
              </a:rPr>
              <a:t>Fifteen extra heavy atoms bought nothing. Spearman rho -0.77.</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ONE · DESCRIPTOR SPACE</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the descriptor space actually looks like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8</a:t>
            </a:r>
            <a:endParaRPr lang="en-US" sz="900" dirty="0"/>
          </a:p>
        </p:txBody>
      </p:sp>
      <p:pic>
        <p:nvPicPr>
          <p:cNvPr id="6" name="Image 0" descr="/sessions/sharp-elegant-gauss/mnt/outputs/thesis_clean/figures/deck_pca.png">    </p:cNvPr>
          <p:cNvPicPr>
            <a:picLocks noChangeAspect="1"/>
          </p:cNvPicPr>
          <p:nvPr/>
        </p:nvPicPr>
        <p:blipFill>
          <a:blip r:embed="rId1"/>
          <a:stretch>
            <a:fillRect/>
          </a:stretch>
        </p:blipFill>
        <p:spPr>
          <a:xfrm>
            <a:off x="548640" y="1627632"/>
            <a:ext cx="6446520" cy="3959352"/>
          </a:xfrm>
          <a:prstGeom prst="rect">
            <a:avLst/>
          </a:prstGeom>
        </p:spPr>
      </p:pic>
      <p:sp>
        <p:nvSpPr>
          <p:cNvPr id="7" name="Text 4"/>
          <p:cNvSpPr/>
          <p:nvPr/>
        </p:nvSpPr>
        <p:spPr>
          <a:xfrm>
            <a:off x="7452360" y="2011680"/>
            <a:ext cx="420624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65.5%</a:t>
            </a:r>
            <a:endParaRPr lang="en-US" sz="4000" dirty="0"/>
          </a:p>
        </p:txBody>
      </p:sp>
      <p:sp>
        <p:nvSpPr>
          <p:cNvPr id="8" name="Text 5"/>
          <p:cNvSpPr/>
          <p:nvPr/>
        </p:nvSpPr>
        <p:spPr>
          <a:xfrm>
            <a:off x="7452360" y="2907792"/>
            <a:ext cx="42062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of all descriptor variance sits in just two components; four reach 80%</a:t>
            </a:r>
            <a:endParaRPr lang="en-US" sz="1300" dirty="0"/>
          </a:p>
        </p:txBody>
      </p:sp>
      <p:sp>
        <p:nvSpPr>
          <p:cNvPr id="9" name="Shape 6"/>
          <p:cNvSpPr/>
          <p:nvPr/>
        </p:nvSpPr>
        <p:spPr>
          <a:xfrm>
            <a:off x="7452360" y="3931920"/>
            <a:ext cx="4206240" cy="1572768"/>
          </a:xfrm>
          <a:prstGeom prst="roundRect">
            <a:avLst>
              <a:gd name="adj" fmla="val 5233"/>
            </a:avLst>
          </a:prstGeom>
          <a:solidFill>
            <a:srgbClr val="E9F1F0"/>
          </a:solidFill>
          <a:ln/>
        </p:spPr>
      </p:sp>
      <p:sp>
        <p:nvSpPr>
          <p:cNvPr id="10" name="Text 7"/>
          <p:cNvSpPr/>
          <p:nvPr/>
        </p:nvSpPr>
        <p:spPr>
          <a:xfrm>
            <a:off x="7726680" y="4133088"/>
            <a:ext cx="36576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And no phase signal</a:t>
            </a:r>
            <a:endParaRPr lang="en-US" sz="1500" dirty="0"/>
          </a:p>
        </p:txBody>
      </p:sp>
      <p:sp>
        <p:nvSpPr>
          <p:cNvPr id="11" name="Text 8"/>
          <p:cNvSpPr/>
          <p:nvPr/>
        </p:nvSpPr>
        <p:spPr>
          <a:xfrm>
            <a:off x="7726680" y="4608576"/>
            <a:ext cx="3657600" cy="676656"/>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Clinical phase does not meaningfully separate: effect sizes 0.005 and 0.02, where 0.06 would only count as small.</a:t>
            </a:r>
            <a:endParaRPr lang="en-US" sz="1150" dirty="0"/>
          </a:p>
        </p:txBody>
      </p:sp>
      <p:sp>
        <p:nvSpPr>
          <p:cNvPr id="12" name="Shape 9"/>
          <p:cNvSpPr/>
          <p:nvPr/>
        </p:nvSpPr>
        <p:spPr>
          <a:xfrm>
            <a:off x="548640" y="5742432"/>
            <a:ext cx="11091672" cy="621792"/>
          </a:xfrm>
          <a:prstGeom prst="roundRect">
            <a:avLst>
              <a:gd name="adj" fmla="val 13235"/>
            </a:avLst>
          </a:prstGeom>
          <a:solidFill>
            <a:srgbClr val="F5ECE6"/>
          </a:solidFill>
          <a:ln/>
        </p:spPr>
      </p:sp>
      <p:sp>
        <p:nvSpPr>
          <p:cNvPr id="13" name="Text 10"/>
          <p:cNvSpPr/>
          <p:nvPr/>
        </p:nvSpPr>
        <p:spPr>
          <a:xfrm>
            <a:off x="868680" y="5742432"/>
            <a:ext cx="10451592" cy="621792"/>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PC1 is the same size-efficiency trade-off as the previous slide, found without being asked for.  </a:t>
            </a:r>
            <a:pPr indent="0" marL="0">
              <a:buNone/>
            </a:pPr>
            <a:r>
              <a:rPr lang="en-US" sz="1150" dirty="0">
                <a:solidFill>
                  <a:srgbClr val="22333B"/>
                </a:solidFill>
                <a:latin typeface="Calibri" pitchFamily="34" charset="0"/>
                <a:ea typeface="Calibri" pitchFamily="34" charset="-122"/>
                <a:cs typeface="Calibri" pitchFamily="34" charset="-120"/>
              </a:rPr>
              <a:t>Positive on LELP, molecular weight and heavy atoms; negative on solubility, ligand efficiency and QED.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PART TWO · THE TARGETS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Two data-rich receptors, and how they reached modelling scale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72768"/>
            <a:ext cx="5440680" cy="3017520"/>
          </a:xfrm>
          <a:prstGeom prst="roundRect">
            <a:avLst>
              <a:gd name="adj" fmla="val 2727"/>
            </a:avLst>
          </a:prstGeom>
          <a:solidFill>
            <a:srgbClr val="E9F1F0"/>
          </a:solidFill>
          <a:ln/>
        </p:spPr>
      </p:sp>
      <p:sp>
        <p:nvSpPr>
          <p:cNvPr id="7" name="Text 5"/>
          <p:cNvSpPr/>
          <p:nvPr/>
        </p:nvSpPr>
        <p:spPr>
          <a:xfrm>
            <a:off x="868680" y="1700784"/>
            <a:ext cx="4846320" cy="384048"/>
          </a:xfrm>
          <a:prstGeom prst="rect">
            <a:avLst/>
          </a:prstGeom>
          <a:noFill/>
          <a:ln/>
        </p:spPr>
        <p:txBody>
          <a:bodyPr wrap="square" rtlCol="0" anchor="ctr"/>
          <a:lstStyle/>
          <a:p>
            <a:pPr indent="0" marL="0">
              <a:buNone/>
            </a:pPr>
            <a:r>
              <a:rPr lang="en-US" sz="1800" b="1" dirty="0">
                <a:solidFill>
                  <a:srgbClr val="22333B"/>
                </a:solidFill>
                <a:latin typeface="Cambria" pitchFamily="34" charset="0"/>
                <a:ea typeface="Cambria" pitchFamily="34" charset="-122"/>
                <a:cs typeface="Cambria" pitchFamily="34" charset="-120"/>
              </a:rPr>
              <a:t>Serotonin 5-HT₂A</a:t>
            </a:r>
            <a:endParaRPr lang="en-US" sz="1800" dirty="0"/>
          </a:p>
        </p:txBody>
      </p:sp>
      <p:sp>
        <p:nvSpPr>
          <p:cNvPr id="8" name="Text 6"/>
          <p:cNvSpPr/>
          <p:nvPr/>
        </p:nvSpPr>
        <p:spPr>
          <a:xfrm>
            <a:off x="868680" y="2103120"/>
            <a:ext cx="4846320" cy="347472"/>
          </a:xfrm>
          <a:prstGeom prst="rect">
            <a:avLst/>
          </a:prstGeom>
          <a:noFill/>
          <a:ln/>
        </p:spPr>
        <p:txBody>
          <a:bodyPr wrap="square" rtlCol="0" anchor="ctr"/>
          <a:lstStyle/>
          <a:p>
            <a:pPr indent="0" marL="0">
              <a:buNone/>
            </a:pPr>
            <a:r>
              <a:rPr lang="en-US" sz="1300" b="1" dirty="0">
                <a:solidFill>
                  <a:srgbClr val="116E64"/>
                </a:solidFill>
                <a:latin typeface="Calibri" pitchFamily="34" charset="0"/>
                <a:ea typeface="Calibri" pitchFamily="34" charset="-122"/>
                <a:cs typeface="Calibri" pitchFamily="34" charset="-120"/>
              </a:rPr>
              <a:t>172 → 4,620 ligands</a:t>
            </a:r>
            <a:endParaRPr lang="en-US" sz="1300" dirty="0"/>
          </a:p>
        </p:txBody>
      </p:sp>
      <p:pic>
        <p:nvPicPr>
          <p:cNvPr id="9" name="Image 0" descr="/sessions/sharp-elegant-gauss/mnt/outputs/thesis_clean/figures/deck_serotonin.png">    </p:cNvPr>
          <p:cNvPicPr>
            <a:picLocks noChangeAspect="1"/>
          </p:cNvPicPr>
          <p:nvPr/>
        </p:nvPicPr>
        <p:blipFill>
          <a:blip r:embed="rId1"/>
          <a:stretch>
            <a:fillRect/>
          </a:stretch>
        </p:blipFill>
        <p:spPr>
          <a:xfrm>
            <a:off x="1490472" y="2432304"/>
            <a:ext cx="3566160" cy="1728216"/>
          </a:xfrm>
          <a:prstGeom prst="rect">
            <a:avLst/>
          </a:prstGeom>
        </p:spPr>
      </p:pic>
      <p:sp>
        <p:nvSpPr>
          <p:cNvPr id="10" name="Text 7"/>
          <p:cNvSpPr/>
          <p:nvPr/>
        </p:nvSpPr>
        <p:spPr>
          <a:xfrm>
            <a:off x="868680" y="4224528"/>
            <a:ext cx="4846320" cy="292608"/>
          </a:xfrm>
          <a:prstGeom prst="rect">
            <a:avLst/>
          </a:prstGeom>
          <a:noFill/>
          <a:ln/>
        </p:spPr>
        <p:txBody>
          <a:bodyPr wrap="square" rtlCol="0" anchor="ctr"/>
          <a:lstStyle/>
          <a:p>
            <a:pPr algn="ctr" indent="0" marL="0">
              <a:buNone/>
            </a:pPr>
            <a:r>
              <a:rPr lang="en-US" sz="1100" i="1" dirty="0">
                <a:solidFill>
                  <a:srgbClr val="60727A"/>
                </a:solidFill>
                <a:latin typeface="Calibri" pitchFamily="34" charset="0"/>
                <a:ea typeface="Calibri" pitchFamily="34" charset="-122"/>
                <a:cs typeface="Calibri" pitchFamily="34" charset="-120"/>
              </a:rPr>
              <a:t>endogenous ligand: serotonin</a:t>
            </a:r>
            <a:endParaRPr lang="en-US" sz="1100" dirty="0"/>
          </a:p>
        </p:txBody>
      </p:sp>
      <p:sp>
        <p:nvSpPr>
          <p:cNvPr id="11" name="Shape 8"/>
          <p:cNvSpPr/>
          <p:nvPr/>
        </p:nvSpPr>
        <p:spPr>
          <a:xfrm>
            <a:off x="6199632" y="1572768"/>
            <a:ext cx="5440680" cy="3017520"/>
          </a:xfrm>
          <a:prstGeom prst="roundRect">
            <a:avLst>
              <a:gd name="adj" fmla="val 2727"/>
            </a:avLst>
          </a:prstGeom>
          <a:solidFill>
            <a:srgbClr val="F5ECE6"/>
          </a:solidFill>
          <a:ln/>
        </p:spPr>
      </p:sp>
      <p:sp>
        <p:nvSpPr>
          <p:cNvPr id="12" name="Text 9"/>
          <p:cNvSpPr/>
          <p:nvPr/>
        </p:nvSpPr>
        <p:spPr>
          <a:xfrm>
            <a:off x="6519672" y="1700784"/>
            <a:ext cx="4846320" cy="384048"/>
          </a:xfrm>
          <a:prstGeom prst="rect">
            <a:avLst/>
          </a:prstGeom>
          <a:noFill/>
          <a:ln/>
        </p:spPr>
        <p:txBody>
          <a:bodyPr wrap="square" rtlCol="0" anchor="ctr"/>
          <a:lstStyle/>
          <a:p>
            <a:pPr indent="0" marL="0">
              <a:buNone/>
            </a:pPr>
            <a:r>
              <a:rPr lang="en-US" sz="1800" b="1" dirty="0">
                <a:solidFill>
                  <a:srgbClr val="22333B"/>
                </a:solidFill>
                <a:latin typeface="Cambria" pitchFamily="34" charset="0"/>
                <a:ea typeface="Cambria" pitchFamily="34" charset="-122"/>
                <a:cs typeface="Cambria" pitchFamily="34" charset="-120"/>
              </a:rPr>
              <a:t>Dopamine D₃</a:t>
            </a:r>
            <a:endParaRPr lang="en-US" sz="1800" dirty="0"/>
          </a:p>
        </p:txBody>
      </p:sp>
      <p:sp>
        <p:nvSpPr>
          <p:cNvPr id="13" name="Text 10"/>
          <p:cNvSpPr/>
          <p:nvPr/>
        </p:nvSpPr>
        <p:spPr>
          <a:xfrm>
            <a:off x="6519672" y="2103120"/>
            <a:ext cx="4846320" cy="347472"/>
          </a:xfrm>
          <a:prstGeom prst="rect">
            <a:avLst/>
          </a:prstGeom>
          <a:noFill/>
          <a:ln/>
        </p:spPr>
        <p:txBody>
          <a:bodyPr wrap="square" rtlCol="0" anchor="ctr"/>
          <a:lstStyle/>
          <a:p>
            <a:pPr indent="0" marL="0">
              <a:buNone/>
            </a:pPr>
            <a:r>
              <a:rPr lang="en-US" sz="1300" b="1" dirty="0">
                <a:solidFill>
                  <a:srgbClr val="BE5638"/>
                </a:solidFill>
                <a:latin typeface="Calibri" pitchFamily="34" charset="0"/>
                <a:ea typeface="Calibri" pitchFamily="34" charset="-122"/>
                <a:cs typeface="Calibri" pitchFamily="34" charset="-120"/>
              </a:rPr>
              <a:t>173 → 5,488 ligands</a:t>
            </a:r>
            <a:endParaRPr lang="en-US" sz="1300" dirty="0"/>
          </a:p>
        </p:txBody>
      </p:sp>
      <p:pic>
        <p:nvPicPr>
          <p:cNvPr id="14" name="Image 1" descr="/sessions/sharp-elegant-gauss/mnt/outputs/thesis_clean/figures/deck_dopamine.png">    </p:cNvPr>
          <p:cNvPicPr>
            <a:picLocks noChangeAspect="1"/>
          </p:cNvPicPr>
          <p:nvPr/>
        </p:nvPicPr>
        <p:blipFill>
          <a:blip r:embed="rId2"/>
          <a:stretch>
            <a:fillRect/>
          </a:stretch>
        </p:blipFill>
        <p:spPr>
          <a:xfrm>
            <a:off x="7141464" y="2432304"/>
            <a:ext cx="3566160" cy="1728216"/>
          </a:xfrm>
          <a:prstGeom prst="rect">
            <a:avLst/>
          </a:prstGeom>
        </p:spPr>
      </p:pic>
      <p:sp>
        <p:nvSpPr>
          <p:cNvPr id="15" name="Text 11"/>
          <p:cNvSpPr/>
          <p:nvPr/>
        </p:nvSpPr>
        <p:spPr>
          <a:xfrm>
            <a:off x="6519672" y="4224528"/>
            <a:ext cx="4846320" cy="292608"/>
          </a:xfrm>
          <a:prstGeom prst="rect">
            <a:avLst/>
          </a:prstGeom>
          <a:noFill/>
          <a:ln/>
        </p:spPr>
        <p:txBody>
          <a:bodyPr wrap="square" rtlCol="0" anchor="ctr"/>
          <a:lstStyle/>
          <a:p>
            <a:pPr algn="ctr" indent="0" marL="0">
              <a:buNone/>
            </a:pPr>
            <a:r>
              <a:rPr lang="en-US" sz="1100" i="1" dirty="0">
                <a:solidFill>
                  <a:srgbClr val="60727A"/>
                </a:solidFill>
                <a:latin typeface="Calibri" pitchFamily="34" charset="0"/>
                <a:ea typeface="Calibri" pitchFamily="34" charset="-122"/>
                <a:cs typeface="Calibri" pitchFamily="34" charset="-120"/>
              </a:rPr>
              <a:t>endogenous ligand: dopamine</a:t>
            </a:r>
            <a:endParaRPr lang="en-US" sz="1100" dirty="0"/>
          </a:p>
        </p:txBody>
      </p:sp>
      <p:sp>
        <p:nvSpPr>
          <p:cNvPr id="16" name="Shape 12"/>
          <p:cNvSpPr/>
          <p:nvPr/>
        </p:nvSpPr>
        <p:spPr>
          <a:xfrm>
            <a:off x="548640" y="4718304"/>
            <a:ext cx="5440680" cy="1627632"/>
          </a:xfrm>
          <a:prstGeom prst="roundRect">
            <a:avLst>
              <a:gd name="adj" fmla="val 5056"/>
            </a:avLst>
          </a:prstGeom>
          <a:solidFill>
            <a:srgbClr val="E9F1F0"/>
          </a:solidFill>
          <a:ln/>
        </p:spPr>
      </p:sp>
      <p:sp>
        <p:nvSpPr>
          <p:cNvPr id="17" name="Text 13"/>
          <p:cNvSpPr/>
          <p:nvPr/>
        </p:nvSpPr>
        <p:spPr>
          <a:xfrm>
            <a:off x="822960" y="4919472"/>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Both carry the same basic amine</a:t>
            </a:r>
            <a:endParaRPr lang="en-US" sz="1500" dirty="0"/>
          </a:p>
        </p:txBody>
      </p:sp>
      <p:sp>
        <p:nvSpPr>
          <p:cNvPr id="18" name="Text 14"/>
          <p:cNvSpPr/>
          <p:nvPr/>
        </p:nvSpPr>
        <p:spPr>
          <a:xfrm>
            <a:off x="822960" y="5394960"/>
            <a:ext cx="4892040" cy="731520"/>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The circled protonatable amine forms a salt bridge to a conserved aspartate in transmembrane helix 3. That is the anchor point every ligand in the set competes for, and it is why 5-HT₂A later turns out to be charge-driven.</a:t>
            </a:r>
            <a:endParaRPr lang="en-US" sz="1150" dirty="0"/>
          </a:p>
        </p:txBody>
      </p:sp>
      <p:sp>
        <p:nvSpPr>
          <p:cNvPr id="19" name="Shape 15"/>
          <p:cNvSpPr/>
          <p:nvPr/>
        </p:nvSpPr>
        <p:spPr>
          <a:xfrm>
            <a:off x="6199632" y="4718304"/>
            <a:ext cx="5440680" cy="1627632"/>
          </a:xfrm>
          <a:prstGeom prst="roundRect">
            <a:avLst>
              <a:gd name="adj" fmla="val 5056"/>
            </a:avLst>
          </a:prstGeom>
          <a:solidFill>
            <a:srgbClr val="F5ECE6"/>
          </a:solidFill>
          <a:ln/>
        </p:spPr>
      </p:sp>
      <p:sp>
        <p:nvSpPr>
          <p:cNvPr id="20" name="Text 16"/>
          <p:cNvSpPr/>
          <p:nvPr/>
        </p:nvSpPr>
        <p:spPr>
          <a:xfrm>
            <a:off x="6473952" y="4919472"/>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the ~27x and ~32x expansion is fair</a:t>
            </a:r>
            <a:endParaRPr lang="en-US" sz="1500" dirty="0"/>
          </a:p>
        </p:txBody>
      </p:sp>
      <p:sp>
        <p:nvSpPr>
          <p:cNvPr id="21" name="Text 17"/>
          <p:cNvSpPr/>
          <p:nvPr/>
        </p:nvSpPr>
        <p:spPr>
          <a:xfrm>
            <a:off x="6473952" y="5394960"/>
            <a:ext cx="4892040" cy="731520"/>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Only 172 and 173 clinical compounds per target: too few to train on and validate honestly. Preclinical ChEMBL compounds were added under the same curation, and whole scaffold families are still held out, so every test compound stays structurally novel.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THE TASK</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From a molecule to a predicted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411480" y="2121408"/>
            <a:ext cx="2514600" cy="411480"/>
          </a:xfrm>
          <a:prstGeom prst="rect">
            <a:avLst/>
          </a:prstGeom>
          <a:noFill/>
          <a:ln/>
        </p:spPr>
        <p:txBody>
          <a:bodyPr wrap="square" rtlCol="0" anchor="ctr"/>
          <a:lstStyle/>
          <a:p>
            <a:pPr algn="ctr" indent="0" marL="0">
              <a:buNone/>
            </a:pPr>
            <a:r>
              <a:rPr lang="en-US" sz="1600" b="1" dirty="0">
                <a:solidFill>
                  <a:srgbClr val="22333B"/>
                </a:solidFill>
                <a:latin typeface="Cambria" pitchFamily="34" charset="0"/>
                <a:ea typeface="Cambria" pitchFamily="34" charset="-122"/>
                <a:cs typeface="Cambria" pitchFamily="34" charset="-120"/>
              </a:rPr>
              <a:t>Molecule</a:t>
            </a:r>
            <a:endParaRPr lang="en-US" sz="1600" dirty="0"/>
          </a:p>
        </p:txBody>
      </p:sp>
      <p:pic>
        <p:nvPicPr>
          <p:cNvPr id="7" name="Image 0" descr="/sessions/sharp-elegant-gauss/mnt/outputs/thesis_clean/figures/deck_pipe.png">    </p:cNvPr>
          <p:cNvPicPr>
            <a:picLocks noChangeAspect="1"/>
          </p:cNvPicPr>
          <p:nvPr/>
        </p:nvPicPr>
        <p:blipFill>
          <a:blip r:embed="rId1"/>
          <a:stretch>
            <a:fillRect/>
          </a:stretch>
        </p:blipFill>
        <p:spPr>
          <a:xfrm>
            <a:off x="548640" y="2825496"/>
            <a:ext cx="2240280" cy="1664208"/>
          </a:xfrm>
          <a:prstGeom prst="rect">
            <a:avLst/>
          </a:prstGeom>
        </p:spPr>
      </p:pic>
      <p:sp>
        <p:nvSpPr>
          <p:cNvPr id="8" name="Text 5"/>
          <p:cNvSpPr/>
          <p:nvPr/>
        </p:nvSpPr>
        <p:spPr>
          <a:xfrm>
            <a:off x="2980944" y="3337560"/>
            <a:ext cx="502920" cy="640080"/>
          </a:xfrm>
          <a:prstGeom prst="rect">
            <a:avLst/>
          </a:prstGeom>
          <a:noFill/>
          <a:ln/>
        </p:spPr>
        <p:txBody>
          <a:bodyPr wrap="square" rtlCol="0" anchor="ctr"/>
          <a:lstStyle/>
          <a:p>
            <a:pPr algn="ctr" indent="0" marL="0">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9" name="Text 6"/>
          <p:cNvSpPr/>
          <p:nvPr/>
        </p:nvSpPr>
        <p:spPr>
          <a:xfrm>
            <a:off x="3429000" y="2121408"/>
            <a:ext cx="2697480" cy="411480"/>
          </a:xfrm>
          <a:prstGeom prst="rect">
            <a:avLst/>
          </a:prstGeom>
          <a:noFill/>
          <a:ln/>
        </p:spPr>
        <p:txBody>
          <a:bodyPr wrap="square" rtlCol="0" anchor="ctr"/>
          <a:lstStyle/>
          <a:p>
            <a:pPr algn="ctr" indent="0" marL="0">
              <a:buNone/>
            </a:pPr>
            <a:r>
              <a:rPr lang="en-US" sz="1600" b="1" dirty="0">
                <a:solidFill>
                  <a:srgbClr val="22333B"/>
                </a:solidFill>
                <a:latin typeface="Cambria" pitchFamily="34" charset="0"/>
                <a:ea typeface="Cambria" pitchFamily="34" charset="-122"/>
                <a:cs typeface="Cambria" pitchFamily="34" charset="-120"/>
              </a:rPr>
              <a:t>Features</a:t>
            </a:r>
            <a:endParaRPr lang="en-US" sz="1600" dirty="0"/>
          </a:p>
        </p:txBody>
      </p:sp>
      <p:pic>
        <p:nvPicPr>
          <p:cNvPr id="10" name="Image 1" descr="/sessions/sharp-elegant-gauss/mnt/outputs/thesis_clean/figures/deck_icon_features.png">    </p:cNvPr>
          <p:cNvPicPr>
            <a:picLocks noChangeAspect="1"/>
          </p:cNvPicPr>
          <p:nvPr/>
        </p:nvPicPr>
        <p:blipFill>
          <a:blip r:embed="rId2"/>
          <a:stretch>
            <a:fillRect/>
          </a:stretch>
        </p:blipFill>
        <p:spPr>
          <a:xfrm>
            <a:off x="3474720" y="3273552"/>
            <a:ext cx="2606040" cy="768096"/>
          </a:xfrm>
          <a:prstGeom prst="rect">
            <a:avLst/>
          </a:prstGeom>
        </p:spPr>
      </p:pic>
      <p:sp>
        <p:nvSpPr>
          <p:cNvPr id="11" name="Text 7"/>
          <p:cNvSpPr/>
          <p:nvPr/>
        </p:nvSpPr>
        <p:spPr>
          <a:xfrm>
            <a:off x="6181344" y="3337560"/>
            <a:ext cx="502920" cy="640080"/>
          </a:xfrm>
          <a:prstGeom prst="rect">
            <a:avLst/>
          </a:prstGeom>
          <a:noFill/>
          <a:ln/>
        </p:spPr>
        <p:txBody>
          <a:bodyPr wrap="square" rtlCol="0" anchor="ctr"/>
          <a:lstStyle/>
          <a:p>
            <a:pPr algn="ctr" indent="0" marL="0">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2" name="Text 8"/>
          <p:cNvSpPr/>
          <p:nvPr/>
        </p:nvSpPr>
        <p:spPr>
          <a:xfrm>
            <a:off x="6537960" y="2121408"/>
            <a:ext cx="2697480" cy="411480"/>
          </a:xfrm>
          <a:prstGeom prst="rect">
            <a:avLst/>
          </a:prstGeom>
          <a:noFill/>
          <a:ln/>
        </p:spPr>
        <p:txBody>
          <a:bodyPr wrap="square" rtlCol="0" anchor="ctr"/>
          <a:lstStyle/>
          <a:p>
            <a:pPr algn="ctr" indent="0" marL="0">
              <a:buNone/>
            </a:pPr>
            <a:r>
              <a:rPr lang="en-US" sz="1600" b="1" dirty="0">
                <a:solidFill>
                  <a:srgbClr val="22333B"/>
                </a:solidFill>
                <a:latin typeface="Cambria" pitchFamily="34" charset="0"/>
                <a:ea typeface="Cambria" pitchFamily="34" charset="-122"/>
                <a:cs typeface="Cambria" pitchFamily="34" charset="-120"/>
              </a:rPr>
              <a:t>Model</a:t>
            </a:r>
            <a:endParaRPr lang="en-US" sz="1600" dirty="0"/>
          </a:p>
        </p:txBody>
      </p:sp>
      <p:pic>
        <p:nvPicPr>
          <p:cNvPr id="13" name="Image 2" descr="/sessions/sharp-elegant-gauss/mnt/outputs/thesis_clean/figures/deck_icon_model.png">    </p:cNvPr>
          <p:cNvPicPr>
            <a:picLocks noChangeAspect="1"/>
          </p:cNvPicPr>
          <p:nvPr/>
        </p:nvPicPr>
        <p:blipFill>
          <a:blip r:embed="rId3"/>
          <a:stretch>
            <a:fillRect/>
          </a:stretch>
        </p:blipFill>
        <p:spPr>
          <a:xfrm>
            <a:off x="6583680" y="3090672"/>
            <a:ext cx="2606040" cy="1133856"/>
          </a:xfrm>
          <a:prstGeom prst="rect">
            <a:avLst/>
          </a:prstGeom>
        </p:spPr>
      </p:pic>
      <p:sp>
        <p:nvSpPr>
          <p:cNvPr id="14" name="Text 9"/>
          <p:cNvSpPr/>
          <p:nvPr/>
        </p:nvSpPr>
        <p:spPr>
          <a:xfrm>
            <a:off x="9290304" y="3337560"/>
            <a:ext cx="502920" cy="640080"/>
          </a:xfrm>
          <a:prstGeom prst="rect">
            <a:avLst/>
          </a:prstGeom>
          <a:noFill/>
          <a:ln/>
        </p:spPr>
        <p:txBody>
          <a:bodyPr wrap="square" rtlCol="0" anchor="ctr"/>
          <a:lstStyle/>
          <a:p>
            <a:pPr algn="ctr" indent="0" marL="0">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5" name="Text 10"/>
          <p:cNvSpPr/>
          <p:nvPr/>
        </p:nvSpPr>
        <p:spPr>
          <a:xfrm>
            <a:off x="9646920" y="2121408"/>
            <a:ext cx="2148840" cy="411480"/>
          </a:xfrm>
          <a:prstGeom prst="rect">
            <a:avLst/>
          </a:prstGeom>
          <a:noFill/>
          <a:ln/>
        </p:spPr>
        <p:txBody>
          <a:bodyPr wrap="square" rtlCol="0" anchor="ctr"/>
          <a:lstStyle/>
          <a:p>
            <a:pPr algn="ctr" indent="0" marL="0">
              <a:buNone/>
            </a:pPr>
            <a:r>
              <a:rPr lang="en-US" sz="1600" b="1" dirty="0">
                <a:solidFill>
                  <a:srgbClr val="116E64"/>
                </a:solidFill>
                <a:latin typeface="Cambria" pitchFamily="34" charset="0"/>
                <a:ea typeface="Cambria" pitchFamily="34" charset="-122"/>
                <a:cs typeface="Cambria" pitchFamily="34" charset="-120"/>
              </a:rPr>
              <a:t>Predicted pKi</a:t>
            </a:r>
            <a:endParaRPr lang="en-US" sz="1600" dirty="0"/>
          </a:p>
        </p:txBody>
      </p:sp>
      <p:pic>
        <p:nvPicPr>
          <p:cNvPr id="16" name="Image 3" descr="/sessions/sharp-elegant-gauss/mnt/outputs/thesis_clean/figures/deck_icon_pki.png">    </p:cNvPr>
          <p:cNvPicPr>
            <a:picLocks noChangeAspect="1"/>
          </p:cNvPicPr>
          <p:nvPr/>
        </p:nvPicPr>
        <p:blipFill>
          <a:blip r:embed="rId4"/>
          <a:stretch>
            <a:fillRect/>
          </a:stretch>
        </p:blipFill>
        <p:spPr>
          <a:xfrm>
            <a:off x="9784080" y="2875788"/>
            <a:ext cx="1874520" cy="1563624"/>
          </a:xfrm>
          <a:prstGeom prst="rect">
            <a:avLst/>
          </a:prstGeom>
        </p:spPr>
      </p:pic>
      <p:sp>
        <p:nvSpPr>
          <p:cNvPr id="17" name="Text 11"/>
          <p:cNvSpPr/>
          <p:nvPr/>
        </p:nvSpPr>
        <p:spPr>
          <a:xfrm>
            <a:off x="685800" y="5230368"/>
            <a:ext cx="10789920" cy="731520"/>
          </a:xfrm>
          <a:prstGeom prst="rect">
            <a:avLst/>
          </a:prstGeom>
          <a:noFill/>
          <a:ln/>
        </p:spPr>
        <p:txBody>
          <a:bodyPr wrap="square" rtlCol="0" anchor="ctr"/>
          <a:lstStyle/>
          <a:p>
            <a:pPr algn="ctr" indent="0" marL="0">
              <a:buNone/>
            </a:pPr>
            <a:r>
              <a:rPr lang="en-US" sz="1400" i="1" dirty="0">
                <a:solidFill>
                  <a:srgbClr val="60727A"/>
                </a:solidFill>
                <a:latin typeface="Calibri" pitchFamily="34" charset="0"/>
                <a:ea typeface="Calibri" pitchFamily="34" charset="-122"/>
                <a:cs typeface="Calibri" pitchFamily="34" charset="-120"/>
              </a:rPr>
              <a:t>A model is a mathematical function: it takes numbers in and returns a number. So the molecule must first be translated into numbers.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FEATURES 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ECFP4 fingerprints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548640" y="1783080"/>
            <a:ext cx="5577840" cy="4572000"/>
          </a:xfrm>
          <a:prstGeom prst="rect">
            <a:avLst/>
          </a:prstGeom>
          <a:noFill/>
          <a:ln/>
        </p:spPr>
        <p:txBody>
          <a:bodyPr wrap="square" rtlCol="0" anchor="t"/>
          <a:lstStyle/>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Each atom local neighbourhood (out to two bonds) is a small substructure.</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Every substructure is hashed into one of 2,048 slots: a fixed-length on/off barcode.</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Each bit answers: is this fragment present? Similar molecules give similar barcodes.</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Length is always 2,048 bits, whatever the molecule size.</a:t>
            </a:r>
            <a:endParaRPr lang="en-US" sz="1450" dirty="0"/>
          </a:p>
        </p:txBody>
      </p:sp>
      <p:sp>
        <p:nvSpPr>
          <p:cNvPr id="7" name="Shape 5"/>
          <p:cNvSpPr/>
          <p:nvPr/>
        </p:nvSpPr>
        <p:spPr>
          <a:xfrm>
            <a:off x="548640" y="4224528"/>
            <a:ext cx="5577840" cy="1325880"/>
          </a:xfrm>
          <a:prstGeom prst="roundRect">
            <a:avLst>
              <a:gd name="adj" fmla="val 6207"/>
            </a:avLst>
          </a:prstGeom>
          <a:solidFill>
            <a:srgbClr val="E9F1F0"/>
          </a:solidFill>
          <a:ln/>
        </p:spPr>
      </p:sp>
      <p:sp>
        <p:nvSpPr>
          <p:cNvPr id="8" name="Text 6"/>
          <p:cNvSpPr/>
          <p:nvPr/>
        </p:nvSpPr>
        <p:spPr>
          <a:xfrm>
            <a:off x="822960" y="4425696"/>
            <a:ext cx="50292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a fingerprint at all</a:t>
            </a:r>
            <a:endParaRPr lang="en-US" sz="1500" dirty="0"/>
          </a:p>
        </p:txBody>
      </p:sp>
      <p:sp>
        <p:nvSpPr>
          <p:cNvPr id="9" name="Text 7"/>
          <p:cNvSpPr/>
          <p:nvPr/>
        </p:nvSpPr>
        <p:spPr>
          <a:xfrm>
            <a:off x="822960" y="4901184"/>
            <a:ext cx="5029200" cy="42976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It turns any molecule, of any size, into the same fixed-length vector, which is the one thing a model requires.</a:t>
            </a:r>
            <a:endParaRPr lang="en-US" sz="1250" dirty="0"/>
          </a:p>
        </p:txBody>
      </p:sp>
      <p:pic>
        <p:nvPicPr>
          <p:cNvPr id="10" name="Image 0" descr="/sessions/sharp-elegant-gauss/mnt/outputs/thesis_clean/figures/deck_fp_concept.png">    </p:cNvPr>
          <p:cNvPicPr>
            <a:picLocks noChangeAspect="1"/>
          </p:cNvPicPr>
          <p:nvPr/>
        </p:nvPicPr>
        <p:blipFill>
          <a:blip r:embed="rId1"/>
          <a:stretch>
            <a:fillRect/>
          </a:stretch>
        </p:blipFill>
        <p:spPr>
          <a:xfrm>
            <a:off x="6537960" y="1645920"/>
            <a:ext cx="5029200" cy="4297680"/>
          </a:xfrm>
          <a:prstGeom prst="rect">
            <a:avLst/>
          </a:prstGeom>
        </p:spPr>
      </p:pic>
      <p:sp>
        <p:nvSpPr>
          <p:cNvPr id="11" name="Text 8"/>
          <p:cNvSpPr/>
          <p:nvPr/>
        </p:nvSpPr>
        <p:spPr>
          <a:xfrm>
            <a:off x="6400800" y="5989320"/>
            <a:ext cx="5303520" cy="457200"/>
          </a:xfrm>
          <a:prstGeom prst="rect">
            <a:avLst/>
          </a:prstGeom>
          <a:noFill/>
          <a:ln/>
        </p:spPr>
        <p:txBody>
          <a:bodyPr wrap="square" rtlCol="0" anchor="ctr"/>
          <a:lstStyle/>
          <a:p>
            <a:pPr algn="ctr" indent="0" marL="0">
              <a:buNone/>
            </a:pPr>
            <a:r>
              <a:rPr lang="en-US" sz="1050" i="1" dirty="0">
                <a:solidFill>
                  <a:srgbClr val="60727A"/>
                </a:solidFill>
                <a:latin typeface="Calibri" pitchFamily="34" charset="0"/>
                <a:ea typeface="Calibri" pitchFamily="34" charset="-122"/>
                <a:cs typeface="Calibri" pitchFamily="34" charset="-120"/>
              </a:rPr>
              <a:t>Tyrosine: three substructures, three bits switched on. Tyrosine is also the biosynthetic precursor of dopamine.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FEATURES II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Descriptors, and the fused vector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874520"/>
            <a:ext cx="5303520" cy="1737360"/>
          </a:xfrm>
          <a:prstGeom prst="roundRect">
            <a:avLst>
              <a:gd name="adj" fmla="val 4737"/>
            </a:avLst>
          </a:prstGeom>
          <a:solidFill>
            <a:srgbClr val="E9F1F0"/>
          </a:solidFill>
          <a:ln/>
        </p:spPr>
      </p:sp>
      <p:sp>
        <p:nvSpPr>
          <p:cNvPr id="7" name="Text 5"/>
          <p:cNvSpPr/>
          <p:nvPr/>
        </p:nvSpPr>
        <p:spPr>
          <a:xfrm>
            <a:off x="822960" y="2075688"/>
            <a:ext cx="475488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The 15 become ~200</a:t>
            </a:r>
            <a:endParaRPr lang="en-US" sz="1500" dirty="0"/>
          </a:p>
        </p:txBody>
      </p:sp>
      <p:sp>
        <p:nvSpPr>
          <p:cNvPr id="8" name="Text 6"/>
          <p:cNvSpPr/>
          <p:nvPr/>
        </p:nvSpPr>
        <p:spPr>
          <a:xfrm>
            <a:off x="822960" y="2551176"/>
            <a:ext cx="4754880" cy="841248"/>
          </a:xfrm>
          <a:prstGeom prst="rect">
            <a:avLst/>
          </a:prstGeom>
          <a:noFill/>
          <a:ln/>
        </p:spPr>
        <p:txBody>
          <a:bodyPr wrap="square" rtlCol="0" anchor="t"/>
          <a:lstStyle/>
          <a:p>
            <a:pPr indent="0" marL="0">
              <a:lnSpc>
                <a:spcPct val="112000"/>
              </a:lnSpc>
              <a:buNone/>
            </a:pPr>
            <a:r>
              <a:rPr lang="en-US" sz="1300" dirty="0">
                <a:solidFill>
                  <a:srgbClr val="22333B"/>
                </a:solidFill>
                <a:latin typeface="Calibri" pitchFamily="34" charset="0"/>
                <a:ea typeface="Calibri" pitchFamily="34" charset="-122"/>
                <a:cs typeface="Calibri" pitchFamily="34" charset="-120"/>
              </a:rPr>
              <a:t>The same idea as the Part One panel, scaled up: weight, lipophilicity, polar surface area, charge and much else, from DescriptaStorus (RDKit2D, normalised). Part One used 15 interpretable descriptors; the model gets the full panel.</a:t>
            </a:r>
            <a:endParaRPr lang="en-US" sz="1300" dirty="0"/>
          </a:p>
        </p:txBody>
      </p:sp>
      <p:sp>
        <p:nvSpPr>
          <p:cNvPr id="9" name="Shape 7"/>
          <p:cNvSpPr/>
          <p:nvPr/>
        </p:nvSpPr>
        <p:spPr>
          <a:xfrm>
            <a:off x="6126480" y="1874520"/>
            <a:ext cx="5394960" cy="1531620"/>
          </a:xfrm>
          <a:prstGeom prst="roundRect">
            <a:avLst>
              <a:gd name="adj" fmla="val 5373"/>
            </a:avLst>
          </a:prstGeom>
          <a:solidFill>
            <a:srgbClr val="F5ECE6"/>
          </a:solidFill>
          <a:ln/>
        </p:spPr>
      </p:sp>
      <p:sp>
        <p:nvSpPr>
          <p:cNvPr id="10" name="Text 8"/>
          <p:cNvSpPr/>
          <p:nvPr/>
        </p:nvSpPr>
        <p:spPr>
          <a:xfrm>
            <a:off x="6400800" y="2075688"/>
            <a:ext cx="484632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Fused representation</a:t>
            </a:r>
            <a:endParaRPr lang="en-US" sz="1500" dirty="0"/>
          </a:p>
        </p:txBody>
      </p:sp>
      <p:sp>
        <p:nvSpPr>
          <p:cNvPr id="11" name="Text 9"/>
          <p:cNvSpPr/>
          <p:nvPr/>
        </p:nvSpPr>
        <p:spPr>
          <a:xfrm>
            <a:off x="6400800" y="2551176"/>
            <a:ext cx="4846320" cy="635508"/>
          </a:xfrm>
          <a:prstGeom prst="rect">
            <a:avLst/>
          </a:prstGeom>
          <a:noFill/>
          <a:ln/>
        </p:spPr>
        <p:txBody>
          <a:bodyPr wrap="square" rtlCol="0" anchor="t"/>
          <a:lstStyle/>
          <a:p>
            <a:pPr indent="0" marL="0">
              <a:lnSpc>
                <a:spcPct val="112000"/>
              </a:lnSpc>
              <a:buNone/>
            </a:pPr>
            <a:r>
              <a:rPr lang="en-US" sz="1300" dirty="0">
                <a:solidFill>
                  <a:srgbClr val="22333B"/>
                </a:solidFill>
                <a:latin typeface="Calibri" pitchFamily="34" charset="0"/>
                <a:ea typeface="Calibri" pitchFamily="34" charset="-122"/>
                <a:cs typeface="Calibri" pitchFamily="34" charset="-120"/>
              </a:rPr>
              <a:t>The 2048-bit fingerprint and ~200 descriptors are concatenated into a single 2,248-dimensional vector: the only view of each molecule the model ever sees.</a:t>
            </a:r>
            <a:endParaRPr lang="en-US" sz="1300" dirty="0"/>
          </a:p>
        </p:txBody>
      </p:sp>
      <p:sp>
        <p:nvSpPr>
          <p:cNvPr id="12" name="Text 10"/>
          <p:cNvSpPr/>
          <p:nvPr/>
        </p:nvSpPr>
        <p:spPr>
          <a:xfrm>
            <a:off x="548640" y="4069080"/>
            <a:ext cx="10972800" cy="640080"/>
          </a:xfrm>
          <a:prstGeom prst="rect">
            <a:avLst/>
          </a:prstGeom>
          <a:noFill/>
          <a:ln/>
        </p:spPr>
        <p:txBody>
          <a:bodyPr wrap="square" rtlCol="0" anchor="ctr"/>
          <a:lstStyle/>
          <a:p>
            <a:pPr algn="ctr" indent="0" marL="0">
              <a:buNone/>
            </a:pPr>
            <a:r>
              <a:rPr lang="en-US" sz="2600" b="1" dirty="0">
                <a:solidFill>
                  <a:srgbClr val="116E64"/>
                </a:solidFill>
                <a:latin typeface="Cambria" pitchFamily="34" charset="0"/>
                <a:ea typeface="Cambria" pitchFamily="34" charset="-122"/>
                <a:cs typeface="Cambria" pitchFamily="34" charset="-120"/>
              </a:rPr>
              <a:t>2048  +  200  =  2,248</a:t>
            </a:r>
            <a:endParaRPr lang="en-US" sz="2600" dirty="0"/>
          </a:p>
        </p:txBody>
      </p:sp>
      <p:sp>
        <p:nvSpPr>
          <p:cNvPr id="13" name="Text 11"/>
          <p:cNvSpPr/>
          <p:nvPr/>
        </p:nvSpPr>
        <p:spPr>
          <a:xfrm>
            <a:off x="822960" y="4892040"/>
            <a:ext cx="10515600" cy="548640"/>
          </a:xfrm>
          <a:prstGeom prst="rect">
            <a:avLst/>
          </a:prstGeom>
          <a:noFill/>
          <a:ln/>
        </p:spPr>
        <p:txBody>
          <a:bodyPr wrap="square" rtlCol="0" anchor="ctr"/>
          <a:lstStyle/>
          <a:p>
            <a:pPr algn="ctr" indent="0" marL="0">
              <a:buNone/>
            </a:pPr>
            <a:r>
              <a:rPr lang="en-US" sz="1350" i="1" dirty="0">
                <a:solidFill>
                  <a:srgbClr val="60727A"/>
                </a:solidFill>
                <a:latin typeface="Calibri" pitchFamily="34" charset="0"/>
                <a:ea typeface="Calibri" pitchFamily="34" charset="-122"/>
                <a:cs typeface="Calibri" pitchFamily="34" charset="-120"/>
              </a:rPr>
              <a:t>Fusion was measured, not assumed: fused beat either representation alone on 5-HT₂A (0.562 vs 0.544 fingerprint, 0.521 descriptors) and tied on D₃.</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THE MODELS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Three tree ensembles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72768"/>
            <a:ext cx="3520440" cy="1874520"/>
          </a:xfrm>
          <a:prstGeom prst="roundRect">
            <a:avLst>
              <a:gd name="adj" fmla="val 4390"/>
            </a:avLst>
          </a:prstGeom>
          <a:solidFill>
            <a:srgbClr val="E9F1F0"/>
          </a:solidFill>
          <a:ln/>
        </p:spPr>
      </p:sp>
      <p:sp>
        <p:nvSpPr>
          <p:cNvPr id="7" name="Text 5"/>
          <p:cNvSpPr/>
          <p:nvPr/>
        </p:nvSpPr>
        <p:spPr>
          <a:xfrm>
            <a:off x="822960" y="177393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Random Forest</a:t>
            </a:r>
            <a:endParaRPr lang="en-US" sz="1500" dirty="0"/>
          </a:p>
        </p:txBody>
      </p:sp>
      <p:sp>
        <p:nvSpPr>
          <p:cNvPr id="8" name="Text 6"/>
          <p:cNvSpPr/>
          <p:nvPr/>
        </p:nvSpPr>
        <p:spPr>
          <a:xfrm>
            <a:off x="822960" y="2249424"/>
            <a:ext cx="2971800" cy="97840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Hundreds of decision trees trained on random data and feature subsets, then averaged, so diverse errors cancel out.</a:t>
            </a:r>
            <a:endParaRPr lang="en-US" sz="1250" dirty="0"/>
          </a:p>
        </p:txBody>
      </p:sp>
      <p:sp>
        <p:nvSpPr>
          <p:cNvPr id="9" name="Shape 7"/>
          <p:cNvSpPr/>
          <p:nvPr/>
        </p:nvSpPr>
        <p:spPr>
          <a:xfrm>
            <a:off x="4251960" y="1572768"/>
            <a:ext cx="3520440" cy="1874520"/>
          </a:xfrm>
          <a:prstGeom prst="roundRect">
            <a:avLst>
              <a:gd name="adj" fmla="val 4390"/>
            </a:avLst>
          </a:prstGeom>
          <a:solidFill>
            <a:srgbClr val="F5ECE6"/>
          </a:solidFill>
          <a:ln/>
        </p:spPr>
      </p:sp>
      <p:sp>
        <p:nvSpPr>
          <p:cNvPr id="10" name="Text 8"/>
          <p:cNvSpPr/>
          <p:nvPr/>
        </p:nvSpPr>
        <p:spPr>
          <a:xfrm>
            <a:off x="4526280" y="177393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XGBoost</a:t>
            </a:r>
            <a:endParaRPr lang="en-US" sz="1500" dirty="0"/>
          </a:p>
        </p:txBody>
      </p:sp>
      <p:sp>
        <p:nvSpPr>
          <p:cNvPr id="11" name="Text 9"/>
          <p:cNvSpPr/>
          <p:nvPr/>
        </p:nvSpPr>
        <p:spPr>
          <a:xfrm>
            <a:off x="4526280" y="2249424"/>
            <a:ext cx="2971800" cy="97840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Gradient boosting: trees added in sequence, each correcting the errors of the last.</a:t>
            </a:r>
            <a:endParaRPr lang="en-US" sz="1250" dirty="0"/>
          </a:p>
        </p:txBody>
      </p:sp>
      <p:sp>
        <p:nvSpPr>
          <p:cNvPr id="12" name="Shape 10"/>
          <p:cNvSpPr/>
          <p:nvPr/>
        </p:nvSpPr>
        <p:spPr>
          <a:xfrm>
            <a:off x="7955280" y="1572768"/>
            <a:ext cx="3520440" cy="1874520"/>
          </a:xfrm>
          <a:prstGeom prst="roundRect">
            <a:avLst>
              <a:gd name="adj" fmla="val 4390"/>
            </a:avLst>
          </a:prstGeom>
          <a:solidFill>
            <a:srgbClr val="E9F1F0"/>
          </a:solidFill>
          <a:ln/>
        </p:spPr>
      </p:sp>
      <p:sp>
        <p:nvSpPr>
          <p:cNvPr id="13" name="Text 11"/>
          <p:cNvSpPr/>
          <p:nvPr/>
        </p:nvSpPr>
        <p:spPr>
          <a:xfrm>
            <a:off x="8229600" y="177393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CatBoost</a:t>
            </a:r>
            <a:endParaRPr lang="en-US" sz="1500" dirty="0"/>
          </a:p>
        </p:txBody>
      </p:sp>
      <p:sp>
        <p:nvSpPr>
          <p:cNvPr id="14" name="Text 12"/>
          <p:cNvSpPr/>
          <p:nvPr/>
        </p:nvSpPr>
        <p:spPr>
          <a:xfrm>
            <a:off x="8229600" y="2249424"/>
            <a:ext cx="2971800" cy="97840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A third gradient-boosting method, added to check the result is not specific to one learner.</a:t>
            </a:r>
            <a:endParaRPr lang="en-US" sz="1250" dirty="0"/>
          </a:p>
        </p:txBody>
      </p:sp>
      <p:pic>
        <p:nvPicPr>
          <p:cNvPr id="15" name="Image 0" descr="/sessions/sharp-elegant-gauss/mnt/outputs/thesis_clean/figures/deck_ensembles.png">    </p:cNvPr>
          <p:cNvPicPr>
            <a:picLocks noChangeAspect="1"/>
          </p:cNvPicPr>
          <p:nvPr/>
        </p:nvPicPr>
        <p:blipFill>
          <a:blip r:embed="rId1"/>
          <a:stretch>
            <a:fillRect/>
          </a:stretch>
        </p:blipFill>
        <p:spPr>
          <a:xfrm>
            <a:off x="1298448" y="3611880"/>
            <a:ext cx="9601200" cy="27340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The honest test: a scaffold split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960120" y="1517904"/>
            <a:ext cx="365760" cy="365760"/>
          </a:xfrm>
          <a:prstGeom prst="rect">
            <a:avLst/>
          </a:prstGeom>
          <a:noFill/>
          <a:ln/>
        </p:spPr>
        <p:txBody>
          <a:bodyPr wrap="square" rtlCol="0" anchor="ctr"/>
          <a:lstStyle/>
          <a:p>
            <a:pPr indent="0" marL="0">
              <a:buNone/>
            </a:pPr>
            <a:r>
              <a:rPr lang="en-US" sz="1900" b="1" dirty="0">
                <a:solidFill>
                  <a:srgbClr val="BE5638"/>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353312" y="1517904"/>
            <a:ext cx="4206240" cy="365760"/>
          </a:xfrm>
          <a:prstGeom prst="rect">
            <a:avLst/>
          </a:prstGeom>
          <a:noFill/>
          <a:ln/>
        </p:spPr>
        <p:txBody>
          <a:bodyPr wrap="square" rtlCol="0" anchor="ctr"/>
          <a:lstStyle/>
          <a:p>
            <a:pPr indent="0" marL="0">
              <a:buNone/>
            </a:pPr>
            <a:r>
              <a:rPr lang="en-US" sz="1700" b="1" dirty="0">
                <a:solidFill>
                  <a:srgbClr val="22333B"/>
                </a:solidFill>
                <a:latin typeface="Cambria" pitchFamily="34" charset="0"/>
                <a:ea typeface="Cambria" pitchFamily="34" charset="-122"/>
                <a:cs typeface="Cambria" pitchFamily="34" charset="-120"/>
              </a:rPr>
              <a:t>The trap: a random split</a:t>
            </a:r>
            <a:endParaRPr lang="en-US" sz="1700" dirty="0"/>
          </a:p>
        </p:txBody>
      </p:sp>
      <p:pic>
        <p:nvPicPr>
          <p:cNvPr id="8" name="Image 0" descr="/sessions/sharp-elegant-gauss/mnt/outputs/thesis_clean/figures/deck_split_random.png">    </p:cNvPr>
          <p:cNvPicPr>
            <a:picLocks noChangeAspect="1"/>
          </p:cNvPicPr>
          <p:nvPr/>
        </p:nvPicPr>
        <p:blipFill>
          <a:blip r:embed="rId1"/>
          <a:stretch>
            <a:fillRect/>
          </a:stretch>
        </p:blipFill>
        <p:spPr>
          <a:xfrm>
            <a:off x="1234440" y="1920240"/>
            <a:ext cx="3657600" cy="3611880"/>
          </a:xfrm>
          <a:prstGeom prst="rect">
            <a:avLst/>
          </a:prstGeom>
        </p:spPr>
      </p:pic>
      <p:sp>
        <p:nvSpPr>
          <p:cNvPr id="9" name="Text 6"/>
          <p:cNvSpPr/>
          <p:nvPr/>
        </p:nvSpPr>
        <p:spPr>
          <a:xfrm>
            <a:off x="960120" y="5577840"/>
            <a:ext cx="4206240" cy="384048"/>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Near-identical analogs land on both sides, so the model "predicts" what it has already seen.</a:t>
            </a:r>
            <a:endParaRPr lang="en-US" sz="1150" dirty="0"/>
          </a:p>
        </p:txBody>
      </p:sp>
      <p:sp>
        <p:nvSpPr>
          <p:cNvPr id="10" name="Text 7"/>
          <p:cNvSpPr/>
          <p:nvPr/>
        </p:nvSpPr>
        <p:spPr>
          <a:xfrm>
            <a:off x="7022592" y="1517904"/>
            <a:ext cx="365760" cy="365760"/>
          </a:xfrm>
          <a:prstGeom prst="rect">
            <a:avLst/>
          </a:prstGeom>
          <a:noFill/>
          <a:ln/>
        </p:spPr>
        <p:txBody>
          <a:bodyPr wrap="square" rtlCol="0" anchor="ctr"/>
          <a:lstStyle/>
          <a:p>
            <a:pPr indent="0" marL="0">
              <a:buNone/>
            </a:pPr>
            <a:r>
              <a:rPr lang="en-US" sz="1900" b="1" dirty="0">
                <a:solidFill>
                  <a:srgbClr val="116E64"/>
                </a:solidFill>
                <a:latin typeface="Cambria" pitchFamily="34" charset="0"/>
                <a:ea typeface="Cambria" pitchFamily="34" charset="-122"/>
                <a:cs typeface="Cambria" pitchFamily="34" charset="-120"/>
              </a:rPr>
              <a:t>2</a:t>
            </a:r>
            <a:endParaRPr lang="en-US" sz="1900" dirty="0"/>
          </a:p>
        </p:txBody>
      </p:sp>
      <p:sp>
        <p:nvSpPr>
          <p:cNvPr id="11" name="Text 8"/>
          <p:cNvSpPr/>
          <p:nvPr/>
        </p:nvSpPr>
        <p:spPr>
          <a:xfrm>
            <a:off x="7415784" y="1517904"/>
            <a:ext cx="4206240" cy="365760"/>
          </a:xfrm>
          <a:prstGeom prst="rect">
            <a:avLst/>
          </a:prstGeom>
          <a:noFill/>
          <a:ln/>
        </p:spPr>
        <p:txBody>
          <a:bodyPr wrap="square" rtlCol="0" anchor="ctr"/>
          <a:lstStyle/>
          <a:p>
            <a:pPr indent="0" marL="0">
              <a:buNone/>
            </a:pPr>
            <a:r>
              <a:rPr lang="en-US" sz="1700" b="1" dirty="0">
                <a:solidFill>
                  <a:srgbClr val="22333B"/>
                </a:solidFill>
                <a:latin typeface="Cambria" pitchFamily="34" charset="0"/>
                <a:ea typeface="Cambria" pitchFamily="34" charset="-122"/>
                <a:cs typeface="Cambria" pitchFamily="34" charset="-120"/>
              </a:rPr>
              <a:t>The fix: a scaffold split</a:t>
            </a:r>
            <a:endParaRPr lang="en-US" sz="1700" dirty="0"/>
          </a:p>
        </p:txBody>
      </p:sp>
      <p:pic>
        <p:nvPicPr>
          <p:cNvPr id="12" name="Image 1" descr="/sessions/sharp-elegant-gauss/mnt/outputs/thesis_clean/figures/deck_split_scaffold.png">    </p:cNvPr>
          <p:cNvPicPr>
            <a:picLocks noChangeAspect="1"/>
          </p:cNvPicPr>
          <p:nvPr/>
        </p:nvPicPr>
        <p:blipFill>
          <a:blip r:embed="rId2"/>
          <a:stretch>
            <a:fillRect/>
          </a:stretch>
        </p:blipFill>
        <p:spPr>
          <a:xfrm>
            <a:off x="7296912" y="1920240"/>
            <a:ext cx="3657600" cy="3611880"/>
          </a:xfrm>
          <a:prstGeom prst="rect">
            <a:avLst/>
          </a:prstGeom>
        </p:spPr>
      </p:pic>
      <p:sp>
        <p:nvSpPr>
          <p:cNvPr id="13" name="Text 9"/>
          <p:cNvSpPr/>
          <p:nvPr/>
        </p:nvSpPr>
        <p:spPr>
          <a:xfrm>
            <a:off x="7022592" y="5577840"/>
            <a:ext cx="4206240" cy="384048"/>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Whole scaffold families are held out, so every test compound is structurally novel.</a:t>
            </a:r>
            <a:endParaRPr lang="en-US" sz="1150" dirty="0"/>
          </a:p>
        </p:txBody>
      </p:sp>
      <p:sp>
        <p:nvSpPr>
          <p:cNvPr id="14" name="Shape 10"/>
          <p:cNvSpPr/>
          <p:nvPr/>
        </p:nvSpPr>
        <p:spPr>
          <a:xfrm>
            <a:off x="548640" y="5998464"/>
            <a:ext cx="11091672" cy="402336"/>
          </a:xfrm>
          <a:prstGeom prst="roundRect">
            <a:avLst>
              <a:gd name="adj" fmla="val 20455"/>
            </a:avLst>
          </a:prstGeom>
          <a:solidFill>
            <a:srgbClr val="E9F1F0"/>
          </a:solidFill>
          <a:ln/>
        </p:spPr>
      </p:sp>
      <p:sp>
        <p:nvSpPr>
          <p:cNvPr id="15" name="Text 11"/>
          <p:cNvSpPr/>
          <p:nvPr/>
        </p:nvSpPr>
        <p:spPr>
          <a:xfrm>
            <a:off x="548640" y="5998464"/>
            <a:ext cx="11091672" cy="402336"/>
          </a:xfrm>
          <a:prstGeom prst="rect">
            <a:avLst/>
          </a:prstGeom>
          <a:noFill/>
          <a:ln/>
        </p:spPr>
        <p:txBody>
          <a:bodyPr wrap="square" rtlCol="0" anchor="ctr"/>
          <a:lstStyle/>
          <a:p>
            <a:pPr algn="ctr" indent="0" marL="0">
              <a:buNone/>
            </a:pPr>
            <a:r>
              <a:rPr lang="en-US" sz="1200" dirty="0">
                <a:solidFill>
                  <a:srgbClr val="22333B"/>
                </a:solidFill>
                <a:latin typeface="Calibri" pitchFamily="34" charset="0"/>
                <a:ea typeface="Calibri" pitchFamily="34" charset="-122"/>
                <a:cs typeface="Calibri" pitchFamily="34" charset="-120"/>
              </a:rPr>
              <a:t>Grouped by exact Murcko scaffold, not by similarity clustering. Whole groups are shuffled onto one side, repeated over 12 partitions: no scaffold appears on both.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Regression performance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15</a:t>
            </a:r>
            <a:endParaRPr lang="en-US" sz="900" dirty="0"/>
          </a:p>
        </p:txBody>
      </p:sp>
      <p:graphicFrame>
        <p:nvGraphicFramePr>
          <p:cNvPr id="6" name="Chart 0" descr=""/>
          <p:cNvGraphicFramePr/>
          <p:nvPr/>
        </p:nvGraphicFramePr>
        <p:xfrm>
          <a:off x="457200" y="1691640"/>
          <a:ext cx="6675120" cy="4297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680960" y="1645920"/>
            <a:ext cx="384048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R²  0.56 / 0.64</a:t>
            </a:r>
            <a:endParaRPr lang="en-US" sz="4000" dirty="0"/>
          </a:p>
        </p:txBody>
      </p:sp>
      <p:sp>
        <p:nvSpPr>
          <p:cNvPr id="8" name="Text 5"/>
          <p:cNvSpPr/>
          <p:nvPr/>
        </p:nvSpPr>
        <p:spPr>
          <a:xfrm>
            <a:off x="7680960" y="2542032"/>
            <a:ext cx="384048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5-HT₂A 0.56  ·  D₃ 0.64.  The share of the spread in affinity the model explains. 1 = perfect, 0 = guessing the average.</a:t>
            </a:r>
            <a:endParaRPr lang="en-US" sz="1300" dirty="0"/>
          </a:p>
        </p:txBody>
      </p:sp>
      <p:sp>
        <p:nvSpPr>
          <p:cNvPr id="9" name="Text 6"/>
          <p:cNvSpPr/>
          <p:nvPr/>
        </p:nvSpPr>
        <p:spPr>
          <a:xfrm>
            <a:off x="7680960" y="3703320"/>
            <a:ext cx="384048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RMSE  0.81 / 0.76</a:t>
            </a:r>
            <a:endParaRPr lang="en-US" sz="4000" dirty="0"/>
          </a:p>
        </p:txBody>
      </p:sp>
      <p:sp>
        <p:nvSpPr>
          <p:cNvPr id="10" name="Text 7"/>
          <p:cNvSpPr/>
          <p:nvPr/>
        </p:nvSpPr>
        <p:spPr>
          <a:xfrm>
            <a:off x="7680960" y="4599432"/>
            <a:ext cx="384048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5-HT₂A 0.81  ·  D₃ 0.76 pKᵢ units — the typical miss. About 1.6× and 1.5× the 0.5-unit lab-to-lab noise floor.</a:t>
            </a:r>
            <a:endParaRPr lang="en-US" sz="1300" dirty="0"/>
          </a:p>
        </p:txBody>
      </p:sp>
      <p:sp>
        <p:nvSpPr>
          <p:cNvPr id="11" name="Text 8"/>
          <p:cNvSpPr/>
          <p:nvPr/>
        </p:nvSpPr>
        <p:spPr>
          <a:xfrm>
            <a:off x="7680960" y="5623560"/>
            <a:ext cx="3931920" cy="777240"/>
          </a:xfrm>
          <a:prstGeom prst="rect">
            <a:avLst/>
          </a:prstGeom>
          <a:noFill/>
          <a:ln/>
        </p:spPr>
        <p:txBody>
          <a:bodyPr wrap="square" rtlCol="0" anchor="ctr"/>
          <a:lstStyle/>
          <a:p>
            <a:pPr indent="0" marL="0">
              <a:buNone/>
            </a:pPr>
            <a:r>
              <a:rPr lang="en-US" sz="1250" i="1" dirty="0">
                <a:solidFill>
                  <a:srgbClr val="60727A"/>
                </a:solidFill>
                <a:latin typeface="Calibri" pitchFamily="34" charset="0"/>
                <a:ea typeface="Calibri" pitchFamily="34" charset="-122"/>
                <a:cs typeface="Calibri" pitchFamily="34" charset="-120"/>
              </a:rPr>
              <a:t>Random Forest (5-HT₂A 0.53, D₃ 0.63) and CatBoost (0.56, 0.64) land in the same place: performance is set by the data and representation, not the learner.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Predicted versus experimental</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16</a:t>
            </a:r>
            <a:endParaRPr lang="en-US" sz="900" dirty="0"/>
          </a:p>
        </p:txBody>
      </p:sp>
      <p:pic>
        <p:nvPicPr>
          <p:cNvPr id="6" name="Image 0" descr="/sessions/sharp-elegant-gauss/mnt/outputs/thesis_clean/figures/deck_parity_slope.png">    </p:cNvPr>
          <p:cNvPicPr>
            <a:picLocks noChangeAspect="1"/>
          </p:cNvPicPr>
          <p:nvPr/>
        </p:nvPicPr>
        <p:blipFill>
          <a:blip r:embed="rId1"/>
          <a:stretch>
            <a:fillRect/>
          </a:stretch>
        </p:blipFill>
        <p:spPr>
          <a:xfrm>
            <a:off x="2084832" y="1481328"/>
            <a:ext cx="8001000" cy="4206240"/>
          </a:xfrm>
          <a:prstGeom prst="rect">
            <a:avLst/>
          </a:prstGeom>
        </p:spPr>
      </p:pic>
      <p:sp>
        <p:nvSpPr>
          <p:cNvPr id="7" name="Text 4"/>
          <p:cNvSpPr/>
          <p:nvPr/>
        </p:nvSpPr>
        <p:spPr>
          <a:xfrm>
            <a:off x="548640" y="5760720"/>
            <a:ext cx="11091672" cy="310896"/>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Held-out predictions, scaffold split, both targets on identical axes.</a:t>
            </a:r>
            <a:endParaRPr lang="en-US" sz="1150" dirty="0"/>
          </a:p>
        </p:txBody>
      </p:sp>
      <p:sp>
        <p:nvSpPr>
          <p:cNvPr id="8" name="Shape 5"/>
          <p:cNvSpPr/>
          <p:nvPr/>
        </p:nvSpPr>
        <p:spPr>
          <a:xfrm>
            <a:off x="548640" y="6053328"/>
            <a:ext cx="11091672" cy="402336"/>
          </a:xfrm>
          <a:prstGeom prst="roundRect">
            <a:avLst>
              <a:gd name="adj" fmla="val 20455"/>
            </a:avLst>
          </a:prstGeom>
          <a:solidFill>
            <a:srgbClr val="F5ECE6"/>
          </a:solidFill>
          <a:ln/>
        </p:spPr>
      </p:sp>
      <p:sp>
        <p:nvSpPr>
          <p:cNvPr id="9" name="Text 6"/>
          <p:cNvSpPr/>
          <p:nvPr/>
        </p:nvSpPr>
        <p:spPr>
          <a:xfrm>
            <a:off x="868680" y="6053328"/>
            <a:ext cx="10451592" cy="402336"/>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The fitted line has slope 0.58 and 0.61, not 1.  </a:t>
            </a:r>
            <a:pPr indent="0" marL="0">
              <a:buNone/>
            </a:pPr>
            <a:r>
              <a:rPr lang="en-US" sz="1150" dirty="0">
                <a:solidFill>
                  <a:srgbClr val="22333B"/>
                </a:solidFill>
                <a:latin typeface="Calibri" pitchFamily="34" charset="0"/>
                <a:ea typeface="Calibri" pitchFamily="34" charset="-122"/>
                <a:cs typeface="Calibri" pitchFamily="34" charset="-120"/>
              </a:rPr>
              <a:t>Weak binders are over-predicted by about a log unit, strong binders under-predicted by the same. Ranking is reliable; absolute values are conservative at the potent end.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The predicted spread is narrower than the data</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17</a:t>
            </a:r>
            <a:endParaRPr lang="en-US" sz="900" dirty="0"/>
          </a:p>
        </p:txBody>
      </p:sp>
      <p:pic>
        <p:nvPicPr>
          <p:cNvPr id="6" name="Image 0" descr="/sessions/sharp-elegant-gauss/mnt/outputs/thesis_clean/figures/deck_dist_pair.png">    </p:cNvPr>
          <p:cNvPicPr>
            <a:picLocks noChangeAspect="1"/>
          </p:cNvPicPr>
          <p:nvPr/>
        </p:nvPicPr>
        <p:blipFill>
          <a:blip r:embed="rId1"/>
          <a:stretch>
            <a:fillRect/>
          </a:stretch>
        </p:blipFill>
        <p:spPr>
          <a:xfrm>
            <a:off x="868680" y="1700784"/>
            <a:ext cx="10424160" cy="3858768"/>
          </a:xfrm>
          <a:prstGeom prst="rect">
            <a:avLst/>
          </a:prstGeom>
        </p:spPr>
      </p:pic>
      <p:sp>
        <p:nvSpPr>
          <p:cNvPr id="7" name="Text 4"/>
          <p:cNvSpPr/>
          <p:nvPr/>
        </p:nvSpPr>
        <p:spPr>
          <a:xfrm>
            <a:off x="548640" y="5650992"/>
            <a:ext cx="11091672" cy="310896"/>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Held-out compounds, scaffold split, identical bins and axes on both panels.</a:t>
            </a:r>
            <a:endParaRPr lang="en-US" sz="1150" dirty="0"/>
          </a:p>
        </p:txBody>
      </p:sp>
      <p:sp>
        <p:nvSpPr>
          <p:cNvPr id="8" name="Shape 5"/>
          <p:cNvSpPr/>
          <p:nvPr/>
        </p:nvSpPr>
        <p:spPr>
          <a:xfrm>
            <a:off x="548640" y="5961888"/>
            <a:ext cx="11091672" cy="457200"/>
          </a:xfrm>
          <a:prstGeom prst="roundRect">
            <a:avLst>
              <a:gd name="adj" fmla="val 18000"/>
            </a:avLst>
          </a:prstGeom>
          <a:solidFill>
            <a:srgbClr val="F5ECE6"/>
          </a:solidFill>
          <a:ln/>
        </p:spPr>
      </p:sp>
      <p:sp>
        <p:nvSpPr>
          <p:cNvPr id="9" name="Text 6"/>
          <p:cNvSpPr/>
          <p:nvPr/>
        </p:nvSpPr>
        <p:spPr>
          <a:xfrm>
            <a:off x="868680" y="5961888"/>
            <a:ext cx="10451592" cy="457200"/>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SD 1.24 and 1.28 measured, 0.92 and 0.98 predicted.  </a:t>
            </a:r>
            <a:pPr indent="0" marL="0">
              <a:buNone/>
            </a:pPr>
            <a:r>
              <a:rPr lang="en-US" sz="1150" dirty="0">
                <a:solidFill>
                  <a:srgbClr val="22333B"/>
                </a:solidFill>
                <a:latin typeface="Calibri" pitchFamily="34" charset="0"/>
                <a:ea typeface="Calibri" pitchFamily="34" charset="-122"/>
                <a:cs typeface="Calibri" pitchFamily="34" charset="-120"/>
              </a:rPr>
              <a:t>About three quarters of the real spread is retained. For screening this matters in one direction: the ranking is reliable, but the top of the list is less extreme than reality, so absolute predictions are conservative at the potent end.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THE GAIN IS REAL</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Learning curve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18</a:t>
            </a:r>
            <a:endParaRPr lang="en-US" sz="900" dirty="0"/>
          </a:p>
        </p:txBody>
      </p:sp>
      <p:pic>
        <p:nvPicPr>
          <p:cNvPr id="6" name="Image 0" descr="/sessions/sharp-elegant-gauss/mnt/outputs/thesis_clean/figures/deck_learning_curve.png">    </p:cNvPr>
          <p:cNvPicPr>
            <a:picLocks noChangeAspect="1"/>
          </p:cNvPicPr>
          <p:nvPr/>
        </p:nvPicPr>
        <p:blipFill>
          <a:blip r:embed="rId1"/>
          <a:stretch>
            <a:fillRect/>
          </a:stretch>
        </p:blipFill>
        <p:spPr>
          <a:xfrm>
            <a:off x="790956" y="1645920"/>
            <a:ext cx="10607040" cy="3977640"/>
          </a:xfrm>
          <a:prstGeom prst="rect">
            <a:avLst/>
          </a:prstGeom>
        </p:spPr>
      </p:pic>
      <p:sp>
        <p:nvSpPr>
          <p:cNvPr id="7" name="Text 4"/>
          <p:cNvSpPr/>
          <p:nvPr/>
        </p:nvSpPr>
        <p:spPr>
          <a:xfrm>
            <a:off x="822960" y="5751576"/>
            <a:ext cx="10515600" cy="548640"/>
          </a:xfrm>
          <a:prstGeom prst="rect">
            <a:avLst/>
          </a:prstGeom>
          <a:noFill/>
          <a:ln/>
        </p:spPr>
        <p:txBody>
          <a:bodyPr wrap="square" rtlCol="0" anchor="ctr"/>
          <a:lstStyle/>
          <a:p>
            <a:pPr algn="ctr" indent="0" marL="0">
              <a:buNone/>
            </a:pPr>
            <a:r>
              <a:rPr lang="en-US" sz="1250" i="1" dirty="0">
                <a:solidFill>
                  <a:srgbClr val="60727A"/>
                </a:solidFill>
                <a:latin typeface="Calibri" pitchFamily="34" charset="0"/>
                <a:ea typeface="Calibri" pitchFamily="34" charset="-122"/>
                <a:cs typeface="Calibri" pitchFamily="34" charset="-120"/>
              </a:rPr>
              <a:t>Both panels on identical scales. R² climbs steeply, then flattens against the single-target ceiling; the gain is data-driven.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REPRESENTATION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Was fusing the two worth 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48640" y="1719072"/>
            <a:ext cx="11091672" cy="548640"/>
          </a:xfrm>
          <a:prstGeom prst="rect">
            <a:avLst/>
          </a:prstGeom>
          <a:noFill/>
          <a:ln/>
        </p:spPr>
        <p:txBody>
          <a:bodyPr wrap="square" rtlCol="0" anchor="ctr"/>
          <a:lstStyle/>
          <a:p>
            <a:pPr indent="0" marL="0">
              <a:buNone/>
            </a:pPr>
            <a:r>
              <a:rPr lang="en-US" sz="1450" dirty="0">
                <a:solidFill>
                  <a:srgbClr val="22333B"/>
                </a:solidFill>
                <a:latin typeface="Calibri" pitchFamily="34" charset="0"/>
                <a:ea typeface="Calibri" pitchFamily="34" charset="-122"/>
                <a:cs typeface="Calibri" pitchFamily="34" charset="-120"/>
              </a:rPr>
              <a:t>The three representations were compared directly, so the value of combining them was measured rather than assumed. Scaffold-split R², XGBoost.</a:t>
            </a:r>
            <a:endParaRPr lang="en-US" sz="1450" dirty="0"/>
          </a:p>
        </p:txBody>
      </p:sp>
      <p:graphicFrame>
        <p:nvGraphicFramePr>
          <p:cNvPr id="7" name="Chart 0" descr=""/>
          <p:cNvGraphicFramePr/>
          <p:nvPr/>
        </p:nvGraphicFramePr>
        <p:xfrm>
          <a:off x="457200" y="2331720"/>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35240" y="2331720"/>
            <a:ext cx="4023360" cy="1691640"/>
          </a:xfrm>
          <a:prstGeom prst="roundRect">
            <a:avLst>
              <a:gd name="adj" fmla="val 4865"/>
            </a:avLst>
          </a:prstGeom>
          <a:solidFill>
            <a:srgbClr val="E9F1F0"/>
          </a:solidFill>
          <a:ln/>
        </p:spPr>
      </p:sp>
      <p:sp>
        <p:nvSpPr>
          <p:cNvPr id="9" name="Text 6"/>
          <p:cNvSpPr/>
          <p:nvPr/>
        </p:nvSpPr>
        <p:spPr>
          <a:xfrm>
            <a:off x="7909560" y="2532888"/>
            <a:ext cx="347472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5-HT₂A: fusion helps</a:t>
            </a:r>
            <a:endParaRPr lang="en-US" sz="1500" dirty="0"/>
          </a:p>
        </p:txBody>
      </p:sp>
      <p:sp>
        <p:nvSpPr>
          <p:cNvPr id="10" name="Text 7"/>
          <p:cNvSpPr/>
          <p:nvPr/>
        </p:nvSpPr>
        <p:spPr>
          <a:xfrm>
            <a:off x="7909560" y="3008376"/>
            <a:ext cx="3474720" cy="795528"/>
          </a:xfrm>
          <a:prstGeom prst="rect">
            <a:avLst/>
          </a:prstGeom>
          <a:noFill/>
          <a:ln/>
        </p:spPr>
        <p:txBody>
          <a:bodyPr wrap="square" rtlCol="0" anchor="t"/>
          <a:lstStyle/>
          <a:p>
            <a:pPr indent="0" marL="0">
              <a:lnSpc>
                <a:spcPct val="112000"/>
              </a:lnSpc>
              <a:buNone/>
            </a:pPr>
            <a:r>
              <a:rPr lang="en-US" sz="1200" dirty="0">
                <a:solidFill>
                  <a:srgbClr val="22333B"/>
                </a:solidFill>
                <a:latin typeface="Calibri" pitchFamily="34" charset="0"/>
                <a:ea typeface="Calibri" pitchFamily="34" charset="-122"/>
                <a:cs typeface="Calibri" pitchFamily="34" charset="-120"/>
              </a:rPr>
              <a:t>Fingerprint and descriptors carry partly independent signal, so combining them adds a little: 0.544 and 0.521 alone, 0.562 fused.</a:t>
            </a:r>
            <a:endParaRPr lang="en-US" sz="1200" dirty="0"/>
          </a:p>
        </p:txBody>
      </p:sp>
      <p:sp>
        <p:nvSpPr>
          <p:cNvPr id="11" name="Shape 8"/>
          <p:cNvSpPr/>
          <p:nvPr/>
        </p:nvSpPr>
        <p:spPr>
          <a:xfrm>
            <a:off x="7635240" y="4206240"/>
            <a:ext cx="4023360" cy="1463040"/>
          </a:xfrm>
          <a:prstGeom prst="roundRect">
            <a:avLst>
              <a:gd name="adj" fmla="val 5625"/>
            </a:avLst>
          </a:prstGeom>
          <a:solidFill>
            <a:srgbClr val="F5ECE6"/>
          </a:solidFill>
          <a:ln/>
        </p:spPr>
      </p:sp>
      <p:sp>
        <p:nvSpPr>
          <p:cNvPr id="12" name="Text 9"/>
          <p:cNvSpPr/>
          <p:nvPr/>
        </p:nvSpPr>
        <p:spPr>
          <a:xfrm>
            <a:off x="7909560" y="4407408"/>
            <a:ext cx="347472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D₃: fingerprint is enough</a:t>
            </a:r>
            <a:endParaRPr lang="en-US" sz="1500" dirty="0"/>
          </a:p>
        </p:txBody>
      </p:sp>
      <p:sp>
        <p:nvSpPr>
          <p:cNvPr id="13" name="Text 10"/>
          <p:cNvSpPr/>
          <p:nvPr/>
        </p:nvSpPr>
        <p:spPr>
          <a:xfrm>
            <a:off x="7909560" y="4882896"/>
            <a:ext cx="3474720" cy="566928"/>
          </a:xfrm>
          <a:prstGeom prst="rect">
            <a:avLst/>
          </a:prstGeom>
          <a:noFill/>
          <a:ln/>
        </p:spPr>
        <p:txBody>
          <a:bodyPr wrap="square" rtlCol="0" anchor="t"/>
          <a:lstStyle/>
          <a:p>
            <a:pPr indent="0" marL="0">
              <a:lnSpc>
                <a:spcPct val="112000"/>
              </a:lnSpc>
              <a:buNone/>
            </a:pPr>
            <a:r>
              <a:rPr lang="en-US" sz="1200" dirty="0">
                <a:solidFill>
                  <a:srgbClr val="22333B"/>
                </a:solidFill>
                <a:latin typeface="Calibri" pitchFamily="34" charset="0"/>
                <a:ea typeface="Calibri" pitchFamily="34" charset="-122"/>
                <a:cs typeface="Calibri" pitchFamily="34" charset="-120"/>
              </a:rPr>
              <a:t>The fingerprint alone already captures almost everything (0.639); fusion adds essentially nothing (0.644).</a:t>
            </a:r>
            <a:endParaRPr lang="en-US" sz="1200" dirty="0"/>
          </a:p>
        </p:txBody>
      </p:sp>
      <p:sp>
        <p:nvSpPr>
          <p:cNvPr id="14" name="Text 11"/>
          <p:cNvSpPr/>
          <p:nvPr/>
        </p:nvSpPr>
        <p:spPr>
          <a:xfrm>
            <a:off x="7635240" y="5806440"/>
            <a:ext cx="4023360" cy="457200"/>
          </a:xfrm>
          <a:prstGeom prst="rect">
            <a:avLst/>
          </a:prstGeom>
          <a:noFill/>
          <a:ln/>
        </p:spPr>
        <p:txBody>
          <a:bodyPr wrap="square" rtlCol="0" anchor="ctr"/>
          <a:lstStyle/>
          <a:p>
            <a:pPr indent="0" marL="0">
              <a:buNone/>
            </a:pPr>
            <a:r>
              <a:rPr lang="en-US" sz="1200" i="1" dirty="0">
                <a:solidFill>
                  <a:srgbClr val="60727A"/>
                </a:solidFill>
                <a:latin typeface="Calibri" pitchFamily="34" charset="0"/>
                <a:ea typeface="Calibri" pitchFamily="34" charset="-122"/>
                <a:cs typeface="Calibri" pitchFamily="34" charset="-120"/>
              </a:rPr>
              <a:t>Fused was adopted throughout as the best-or-tied choice on both targets.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CONTROL 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Is the signal real, or chance fitting?</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20</a:t>
            </a:r>
            <a:endParaRPr lang="en-US" sz="900" dirty="0"/>
          </a:p>
        </p:txBody>
      </p:sp>
      <p:pic>
        <p:nvPicPr>
          <p:cNvPr id="6" name="Image 0" descr="/sessions/sharp-elegant-gauss/mnt/outputs/thesis_clean/figures/yrand_histogram.png">    </p:cNvPr>
          <p:cNvPicPr>
            <a:picLocks noChangeAspect="1"/>
          </p:cNvPicPr>
          <p:nvPr/>
        </p:nvPicPr>
        <p:blipFill>
          <a:blip r:embed="rId1"/>
          <a:stretch>
            <a:fillRect/>
          </a:stretch>
        </p:blipFill>
        <p:spPr>
          <a:xfrm>
            <a:off x="2468880" y="1572768"/>
            <a:ext cx="7223760" cy="3017520"/>
          </a:xfrm>
          <a:prstGeom prst="rect">
            <a:avLst/>
          </a:prstGeom>
        </p:spPr>
      </p:pic>
      <p:sp>
        <p:nvSpPr>
          <p:cNvPr id="7" name="Text 4"/>
          <p:cNvSpPr/>
          <p:nvPr/>
        </p:nvSpPr>
        <p:spPr>
          <a:xfrm>
            <a:off x="685800" y="4846320"/>
            <a:ext cx="338328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p = 0.0099</a:t>
            </a:r>
            <a:endParaRPr lang="en-US" sz="4000" dirty="0"/>
          </a:p>
        </p:txBody>
      </p:sp>
      <p:sp>
        <p:nvSpPr>
          <p:cNvPr id="8" name="Text 5"/>
          <p:cNvSpPr/>
          <p:nvPr/>
        </p:nvSpPr>
        <p:spPr>
          <a:xfrm>
            <a:off x="685800" y="5742432"/>
            <a:ext cx="338328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over 100 permutations, both targets</a:t>
            </a:r>
            <a:endParaRPr lang="en-US" sz="1300" dirty="0"/>
          </a:p>
        </p:txBody>
      </p:sp>
      <p:sp>
        <p:nvSpPr>
          <p:cNvPr id="9" name="Shape 6"/>
          <p:cNvSpPr/>
          <p:nvPr/>
        </p:nvSpPr>
        <p:spPr>
          <a:xfrm>
            <a:off x="4480560" y="4773168"/>
            <a:ext cx="7178040" cy="1417320"/>
          </a:xfrm>
          <a:prstGeom prst="roundRect">
            <a:avLst>
              <a:gd name="adj" fmla="val 5806"/>
            </a:avLst>
          </a:prstGeom>
          <a:solidFill>
            <a:srgbClr val="E9F1F0"/>
          </a:solidFill>
          <a:ln/>
        </p:spPr>
      </p:sp>
      <p:sp>
        <p:nvSpPr>
          <p:cNvPr id="10" name="Text 7"/>
          <p:cNvSpPr/>
          <p:nvPr/>
        </p:nvSpPr>
        <p:spPr>
          <a:xfrm>
            <a:off x="4754880" y="4974336"/>
            <a:ext cx="66294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What this rules out</a:t>
            </a:r>
            <a:endParaRPr lang="en-US" sz="1500" dirty="0"/>
          </a:p>
        </p:txBody>
      </p:sp>
      <p:sp>
        <p:nvSpPr>
          <p:cNvPr id="11" name="Text 8"/>
          <p:cNvSpPr/>
          <p:nvPr/>
        </p:nvSpPr>
        <p:spPr>
          <a:xfrm>
            <a:off x="4754880" y="5449824"/>
            <a:ext cx="6629400" cy="52120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If the models were fitting noise, shuffling the labels would leave performance roughly unchanged. Instead R² collapses to a null centred below zero (mean -0.08 and -0.07, best case 0.02), far from the true 0.60 and 0.63 on this split. No permutation ever reaches it.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CONTROL II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Is it more than a similarity lookup?</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48640" y="1719072"/>
            <a:ext cx="11091672" cy="548640"/>
          </a:xfrm>
          <a:prstGeom prst="rect">
            <a:avLst/>
          </a:prstGeom>
          <a:noFill/>
          <a:ln/>
        </p:spPr>
        <p:txBody>
          <a:bodyPr wrap="square" rtlCol="0" anchor="ctr"/>
          <a:lstStyle/>
          <a:p>
            <a:pPr indent="0" marL="0">
              <a:buNone/>
            </a:pPr>
            <a:r>
              <a:rPr lang="en-US" sz="1450" dirty="0">
                <a:solidFill>
                  <a:srgbClr val="22333B"/>
                </a:solidFill>
                <a:latin typeface="Calibri" pitchFamily="34" charset="0"/>
                <a:ea typeface="Calibri" pitchFamily="34" charset="-122"/>
                <a:cs typeface="Calibri" pitchFamily="34" charset="-120"/>
              </a:rPr>
              <a:t>The most deflating explanation for a good QSAR score is that the model has simply memorised which training compound each test compound resembles. So the models were made to beat that strategy explicitly.</a:t>
            </a:r>
            <a:endParaRPr lang="en-US" sz="1450" dirty="0"/>
          </a:p>
        </p:txBody>
      </p:sp>
      <p:sp>
        <p:nvSpPr>
          <p:cNvPr id="7" name="Shape 5"/>
          <p:cNvSpPr/>
          <p:nvPr/>
        </p:nvSpPr>
        <p:spPr>
          <a:xfrm>
            <a:off x="548640" y="2395728"/>
            <a:ext cx="5440680" cy="1481328"/>
          </a:xfrm>
          <a:prstGeom prst="roundRect">
            <a:avLst>
              <a:gd name="adj" fmla="val 5556"/>
            </a:avLst>
          </a:prstGeom>
          <a:solidFill>
            <a:srgbClr val="F5ECE6"/>
          </a:solidFill>
          <a:ln/>
        </p:spPr>
      </p:sp>
      <p:sp>
        <p:nvSpPr>
          <p:cNvPr id="8" name="Text 6"/>
          <p:cNvSpPr/>
          <p:nvPr/>
        </p:nvSpPr>
        <p:spPr>
          <a:xfrm>
            <a:off x="822960" y="2596896"/>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The baseline: 1-NN read-across</a:t>
            </a:r>
            <a:endParaRPr lang="en-US" sz="1500" dirty="0"/>
          </a:p>
        </p:txBody>
      </p:sp>
      <p:sp>
        <p:nvSpPr>
          <p:cNvPr id="9" name="Text 7"/>
          <p:cNvSpPr/>
          <p:nvPr/>
        </p:nvSpPr>
        <p:spPr>
          <a:xfrm>
            <a:off x="822960" y="3072384"/>
            <a:ext cx="4892040" cy="585216"/>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Assign each test compound the pKi of its single most Tanimoto-similar training compound. No learning, pure nearest-neighbour lookup.</a:t>
            </a:r>
            <a:endParaRPr lang="en-US" sz="1250" dirty="0"/>
          </a:p>
        </p:txBody>
      </p:sp>
      <p:sp>
        <p:nvSpPr>
          <p:cNvPr id="10" name="Shape 8"/>
          <p:cNvSpPr/>
          <p:nvPr/>
        </p:nvSpPr>
        <p:spPr>
          <a:xfrm>
            <a:off x="6199632" y="2395728"/>
            <a:ext cx="5440680" cy="1481328"/>
          </a:xfrm>
          <a:prstGeom prst="roundRect">
            <a:avLst>
              <a:gd name="adj" fmla="val 5556"/>
            </a:avLst>
          </a:prstGeom>
          <a:solidFill>
            <a:srgbClr val="E9F1F0"/>
          </a:solidFill>
          <a:ln/>
        </p:spPr>
      </p:sp>
      <p:sp>
        <p:nvSpPr>
          <p:cNvPr id="11" name="Text 9"/>
          <p:cNvSpPr/>
          <p:nvPr/>
        </p:nvSpPr>
        <p:spPr>
          <a:xfrm>
            <a:off x="6473952" y="2596896"/>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it is the right baseline</a:t>
            </a:r>
            <a:endParaRPr lang="en-US" sz="1500" dirty="0"/>
          </a:p>
        </p:txBody>
      </p:sp>
      <p:sp>
        <p:nvSpPr>
          <p:cNvPr id="12" name="Text 10"/>
          <p:cNvSpPr/>
          <p:nvPr/>
        </p:nvSpPr>
        <p:spPr>
          <a:xfrm>
            <a:off x="6473952" y="3072384"/>
            <a:ext cx="4892040" cy="585216"/>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It is exactly what a fingerprint model could degenerate into. Beating it by a clear margin shows aggregate structure-activity is being learned.</a:t>
            </a:r>
            <a:endParaRPr lang="en-US" sz="1250" dirty="0"/>
          </a:p>
        </p:txBody>
      </p:sp>
      <p:sp>
        <p:nvSpPr>
          <p:cNvPr id="13" name="Text 11"/>
          <p:cNvSpPr/>
          <p:nvPr/>
        </p:nvSpPr>
        <p:spPr>
          <a:xfrm>
            <a:off x="1371600" y="4041648"/>
            <a:ext cx="420624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0.35 → 0.56</a:t>
            </a:r>
            <a:endParaRPr lang="en-US" sz="4000" dirty="0"/>
          </a:p>
        </p:txBody>
      </p:sp>
      <p:sp>
        <p:nvSpPr>
          <p:cNvPr id="14" name="Text 12"/>
          <p:cNvSpPr/>
          <p:nvPr/>
        </p:nvSpPr>
        <p:spPr>
          <a:xfrm>
            <a:off x="1371600" y="4937760"/>
            <a:ext cx="42062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5-HT₂A: read-across → model (R²)</a:t>
            </a:r>
            <a:endParaRPr lang="en-US" sz="1300" dirty="0"/>
          </a:p>
        </p:txBody>
      </p:sp>
      <p:sp>
        <p:nvSpPr>
          <p:cNvPr id="15" name="Text 13"/>
          <p:cNvSpPr/>
          <p:nvPr/>
        </p:nvSpPr>
        <p:spPr>
          <a:xfrm>
            <a:off x="6858000" y="4041648"/>
            <a:ext cx="420624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0.44 → 0.64</a:t>
            </a:r>
            <a:endParaRPr lang="en-US" sz="4000" dirty="0"/>
          </a:p>
        </p:txBody>
      </p:sp>
      <p:sp>
        <p:nvSpPr>
          <p:cNvPr id="16" name="Text 14"/>
          <p:cNvSpPr/>
          <p:nvPr/>
        </p:nvSpPr>
        <p:spPr>
          <a:xfrm>
            <a:off x="6858000" y="4937760"/>
            <a:ext cx="420624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D₃: read-across → model (R²)</a:t>
            </a:r>
            <a:endParaRPr lang="en-US" sz="1300" dirty="0"/>
          </a:p>
        </p:txBody>
      </p:sp>
      <p:sp>
        <p:nvSpPr>
          <p:cNvPr id="17" name="Text 15"/>
          <p:cNvSpPr/>
          <p:nvPr/>
        </p:nvSpPr>
        <p:spPr>
          <a:xfrm>
            <a:off x="548640" y="5669280"/>
            <a:ext cx="11091672" cy="457200"/>
          </a:xfrm>
          <a:prstGeom prst="rect">
            <a:avLst/>
          </a:prstGeom>
          <a:noFill/>
          <a:ln/>
        </p:spPr>
        <p:txBody>
          <a:bodyPr wrap="square" rtlCol="0" anchor="ctr"/>
          <a:lstStyle/>
          <a:p>
            <a:pPr algn="ctr" indent="0" marL="0">
              <a:buNone/>
            </a:pPr>
            <a:r>
              <a:rPr lang="en-US" sz="1350" i="1" dirty="0">
                <a:solidFill>
                  <a:srgbClr val="60727A"/>
                </a:solidFill>
                <a:latin typeface="Calibri" pitchFamily="34" charset="0"/>
                <a:ea typeface="Calibri" pitchFamily="34" charset="-122"/>
                <a:cs typeface="Calibri" pitchFamily="34" charset="-120"/>
              </a:rPr>
              <a:t>Read-across reaches R² 0.347 and 0.435; the models beat it by roughly 0.2 R², a 48 to 62 per cent gain on both targets.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ROBUSTNESS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Not leaning on a few promiscuous drugs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48640" y="1737360"/>
            <a:ext cx="10972800" cy="731520"/>
          </a:xfrm>
          <a:prstGeom prst="rect">
            <a:avLst/>
          </a:prstGeom>
          <a:noFill/>
          <a:ln/>
        </p:spPr>
        <p:txBody>
          <a:bodyPr wrap="square" rtlCol="0" anchor="ctr"/>
          <a:lstStyle/>
          <a:p>
            <a:pPr indent="0" marL="0">
              <a:buNone/>
            </a:pPr>
            <a:r>
              <a:rPr lang="en-US" sz="1500" dirty="0">
                <a:solidFill>
                  <a:srgbClr val="22333B"/>
                </a:solidFill>
                <a:latin typeface="Calibri" pitchFamily="34" charset="0"/>
                <a:ea typeface="Calibri" pitchFamily="34" charset="-122"/>
                <a:cs typeface="Calibri" pitchFamily="34" charset="-120"/>
              </a:rPr>
              <a:t>A natural worry is that performance depends on a handful of well-known multi-target drugs. Removing every compound that engages five or more distinct targets and retraining leaves performance intact, indeed marginally higher. The metric below is R² from the regression models, not MCC.</a:t>
            </a:r>
            <a:endParaRPr lang="en-US" sz="1500" dirty="0"/>
          </a:p>
        </p:txBody>
      </p:sp>
      <p:sp>
        <p:nvSpPr>
          <p:cNvPr id="7" name="Text 5"/>
          <p:cNvSpPr/>
          <p:nvPr/>
        </p:nvSpPr>
        <p:spPr>
          <a:xfrm>
            <a:off x="1280160" y="2697480"/>
            <a:ext cx="3657600" cy="868680"/>
          </a:xfrm>
          <a:prstGeom prst="rect">
            <a:avLst/>
          </a:prstGeom>
          <a:noFill/>
          <a:ln/>
        </p:spPr>
        <p:txBody>
          <a:bodyPr wrap="square" rtlCol="0" anchor="ctr"/>
          <a:lstStyle/>
          <a:p>
            <a:pPr indent="0" marL="0">
              <a:buNone/>
            </a:pPr>
            <a:r>
              <a:rPr lang="en-US" sz="4000" b="1" dirty="0">
                <a:solidFill>
                  <a:srgbClr val="116E64"/>
                </a:solidFill>
                <a:latin typeface="Cambria" pitchFamily="34" charset="0"/>
                <a:ea typeface="Cambria" pitchFamily="34" charset="-122"/>
                <a:cs typeface="Cambria" pitchFamily="34" charset="-120"/>
              </a:rPr>
              <a:t>R² 0.56 → 0.58</a:t>
            </a:r>
            <a:endParaRPr lang="en-US" sz="4000" dirty="0"/>
          </a:p>
        </p:txBody>
      </p:sp>
      <p:sp>
        <p:nvSpPr>
          <p:cNvPr id="8" name="Text 6"/>
          <p:cNvSpPr/>
          <p:nvPr/>
        </p:nvSpPr>
        <p:spPr>
          <a:xfrm>
            <a:off x="1280160" y="3593592"/>
            <a:ext cx="36576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5-HT₂A · scaffold split, regression</a:t>
            </a:r>
            <a:endParaRPr lang="en-US" sz="1300" dirty="0"/>
          </a:p>
        </p:txBody>
      </p:sp>
      <p:sp>
        <p:nvSpPr>
          <p:cNvPr id="9" name="Text 7"/>
          <p:cNvSpPr/>
          <p:nvPr/>
        </p:nvSpPr>
        <p:spPr>
          <a:xfrm>
            <a:off x="6766560" y="2697480"/>
            <a:ext cx="3657600" cy="868680"/>
          </a:xfrm>
          <a:prstGeom prst="rect">
            <a:avLst/>
          </a:prstGeom>
          <a:noFill/>
          <a:ln/>
        </p:spPr>
        <p:txBody>
          <a:bodyPr wrap="square" rtlCol="0" anchor="ctr"/>
          <a:lstStyle/>
          <a:p>
            <a:pPr indent="0" marL="0">
              <a:buNone/>
            </a:pPr>
            <a:r>
              <a:rPr lang="en-US" sz="4000" b="1" dirty="0">
                <a:solidFill>
                  <a:srgbClr val="BE5638"/>
                </a:solidFill>
                <a:latin typeface="Cambria" pitchFamily="34" charset="0"/>
                <a:ea typeface="Cambria" pitchFamily="34" charset="-122"/>
                <a:cs typeface="Cambria" pitchFamily="34" charset="-120"/>
              </a:rPr>
              <a:t>R² 0.64 → 0.67</a:t>
            </a:r>
            <a:endParaRPr lang="en-US" sz="4000" dirty="0"/>
          </a:p>
        </p:txBody>
      </p:sp>
      <p:sp>
        <p:nvSpPr>
          <p:cNvPr id="10" name="Text 8"/>
          <p:cNvSpPr/>
          <p:nvPr/>
        </p:nvSpPr>
        <p:spPr>
          <a:xfrm>
            <a:off x="6766560" y="3593592"/>
            <a:ext cx="3657600" cy="548640"/>
          </a:xfrm>
          <a:prstGeom prst="rect">
            <a:avLst/>
          </a:prstGeom>
          <a:noFill/>
          <a:ln/>
        </p:spPr>
        <p:txBody>
          <a:bodyPr wrap="square" rtlCol="0" anchor="ctr"/>
          <a:lstStyle/>
          <a:p>
            <a:pPr indent="0" marL="0">
              <a:buNone/>
            </a:pPr>
            <a:r>
              <a:rPr lang="en-US" sz="1300" dirty="0">
                <a:solidFill>
                  <a:srgbClr val="60727A"/>
                </a:solidFill>
                <a:latin typeface="Calibri" pitchFamily="34" charset="0"/>
                <a:ea typeface="Calibri" pitchFamily="34" charset="-122"/>
                <a:cs typeface="Calibri" pitchFamily="34" charset="-120"/>
              </a:rPr>
              <a:t>D₃ · scaffold split, regression</a:t>
            </a:r>
            <a:endParaRPr lang="en-US" sz="1300" dirty="0"/>
          </a:p>
        </p:txBody>
      </p:sp>
      <p:sp>
        <p:nvSpPr>
          <p:cNvPr id="11" name="Shape 9"/>
          <p:cNvSpPr/>
          <p:nvPr/>
        </p:nvSpPr>
        <p:spPr>
          <a:xfrm>
            <a:off x="548640" y="4343400"/>
            <a:ext cx="5440680" cy="1325880"/>
          </a:xfrm>
          <a:prstGeom prst="roundRect">
            <a:avLst>
              <a:gd name="adj" fmla="val 6207"/>
            </a:avLst>
          </a:prstGeom>
          <a:solidFill>
            <a:srgbClr val="E9F1F0"/>
          </a:solidFill>
          <a:ln/>
        </p:spPr>
      </p:sp>
      <p:sp>
        <p:nvSpPr>
          <p:cNvPr id="12" name="Text 10"/>
          <p:cNvSpPr/>
          <p:nvPr/>
        </p:nvSpPr>
        <p:spPr>
          <a:xfrm>
            <a:off x="822960" y="4544568"/>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What was removed</a:t>
            </a:r>
            <a:endParaRPr lang="en-US" sz="1500" dirty="0"/>
          </a:p>
        </p:txBody>
      </p:sp>
      <p:sp>
        <p:nvSpPr>
          <p:cNvPr id="13" name="Text 11"/>
          <p:cNvSpPr/>
          <p:nvPr/>
        </p:nvSpPr>
        <p:spPr>
          <a:xfrm>
            <a:off x="822960" y="5020056"/>
            <a:ext cx="4892040" cy="42976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136 of 4,620 compounds for 5-HT₂A and 117 of 5,488 for D₃: every molecule recorded against five or more distinct targets.</a:t>
            </a:r>
            <a:endParaRPr lang="en-US" sz="1250" dirty="0"/>
          </a:p>
        </p:txBody>
      </p:sp>
      <p:sp>
        <p:nvSpPr>
          <p:cNvPr id="14" name="Shape 12"/>
          <p:cNvSpPr/>
          <p:nvPr/>
        </p:nvSpPr>
        <p:spPr>
          <a:xfrm>
            <a:off x="6199632" y="4343400"/>
            <a:ext cx="5440680" cy="1325880"/>
          </a:xfrm>
          <a:prstGeom prst="roundRect">
            <a:avLst>
              <a:gd name="adj" fmla="val 6207"/>
            </a:avLst>
          </a:prstGeom>
          <a:solidFill>
            <a:srgbClr val="F5ECE6"/>
          </a:solidFill>
          <a:ln/>
        </p:spPr>
      </p:sp>
      <p:sp>
        <p:nvSpPr>
          <p:cNvPr id="15" name="Text 13"/>
          <p:cNvSpPr/>
          <p:nvPr/>
        </p:nvSpPr>
        <p:spPr>
          <a:xfrm>
            <a:off x="6473952" y="4544568"/>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Why it can rise</a:t>
            </a:r>
            <a:endParaRPr lang="en-US" sz="1500" dirty="0"/>
          </a:p>
        </p:txBody>
      </p:sp>
      <p:sp>
        <p:nvSpPr>
          <p:cNvPr id="16" name="Text 14"/>
          <p:cNvSpPr/>
          <p:nvPr/>
        </p:nvSpPr>
        <p:spPr>
          <a:xfrm>
            <a:off x="6473952" y="5020056"/>
            <a:ext cx="4892040" cy="429768"/>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A molecule optimised to hit many targets sits where the structure–activity relationship for any single target is weaker, so it is harder to fit. Removing them leaves a slightly cleaner signal.</a:t>
            </a:r>
            <a:endParaRPr lang="en-US" sz="1250" dirty="0"/>
          </a:p>
        </p:txBody>
      </p:sp>
      <p:sp>
        <p:nvSpPr>
          <p:cNvPr id="17" name="Text 15"/>
          <p:cNvSpPr/>
          <p:nvPr/>
        </p:nvSpPr>
        <p:spPr>
          <a:xfrm>
            <a:off x="548640" y="5806440"/>
            <a:ext cx="11091672" cy="548640"/>
          </a:xfrm>
          <a:prstGeom prst="rect">
            <a:avLst/>
          </a:prstGeom>
          <a:noFill/>
          <a:ln/>
        </p:spPr>
        <p:txBody>
          <a:bodyPr wrap="square" rtlCol="0" anchor="ctr"/>
          <a:lstStyle/>
          <a:p>
            <a:pPr algn="ctr" indent="0" marL="0">
              <a:buNone/>
            </a:pPr>
            <a:r>
              <a:rPr lang="en-US" sz="1300" i="1" dirty="0">
                <a:solidFill>
                  <a:srgbClr val="60727A"/>
                </a:solidFill>
                <a:latin typeface="Calibri" pitchFamily="34" charset="0"/>
                <a:ea typeface="Calibri" pitchFamily="34" charset="-122"/>
                <a:cs typeface="Calibri" pitchFamily="34" charset="-120"/>
              </a:rPr>
              <a:t>Read as: the regression signal is broad-based, not carried by polypharmacological drugs. If anything they are harder to fit, so removing them leaves a slightly cleaner structure–activity signal.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drives the predictions (SHAP, regression)</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23</a:t>
            </a:r>
            <a:endParaRPr lang="en-US" sz="900" dirty="0"/>
          </a:p>
        </p:txBody>
      </p:sp>
      <p:pic>
        <p:nvPicPr>
          <p:cNvPr id="6" name="Image 0" descr="/sessions/sharp-elegant-gauss/mnt/outputs/thesis_clean/figures/shap_descriptors_brand.png">    </p:cNvPr>
          <p:cNvPicPr>
            <a:picLocks noChangeAspect="1"/>
          </p:cNvPicPr>
          <p:nvPr/>
        </p:nvPicPr>
        <p:blipFill>
          <a:blip r:embed="rId1"/>
          <a:stretch>
            <a:fillRect/>
          </a:stretch>
        </p:blipFill>
        <p:spPr>
          <a:xfrm>
            <a:off x="1796796" y="1691640"/>
            <a:ext cx="8595360" cy="3401568"/>
          </a:xfrm>
          <a:prstGeom prst="rect">
            <a:avLst/>
          </a:prstGeom>
        </p:spPr>
      </p:pic>
      <p:sp>
        <p:nvSpPr>
          <p:cNvPr id="7" name="Text 4"/>
          <p:cNvSpPr/>
          <p:nvPr/>
        </p:nvSpPr>
        <p:spPr>
          <a:xfrm>
            <a:off x="822960" y="5221224"/>
            <a:ext cx="10515600" cy="548640"/>
          </a:xfrm>
          <a:prstGeom prst="rect">
            <a:avLst/>
          </a:prstGeom>
          <a:noFill/>
          <a:ln/>
        </p:spPr>
        <p:txBody>
          <a:bodyPr wrap="square" rtlCol="0" anchor="ctr"/>
          <a:lstStyle/>
          <a:p>
            <a:pPr algn="ctr" indent="0" marL="0">
              <a:buNone/>
            </a:pPr>
            <a:r>
              <a:rPr lang="en-US" sz="1250" i="1" dirty="0">
                <a:solidFill>
                  <a:srgbClr val="60727A"/>
                </a:solidFill>
                <a:latin typeface="Calibri" pitchFamily="34" charset="0"/>
                <a:ea typeface="Calibri" pitchFamily="34" charset="-122"/>
                <a:cs typeface="Calibri" pitchFamily="34" charset="-120"/>
              </a:rPr>
              <a:t>The two targets rely on different property families: 5-HT₂A on charge and electrostatics, dopamine D₃ on molecular shape and topology.</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The task: where the active/inactive line falls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24</a:t>
            </a:r>
            <a:endParaRPr lang="en-US" sz="900" dirty="0"/>
          </a:p>
        </p:txBody>
      </p:sp>
      <p:pic>
        <p:nvPicPr>
          <p:cNvPr id="6" name="Image 0" descr="/sessions/sharp-elegant-gauss/mnt/outputs/thesis_clean/figures/pki_class_threshold.png">    </p:cNvPr>
          <p:cNvPicPr>
            <a:picLocks noChangeAspect="1"/>
          </p:cNvPicPr>
          <p:nvPr/>
        </p:nvPicPr>
        <p:blipFill>
          <a:blip r:embed="rId1"/>
          <a:stretch>
            <a:fillRect/>
          </a:stretch>
        </p:blipFill>
        <p:spPr>
          <a:xfrm>
            <a:off x="658368" y="1591056"/>
            <a:ext cx="10881360" cy="3950208"/>
          </a:xfrm>
          <a:prstGeom prst="rect">
            <a:avLst/>
          </a:prstGeom>
        </p:spPr>
      </p:pic>
      <p:sp>
        <p:nvSpPr>
          <p:cNvPr id="7" name="Text 4"/>
          <p:cNvSpPr/>
          <p:nvPr/>
        </p:nvSpPr>
        <p:spPr>
          <a:xfrm>
            <a:off x="548640" y="5614416"/>
            <a:ext cx="11091672" cy="310896"/>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Measured pKᵢ for both modelling sets, identical bins and axes. Solid line: the 100 nM cut-off used for the labels. Dashed: the 1 µM alternative.</a:t>
            </a:r>
            <a:endParaRPr lang="en-US" sz="1150" dirty="0"/>
          </a:p>
        </p:txBody>
      </p:sp>
      <p:sp>
        <p:nvSpPr>
          <p:cNvPr id="8" name="Shape 5"/>
          <p:cNvSpPr/>
          <p:nvPr/>
        </p:nvSpPr>
        <p:spPr>
          <a:xfrm>
            <a:off x="548640" y="5925312"/>
            <a:ext cx="11091672" cy="512064"/>
          </a:xfrm>
          <a:prstGeom prst="roundRect">
            <a:avLst>
              <a:gd name="adj" fmla="val 16071"/>
            </a:avLst>
          </a:prstGeom>
          <a:solidFill>
            <a:srgbClr val="F5ECE6"/>
          </a:solidFill>
          <a:ln/>
        </p:spPr>
      </p:sp>
      <p:sp>
        <p:nvSpPr>
          <p:cNvPr id="9" name="Text 6"/>
          <p:cNvSpPr/>
          <p:nvPr/>
        </p:nvSpPr>
        <p:spPr>
          <a:xfrm>
            <a:off x="868680" y="5925312"/>
            <a:ext cx="10451592" cy="512064"/>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100 nM splits the library 59/41 and 67/33.  </a:t>
            </a:r>
            <a:pPr indent="0" marL="0">
              <a:buNone/>
            </a:pPr>
            <a:r>
              <a:rPr lang="en-US" sz="1150" dirty="0">
                <a:solidFill>
                  <a:srgbClr val="22333B"/>
                </a:solidFill>
                <a:latin typeface="Calibri" pitchFamily="34" charset="0"/>
                <a:ea typeface="Calibri" pitchFamily="34" charset="-122"/>
                <a:cs typeface="Calibri" pitchFamily="34" charset="-120"/>
              </a:rPr>
              <a:t>At 1 µM it would be 85 and 87 per cent active, and MCC falls from 0.63 to 0.35 and 0.43 — too few inactives left to learn a boundary from. The threshold is a modelling decision, and this is the evidence for it.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The classifier itself, not a summary of 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25</a:t>
            </a:r>
            <a:endParaRPr lang="en-US" sz="900" dirty="0"/>
          </a:p>
        </p:txBody>
      </p:sp>
      <p:pic>
        <p:nvPicPr>
          <p:cNvPr id="6" name="Image 0" descr="/sessions/sharp-elegant-gauss/mnt/outputs/thesis_clean/figures/confusion_matrix_representative.png">    </p:cNvPr>
          <p:cNvPicPr>
            <a:picLocks noChangeAspect="1"/>
          </p:cNvPicPr>
          <p:nvPr/>
        </p:nvPicPr>
        <p:blipFill>
          <a:blip r:embed="rId1"/>
          <a:stretch>
            <a:fillRect/>
          </a:stretch>
        </p:blipFill>
        <p:spPr>
          <a:xfrm>
            <a:off x="1051560" y="1572768"/>
            <a:ext cx="10058400" cy="3931920"/>
          </a:xfrm>
          <a:prstGeom prst="rect">
            <a:avLst/>
          </a:prstGeom>
        </p:spPr>
      </p:pic>
      <p:sp>
        <p:nvSpPr>
          <p:cNvPr id="7" name="Text 4"/>
          <p:cNvSpPr/>
          <p:nvPr/>
        </p:nvSpPr>
        <p:spPr>
          <a:xfrm>
            <a:off x="548640" y="5596128"/>
            <a:ext cx="11091672" cy="310896"/>
          </a:xfrm>
          <a:prstGeom prst="rect">
            <a:avLst/>
          </a:prstGeom>
          <a:noFill/>
          <a:ln/>
        </p:spPr>
        <p:txBody>
          <a:bodyPr wrap="square" rtlCol="0" anchor="ctr"/>
          <a:lstStyle/>
          <a:p>
            <a:pPr algn="ctr" indent="0" marL="0">
              <a:buNone/>
            </a:pPr>
            <a:r>
              <a:rPr lang="en-US" sz="1150" i="1" dirty="0">
                <a:solidFill>
                  <a:srgbClr val="60727A"/>
                </a:solidFill>
                <a:latin typeface="Calibri" pitchFamily="34" charset="0"/>
                <a:ea typeface="Calibri" pitchFamily="34" charset="-122"/>
                <a:cs typeface="Calibri" pitchFamily="34" charset="-120"/>
              </a:rPr>
              <a:t>Held-out scaffolds, representative split (seed 10, the split closest to the 12-split median). Probability threshold 0.5.</a:t>
            </a:r>
            <a:endParaRPr lang="en-US" sz="1150" dirty="0"/>
          </a:p>
        </p:txBody>
      </p:sp>
      <p:sp>
        <p:nvSpPr>
          <p:cNvPr id="8" name="Shape 5"/>
          <p:cNvSpPr/>
          <p:nvPr/>
        </p:nvSpPr>
        <p:spPr>
          <a:xfrm>
            <a:off x="548640" y="5907024"/>
            <a:ext cx="11091672" cy="530352"/>
          </a:xfrm>
          <a:prstGeom prst="roundRect">
            <a:avLst>
              <a:gd name="adj" fmla="val 15517"/>
            </a:avLst>
          </a:prstGeom>
          <a:solidFill>
            <a:srgbClr val="E9F1F0"/>
          </a:solidFill>
          <a:ln/>
        </p:spPr>
      </p:sp>
      <p:sp>
        <p:nvSpPr>
          <p:cNvPr id="9" name="Text 6"/>
          <p:cNvSpPr/>
          <p:nvPr/>
        </p:nvSpPr>
        <p:spPr>
          <a:xfrm>
            <a:off x="868680" y="5907024"/>
            <a:ext cx="10451592" cy="530352"/>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Errors are balanced, not one-sided.  </a:t>
            </a:r>
            <a:pPr indent="0" marL="0">
              <a:buNone/>
            </a:pPr>
            <a:r>
              <a:rPr lang="en-US" sz="1150" dirty="0">
                <a:solidFill>
                  <a:srgbClr val="22333B"/>
                </a:solidFill>
                <a:latin typeface="Calibri" pitchFamily="34" charset="0"/>
                <a:ea typeface="Calibri" pitchFamily="34" charset="-122"/>
                <a:cs typeface="Calibri" pitchFamily="34" charset="-120"/>
              </a:rPr>
              <a:t>5-HT₂A recall 0.83 and specificity 0.83; D₃ recall 0.87 and specificity 0.77. The model is not buying its score by calling everything active — which is exactly what MCC on the next slide is designed to detect.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the screening metrics actually measure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48640" y="1609344"/>
            <a:ext cx="11091672" cy="365760"/>
          </a:xfrm>
          <a:prstGeom prst="rect">
            <a:avLst/>
          </a:prstGeom>
          <a:noFill/>
          <a:ln/>
        </p:spPr>
        <p:txBody>
          <a:bodyPr wrap="square" rtlCol="0" anchor="ctr"/>
          <a:lstStyle/>
          <a:p>
            <a:pPr indent="0" marL="0">
              <a:buNone/>
            </a:pPr>
            <a:r>
              <a:rPr lang="en-US" sz="1400" dirty="0">
                <a:solidFill>
                  <a:srgbClr val="22333B"/>
                </a:solidFill>
                <a:latin typeface="Calibri" pitchFamily="34" charset="0"/>
                <a:ea typeface="Calibri" pitchFamily="34" charset="-122"/>
                <a:cs typeface="Calibri" pitchFamily="34" charset="-120"/>
              </a:rPr>
              <a:t>At a 100 nM cut-off the models predict a category rather than a number. Two metrics, and both need their definition to mean anything.</a:t>
            </a:r>
            <a:endParaRPr lang="en-US" sz="1400" dirty="0"/>
          </a:p>
        </p:txBody>
      </p:sp>
      <p:sp>
        <p:nvSpPr>
          <p:cNvPr id="7" name="Shape 5"/>
          <p:cNvSpPr/>
          <p:nvPr/>
        </p:nvSpPr>
        <p:spPr>
          <a:xfrm>
            <a:off x="548640" y="2084832"/>
            <a:ext cx="5440680" cy="1920240"/>
          </a:xfrm>
          <a:prstGeom prst="roundRect">
            <a:avLst>
              <a:gd name="adj" fmla="val 4286"/>
            </a:avLst>
          </a:prstGeom>
          <a:solidFill>
            <a:srgbClr val="E9F1F0"/>
          </a:solidFill>
          <a:ln/>
        </p:spPr>
      </p:sp>
      <p:sp>
        <p:nvSpPr>
          <p:cNvPr id="8" name="Text 6"/>
          <p:cNvSpPr/>
          <p:nvPr/>
        </p:nvSpPr>
        <p:spPr>
          <a:xfrm>
            <a:off x="822960" y="2286000"/>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MCC  ·  0.635 and 0.632   (normalised 0.82)</a:t>
            </a:r>
            <a:endParaRPr lang="en-US" sz="1500" dirty="0"/>
          </a:p>
        </p:txBody>
      </p:sp>
      <p:sp>
        <p:nvSpPr>
          <p:cNvPr id="9" name="Text 7"/>
          <p:cNvSpPr/>
          <p:nvPr/>
        </p:nvSpPr>
        <p:spPr>
          <a:xfrm>
            <a:off x="822960" y="2761488"/>
            <a:ext cx="4892040" cy="102412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Accuracy lies when one class dominates: this library is 59% and 67% active, so always answering "active" scores 59% and is useless. MCC uses all four cells of the confusion matrix, so it only rises when both classes are called correctly. It runs −1 to +1; rescaled to 0–1 the value is 0.82, which is the fair comparison against an R².</a:t>
            </a:r>
            <a:endParaRPr lang="en-US" sz="1150" dirty="0"/>
          </a:p>
        </p:txBody>
      </p:sp>
      <p:sp>
        <p:nvSpPr>
          <p:cNvPr id="10" name="Shape 8"/>
          <p:cNvSpPr/>
          <p:nvPr/>
        </p:nvSpPr>
        <p:spPr>
          <a:xfrm>
            <a:off x="6199632" y="2084832"/>
            <a:ext cx="5440680" cy="1920240"/>
          </a:xfrm>
          <a:prstGeom prst="roundRect">
            <a:avLst>
              <a:gd name="adj" fmla="val 4286"/>
            </a:avLst>
          </a:prstGeom>
          <a:solidFill>
            <a:srgbClr val="F5ECE6"/>
          </a:solidFill>
          <a:ln/>
        </p:spPr>
      </p:sp>
      <p:sp>
        <p:nvSpPr>
          <p:cNvPr id="11" name="Text 9"/>
          <p:cNvSpPr/>
          <p:nvPr/>
        </p:nvSpPr>
        <p:spPr>
          <a:xfrm>
            <a:off x="6473952" y="2286000"/>
            <a:ext cx="489204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Enrichment factor  ·  1.67 and 1.46</a:t>
            </a:r>
            <a:endParaRPr lang="en-US" sz="1500" dirty="0"/>
          </a:p>
        </p:txBody>
      </p:sp>
      <p:sp>
        <p:nvSpPr>
          <p:cNvPr id="12" name="Text 10"/>
          <p:cNvSpPr/>
          <p:nvPr/>
        </p:nvSpPr>
        <p:spPr>
          <a:xfrm>
            <a:off x="6473952" y="2761488"/>
            <a:ext cx="4892040" cy="102412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Rank the library by predicted affinity, take the top 1%, and ask how much richer in true actives it is than the library overall. 1.0 is random ranking. The ceiling is 1 over the active fraction: 1.69 and 1.49 here, so this sits at 98% of the maximum achievable.</a:t>
            </a:r>
            <a:endParaRPr lang="en-US" sz="1150" dirty="0"/>
          </a:p>
        </p:txBody>
      </p:sp>
      <p:sp>
        <p:nvSpPr>
          <p:cNvPr id="13" name="Shape 11"/>
          <p:cNvSpPr/>
          <p:nvPr/>
        </p:nvSpPr>
        <p:spPr>
          <a:xfrm>
            <a:off x="548640" y="5303520"/>
            <a:ext cx="11091672" cy="768096"/>
          </a:xfrm>
          <a:prstGeom prst="roundRect">
            <a:avLst>
              <a:gd name="adj" fmla="val 10714"/>
            </a:avLst>
          </a:prstGeom>
          <a:solidFill>
            <a:srgbClr val="F5ECE6"/>
          </a:solidFill>
          <a:ln/>
        </p:spPr>
      </p:sp>
      <p:pic>
        <p:nvPicPr>
          <p:cNvPr id="14" name="Image 0" descr="/sessions/sharp-elegant-gauss/mnt/outputs/thesis_clean/figures/deck_f_mcc.png">    </p:cNvPr>
          <p:cNvPicPr>
            <a:picLocks noChangeAspect="1"/>
          </p:cNvPicPr>
          <p:nvPr/>
        </p:nvPicPr>
        <p:blipFill>
          <a:blip r:embed="rId1"/>
          <a:stretch>
            <a:fillRect/>
          </a:stretch>
        </p:blipFill>
        <p:spPr>
          <a:xfrm>
            <a:off x="731520" y="4370832"/>
            <a:ext cx="5074920" cy="588874"/>
          </a:xfrm>
          <a:prstGeom prst="rect">
            <a:avLst/>
          </a:prstGeom>
        </p:spPr>
      </p:pic>
      <p:pic>
        <p:nvPicPr>
          <p:cNvPr id="15" name="Image 1" descr="/sessions/sharp-elegant-gauss/mnt/outputs/thesis_clean/figures/deck_f_ef.png">    </p:cNvPr>
          <p:cNvPicPr>
            <a:picLocks noChangeAspect="1"/>
          </p:cNvPicPr>
          <p:nvPr/>
        </p:nvPicPr>
        <p:blipFill>
          <a:blip r:embed="rId2"/>
          <a:stretch>
            <a:fillRect/>
          </a:stretch>
        </p:blipFill>
        <p:spPr>
          <a:xfrm>
            <a:off x="8257032" y="4416552"/>
            <a:ext cx="1330452" cy="493776"/>
          </a:xfrm>
          <a:prstGeom prst="rect">
            <a:avLst/>
          </a:prstGeom>
        </p:spPr>
      </p:pic>
      <p:sp>
        <p:nvSpPr>
          <p:cNvPr id="16" name="Text 12"/>
          <p:cNvSpPr/>
          <p:nvPr/>
        </p:nvSpPr>
        <p:spPr>
          <a:xfrm>
            <a:off x="868680" y="5303520"/>
            <a:ext cx="10451592" cy="768096"/>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Said plainly, and unprompted:  </a:t>
            </a:r>
            <a:pPr indent="0" marL="0">
              <a:buNone/>
            </a:pPr>
            <a:r>
              <a:rPr lang="en-US" sz="1150" dirty="0">
                <a:solidFill>
                  <a:srgbClr val="22333B"/>
                </a:solidFill>
                <a:latin typeface="Calibri" pitchFamily="34" charset="0"/>
                <a:ea typeface="Calibri" pitchFamily="34" charset="-122"/>
                <a:cs typeface="Calibri" pitchFamily="34" charset="-120"/>
              </a:rPr>
              <a:t>every compound here is a measured binder, so this separates potent binders from weaker binders, not binders from non-binders. A true screen needs inactive data the dataset does not contain. ROC-AUC is 0.92, but on a majority-active library it flatters any model, so I do not lead with it.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Are the predicted probabilities honest?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27</a:t>
            </a:r>
            <a:endParaRPr lang="en-US" sz="900" dirty="0"/>
          </a:p>
        </p:txBody>
      </p:sp>
      <p:pic>
        <p:nvPicPr>
          <p:cNvPr id="6" name="Image 0" descr="/sessions/sharp-elegant-gauss/mnt/outputs/thesis_clean/figures/deck_calibration_only.png">    </p:cNvPr>
          <p:cNvPicPr>
            <a:picLocks noChangeAspect="1"/>
          </p:cNvPicPr>
          <p:nvPr/>
        </p:nvPicPr>
        <p:blipFill>
          <a:blip r:embed="rId1"/>
          <a:stretch>
            <a:fillRect/>
          </a:stretch>
        </p:blipFill>
        <p:spPr>
          <a:xfrm>
            <a:off x="1572768" y="1554480"/>
            <a:ext cx="9052560" cy="3822192"/>
          </a:xfrm>
          <a:prstGeom prst="rect">
            <a:avLst/>
          </a:prstGeom>
        </p:spPr>
      </p:pic>
      <p:sp>
        <p:nvSpPr>
          <p:cNvPr id="7" name="Text 4"/>
          <p:cNvSpPr/>
          <p:nvPr/>
        </p:nvSpPr>
        <p:spPr>
          <a:xfrm>
            <a:off x="548640" y="5468112"/>
            <a:ext cx="11091672" cy="365760"/>
          </a:xfrm>
          <a:prstGeom prst="rect">
            <a:avLst/>
          </a:prstGeom>
          <a:noFill/>
          <a:ln/>
        </p:spPr>
        <p:txBody>
          <a:bodyPr wrap="square" rtlCol="0" anchor="ctr"/>
          <a:lstStyle/>
          <a:p>
            <a:pPr algn="ctr" indent="0" marL="0">
              <a:buNone/>
            </a:pPr>
            <a:r>
              <a:rPr lang="en-US" sz="1200" i="1" dirty="0">
                <a:solidFill>
                  <a:srgbClr val="60727A"/>
                </a:solidFill>
                <a:latin typeface="Calibri" pitchFamily="34" charset="0"/>
                <a:ea typeface="Calibri" pitchFamily="34" charset="-122"/>
                <a:cs typeface="Calibri" pitchFamily="34" charset="-120"/>
              </a:rPr>
              <a:t>Scaffold split at the 100 nM cut-off. Mean predicted probability against the observed fraction active, with the identity line.</a:t>
            </a:r>
            <a:endParaRPr lang="en-US" sz="1200" dirty="0"/>
          </a:p>
        </p:txBody>
      </p:sp>
      <p:sp>
        <p:nvSpPr>
          <p:cNvPr id="8" name="Shape 5"/>
          <p:cNvSpPr/>
          <p:nvPr/>
        </p:nvSpPr>
        <p:spPr>
          <a:xfrm>
            <a:off x="548640" y="5888736"/>
            <a:ext cx="11091672" cy="512064"/>
          </a:xfrm>
          <a:prstGeom prst="roundRect">
            <a:avLst>
              <a:gd name="adj" fmla="val 16071"/>
            </a:avLst>
          </a:prstGeom>
          <a:solidFill>
            <a:srgbClr val="E9F1F0"/>
          </a:solidFill>
          <a:ln/>
        </p:spPr>
      </p:sp>
      <p:sp>
        <p:nvSpPr>
          <p:cNvPr id="9" name="Text 6"/>
          <p:cNvSpPr/>
          <p:nvPr/>
        </p:nvSpPr>
        <p:spPr>
          <a:xfrm>
            <a:off x="868680" y="5888736"/>
            <a:ext cx="10451592" cy="512064"/>
          </a:xfrm>
          <a:prstGeom prst="rect">
            <a:avLst/>
          </a:prstGeom>
          <a:noFill/>
          <a:ln/>
        </p:spPr>
        <p:txBody>
          <a:bodyPr wrap="square"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On the line means the number is trustworthy.  </a:t>
            </a:r>
            <a:pPr indent="0" marL="0">
              <a:buNone/>
            </a:pPr>
            <a:r>
              <a:rPr lang="en-US" sz="1200" dirty="0">
                <a:solidFill>
                  <a:srgbClr val="22333B"/>
                </a:solidFill>
                <a:latin typeface="Calibri" pitchFamily="34" charset="0"/>
                <a:ea typeface="Calibri" pitchFamily="34" charset="-122"/>
                <a:cs typeface="Calibri" pitchFamily="34" charset="-120"/>
              </a:rPr>
              <a:t>When the model says 80% active, about 80% are. D₃ tracks the diagonal almost exactly. This is the one property neither MCC (0.635 / 0.632) nor enrichment can test: both are threshold or ranking metrics.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the classifier keys on</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28</a:t>
            </a:r>
            <a:endParaRPr lang="en-US" sz="900" dirty="0"/>
          </a:p>
        </p:txBody>
      </p:sp>
      <p:pic>
        <p:nvPicPr>
          <p:cNvPr id="6" name="Image 0" descr="/sessions/sharp-elegant-gauss/mnt/outputs/thesis_clean/figures/shap_classifier.png">    </p:cNvPr>
          <p:cNvPicPr>
            <a:picLocks noChangeAspect="1"/>
          </p:cNvPicPr>
          <p:nvPr/>
        </p:nvPicPr>
        <p:blipFill>
          <a:blip r:embed="rId1"/>
          <a:stretch>
            <a:fillRect/>
          </a:stretch>
        </p:blipFill>
        <p:spPr>
          <a:xfrm>
            <a:off x="658368" y="1554480"/>
            <a:ext cx="10881360" cy="3749040"/>
          </a:xfrm>
          <a:prstGeom prst="rect">
            <a:avLst/>
          </a:prstGeom>
        </p:spPr>
      </p:pic>
      <p:sp>
        <p:nvSpPr>
          <p:cNvPr id="7" name="Shape 4"/>
          <p:cNvSpPr/>
          <p:nvPr/>
        </p:nvSpPr>
        <p:spPr>
          <a:xfrm>
            <a:off x="548640" y="5431536"/>
            <a:ext cx="11091672" cy="1005840"/>
          </a:xfrm>
          <a:prstGeom prst="roundRect">
            <a:avLst>
              <a:gd name="adj" fmla="val 8182"/>
            </a:avLst>
          </a:prstGeom>
          <a:solidFill>
            <a:srgbClr val="E9F1F0"/>
          </a:solidFill>
          <a:ln/>
        </p:spPr>
      </p:sp>
      <p:sp>
        <p:nvSpPr>
          <p:cNvPr id="8" name="Text 5"/>
          <p:cNvSpPr/>
          <p:nvPr/>
        </p:nvSpPr>
        <p:spPr>
          <a:xfrm>
            <a:off x="868680" y="5431536"/>
            <a:ext cx="10451592" cy="1005840"/>
          </a:xfrm>
          <a:prstGeom prst="rect">
            <a:avLst/>
          </a:prstGeom>
          <a:noFill/>
          <a:ln/>
        </p:spPr>
        <p:txBody>
          <a:bodyPr wrap="square" rtlCol="0" anchor="ctr"/>
          <a:lstStyle/>
          <a:p>
            <a:pPr indent="0" marL="0">
              <a:buNone/>
            </a:pPr>
            <a:r>
              <a:rPr lang="en-US" sz="1150" b="1" dirty="0">
                <a:solidFill>
                  <a:srgbClr val="22333B"/>
                </a:solidFill>
                <a:latin typeface="Calibri" pitchFamily="34" charset="0"/>
                <a:ea typeface="Calibri" pitchFamily="34" charset="-122"/>
                <a:cs typeface="Calibri" pitchFamily="34" charset="-120"/>
              </a:rPr>
              <a:t>Rank correlation with the regression SHAP: 0.90 and 0.87.  </a:t>
            </a:r>
            <a:pPr indent="0" marL="0">
              <a:buNone/>
            </a:pPr>
            <a:r>
              <a:rPr lang="en-US" sz="1150" dirty="0">
                <a:solidFill>
                  <a:srgbClr val="22333B"/>
                </a:solidFill>
                <a:latin typeface="Calibri" pitchFamily="34" charset="0"/>
                <a:ea typeface="Calibri" pitchFamily="34" charset="-122"/>
                <a:cs typeface="Calibri" pitchFamily="34" charset="-120"/>
              </a:rPr>
              <a:t>The same chemistry drives the category call and the continuous prediction, so the interpretation is a property of the data rather than of the loss function. Charge-binned surface areas lead for 5-HT₂A; for D₃, Balaban J alone carries 18 per cent of the attribution. Values are in log-odds, so ranks are comparable to the regression figure but magnitudes are not.</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The same controls, on the classifier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48640" y="1627632"/>
            <a:ext cx="11091672" cy="365760"/>
          </a:xfrm>
          <a:prstGeom prst="rect">
            <a:avLst/>
          </a:prstGeom>
          <a:noFill/>
          <a:ln/>
        </p:spPr>
        <p:txBody>
          <a:bodyPr wrap="square" rtlCol="0" anchor="ctr"/>
          <a:lstStyle/>
          <a:p>
            <a:pPr indent="0" marL="0">
              <a:buNone/>
            </a:pPr>
            <a:r>
              <a:rPr lang="en-US" sz="1400" dirty="0">
                <a:solidFill>
                  <a:srgbClr val="22333B"/>
                </a:solidFill>
                <a:latin typeface="Calibri" pitchFamily="34" charset="0"/>
                <a:ea typeface="Calibri" pitchFamily="34" charset="-122"/>
                <a:cs typeface="Calibri" pitchFamily="34" charset="-120"/>
              </a:rPr>
              <a:t>Everything the regression models were put through was repeated for the 100 nM classifier, so this section is held to the same standard as the rest of the work.</a:t>
            </a:r>
            <a:endParaRPr lang="en-US" sz="1400" dirty="0"/>
          </a:p>
        </p:txBody>
      </p:sp>
      <p:sp>
        <p:nvSpPr>
          <p:cNvPr id="7" name="Shape 5"/>
          <p:cNvSpPr/>
          <p:nvPr/>
        </p:nvSpPr>
        <p:spPr>
          <a:xfrm>
            <a:off x="548640" y="2121408"/>
            <a:ext cx="3520440" cy="1783080"/>
          </a:xfrm>
          <a:prstGeom prst="roundRect">
            <a:avLst>
              <a:gd name="adj" fmla="val 4615"/>
            </a:avLst>
          </a:prstGeom>
          <a:solidFill>
            <a:srgbClr val="E9F1F0"/>
          </a:solidFill>
          <a:ln/>
        </p:spPr>
      </p:sp>
      <p:sp>
        <p:nvSpPr>
          <p:cNvPr id="8" name="Text 6"/>
          <p:cNvSpPr/>
          <p:nvPr/>
        </p:nvSpPr>
        <p:spPr>
          <a:xfrm>
            <a:off x="822960" y="232257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Representation</a:t>
            </a:r>
            <a:endParaRPr lang="en-US" sz="1500" dirty="0"/>
          </a:p>
        </p:txBody>
      </p:sp>
      <p:sp>
        <p:nvSpPr>
          <p:cNvPr id="9" name="Text 7"/>
          <p:cNvSpPr/>
          <p:nvPr/>
        </p:nvSpPr>
        <p:spPr>
          <a:xfrm>
            <a:off x="822960" y="2798064"/>
            <a:ext cx="2971800" cy="886968"/>
          </a:xfrm>
          <a:prstGeom prst="rect">
            <a:avLst/>
          </a:prstGeom>
          <a:noFill/>
          <a:ln/>
        </p:spPr>
        <p:txBody>
          <a:bodyPr wrap="square" rtlCol="0" anchor="t"/>
          <a:lstStyle/>
          <a:p>
            <a:pPr indent="0" marL="0">
              <a:lnSpc>
                <a:spcPct val="112000"/>
              </a:lnSpc>
              <a:buNone/>
            </a:pPr>
            <a:r>
              <a:rPr lang="en-US" sz="1200" dirty="0">
                <a:solidFill>
                  <a:srgbClr val="22333B"/>
                </a:solidFill>
                <a:latin typeface="Calibri" pitchFamily="34" charset="0"/>
                <a:ea typeface="Calibri" pitchFamily="34" charset="-122"/>
                <a:cs typeface="Calibri" pitchFamily="34" charset="-120"/>
              </a:rPr>
              <a:t>Same ordering as regression: fused best or tied. ECFP4 0.629 / 0.629, descriptors 0.604 / 0.585, fused 0.632 / 0.633.</a:t>
            </a:r>
            <a:endParaRPr lang="en-US" sz="1200" dirty="0"/>
          </a:p>
        </p:txBody>
      </p:sp>
      <p:sp>
        <p:nvSpPr>
          <p:cNvPr id="10" name="Shape 8"/>
          <p:cNvSpPr/>
          <p:nvPr/>
        </p:nvSpPr>
        <p:spPr>
          <a:xfrm>
            <a:off x="4334256" y="2121408"/>
            <a:ext cx="3520440" cy="1783080"/>
          </a:xfrm>
          <a:prstGeom prst="roundRect">
            <a:avLst>
              <a:gd name="adj" fmla="val 4615"/>
            </a:avLst>
          </a:prstGeom>
          <a:solidFill>
            <a:srgbClr val="F5ECE6"/>
          </a:solidFill>
          <a:ln/>
        </p:spPr>
      </p:sp>
      <p:sp>
        <p:nvSpPr>
          <p:cNvPr id="11" name="Text 9"/>
          <p:cNvSpPr/>
          <p:nvPr/>
        </p:nvSpPr>
        <p:spPr>
          <a:xfrm>
            <a:off x="4608576" y="232257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Chance fitting ruled out</a:t>
            </a:r>
            <a:endParaRPr lang="en-US" sz="1500" dirty="0"/>
          </a:p>
        </p:txBody>
      </p:sp>
      <p:sp>
        <p:nvSpPr>
          <p:cNvPr id="12" name="Text 10"/>
          <p:cNvSpPr/>
          <p:nvPr/>
        </p:nvSpPr>
        <p:spPr>
          <a:xfrm>
            <a:off x="4608576" y="2798064"/>
            <a:ext cx="2971800" cy="886968"/>
          </a:xfrm>
          <a:prstGeom prst="rect">
            <a:avLst/>
          </a:prstGeom>
          <a:noFill/>
          <a:ln/>
        </p:spPr>
        <p:txBody>
          <a:bodyPr wrap="square" rtlCol="0" anchor="t"/>
          <a:lstStyle/>
          <a:p>
            <a:pPr indent="0" marL="0">
              <a:lnSpc>
                <a:spcPct val="112000"/>
              </a:lnSpc>
              <a:buNone/>
            </a:pPr>
            <a:r>
              <a:rPr lang="en-US" sz="1200" dirty="0">
                <a:solidFill>
                  <a:srgbClr val="22333B"/>
                </a:solidFill>
                <a:latin typeface="Calibri" pitchFamily="34" charset="0"/>
                <a:ea typeface="Calibri" pitchFamily="34" charset="-122"/>
                <a:cs typeface="Calibri" pitchFamily="34" charset="-120"/>
              </a:rPr>
              <a:t>MCC collapses to a null centred on zero (mean +0.02 and −0.00 over 100 permutations, best case 0.17 and 0.14) against 0.68 and 0.67 for the true labels on the same split. p = 0.0099; no permutation came close.</a:t>
            </a:r>
            <a:endParaRPr lang="en-US" sz="1200" dirty="0"/>
          </a:p>
        </p:txBody>
      </p:sp>
      <p:sp>
        <p:nvSpPr>
          <p:cNvPr id="13" name="Shape 11"/>
          <p:cNvSpPr/>
          <p:nvPr/>
        </p:nvSpPr>
        <p:spPr>
          <a:xfrm>
            <a:off x="8119872" y="2121408"/>
            <a:ext cx="3520440" cy="1783080"/>
          </a:xfrm>
          <a:prstGeom prst="roundRect">
            <a:avLst>
              <a:gd name="adj" fmla="val 4615"/>
            </a:avLst>
          </a:prstGeom>
          <a:solidFill>
            <a:srgbClr val="E9F1F0"/>
          </a:solidFill>
          <a:ln/>
        </p:spPr>
      </p:sp>
      <p:sp>
        <p:nvSpPr>
          <p:cNvPr id="14" name="Text 12"/>
          <p:cNvSpPr/>
          <p:nvPr/>
        </p:nvSpPr>
        <p:spPr>
          <a:xfrm>
            <a:off x="8394192" y="2322576"/>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Read-across baseline</a:t>
            </a:r>
            <a:endParaRPr lang="en-US" sz="1500" dirty="0"/>
          </a:p>
        </p:txBody>
      </p:sp>
      <p:sp>
        <p:nvSpPr>
          <p:cNvPr id="15" name="Text 13"/>
          <p:cNvSpPr/>
          <p:nvPr/>
        </p:nvSpPr>
        <p:spPr>
          <a:xfrm>
            <a:off x="8394192" y="2798064"/>
            <a:ext cx="2971800" cy="886968"/>
          </a:xfrm>
          <a:prstGeom prst="rect">
            <a:avLst/>
          </a:prstGeom>
          <a:noFill/>
          <a:ln/>
        </p:spPr>
        <p:txBody>
          <a:bodyPr wrap="square" rtlCol="0" anchor="t"/>
          <a:lstStyle/>
          <a:p>
            <a:pPr indent="0" marL="0">
              <a:lnSpc>
                <a:spcPct val="112000"/>
              </a:lnSpc>
              <a:buNone/>
            </a:pPr>
            <a:r>
              <a:rPr lang="en-US" sz="1200" dirty="0">
                <a:solidFill>
                  <a:srgbClr val="22333B"/>
                </a:solidFill>
                <a:latin typeface="Calibri" pitchFamily="34" charset="0"/>
                <a:ea typeface="Calibri" pitchFamily="34" charset="-122"/>
                <a:cs typeface="Calibri" pitchFamily="34" charset="-120"/>
              </a:rPr>
              <a:t>MCC 0.574 and 0.551 against the models 0.632 and 0.633. A real but modest margin of 0.06 and 0.08.</a:t>
            </a:r>
            <a:endParaRPr lang="en-US" sz="1200" dirty="0"/>
          </a:p>
        </p:txBody>
      </p:sp>
      <p:sp>
        <p:nvSpPr>
          <p:cNvPr id="16" name="Shape 14"/>
          <p:cNvSpPr/>
          <p:nvPr/>
        </p:nvSpPr>
        <p:spPr>
          <a:xfrm>
            <a:off x="548640" y="4187952"/>
            <a:ext cx="11091672" cy="1225296"/>
          </a:xfrm>
          <a:prstGeom prst="roundRect">
            <a:avLst>
              <a:gd name="adj" fmla="val 6716"/>
            </a:avLst>
          </a:prstGeom>
          <a:solidFill>
            <a:srgbClr val="F5ECE6"/>
          </a:solidFill>
          <a:ln/>
        </p:spPr>
      </p:sp>
      <p:sp>
        <p:nvSpPr>
          <p:cNvPr id="17" name="Text 15"/>
          <p:cNvSpPr/>
          <p:nvPr/>
        </p:nvSpPr>
        <p:spPr>
          <a:xfrm>
            <a:off x="868680" y="4187952"/>
            <a:ext cx="10451592" cy="1225296"/>
          </a:xfrm>
          <a:prstGeom prst="rect">
            <a:avLst/>
          </a:prstGeom>
          <a:noFill/>
          <a:ln/>
        </p:spPr>
        <p:txBody>
          <a:bodyPr wrap="square"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And a fourth check: removing the promiscuous compounds leaves MCC at 0.66 and 0.63.  </a:t>
            </a:r>
            <a:pPr indent="0" marL="0">
              <a:buNone/>
            </a:pPr>
            <a:r>
              <a:rPr lang="en-US" sz="1200" dirty="0">
                <a:solidFill>
                  <a:srgbClr val="22333B"/>
                </a:solidFill>
                <a:latin typeface="Calibri" pitchFamily="34" charset="0"/>
                <a:ea typeface="Calibri" pitchFamily="34" charset="-122"/>
                <a:cs typeface="Calibri" pitchFamily="34" charset="-120"/>
              </a:rPr>
              <a:t>The same ablation run on the regression models gives R² 0.58 and 0.67, so both tasks agree. On the read-across margin, the models beat nearest-neighbour lookup by 0.06 and 0.08 MCC. That margin is narrower than on regression, and expectedly so: a compound and its closest structural neighbour usually fall on the same side of a 100 nM threshold, so lookup is already strong there. The classifier still beats it, on every one of the four checks.</a:t>
            </a:r>
            <a:endParaRPr lang="en-US" sz="1200" dirty="0"/>
          </a:p>
        </p:txBody>
      </p:sp>
      <p:sp>
        <p:nvSpPr>
          <p:cNvPr id="18" name="Text 16"/>
          <p:cNvSpPr/>
          <p:nvPr/>
        </p:nvSpPr>
        <p:spPr>
          <a:xfrm>
            <a:off x="548640" y="5577840"/>
            <a:ext cx="11091672" cy="365760"/>
          </a:xfrm>
          <a:prstGeom prst="rect">
            <a:avLst/>
          </a:prstGeom>
          <a:noFill/>
          <a:ln/>
        </p:spPr>
        <p:txBody>
          <a:bodyPr wrap="square" rtlCol="0" anchor="ctr"/>
          <a:lstStyle/>
          <a:p>
            <a:pPr algn="ctr" indent="0" marL="0">
              <a:buNone/>
            </a:pPr>
            <a:r>
              <a:rPr lang="en-US" sz="1200" i="1" dirty="0">
                <a:solidFill>
                  <a:srgbClr val="60727A"/>
                </a:solidFill>
                <a:latin typeface="Calibri" pitchFamily="34" charset="0"/>
                <a:ea typeface="Calibri" pitchFamily="34" charset="-122"/>
                <a:cs typeface="Calibri" pitchFamily="34" charset="-120"/>
              </a:rPr>
              <a:t>Same scaffold split, same 12 partitions, same 100 permutations as the regression controls.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What this work does not establish</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48640" y="1874520"/>
            <a:ext cx="3520440" cy="2057400"/>
          </a:xfrm>
          <a:prstGeom prst="roundRect">
            <a:avLst>
              <a:gd name="adj" fmla="val 4000"/>
            </a:avLst>
          </a:prstGeom>
          <a:solidFill>
            <a:srgbClr val="E9F1F0"/>
          </a:solidFill>
          <a:ln/>
        </p:spPr>
      </p:sp>
      <p:sp>
        <p:nvSpPr>
          <p:cNvPr id="7" name="Text 5"/>
          <p:cNvSpPr/>
          <p:nvPr/>
        </p:nvSpPr>
        <p:spPr>
          <a:xfrm>
            <a:off x="822960" y="207568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Pooled Ki labels</a:t>
            </a:r>
            <a:endParaRPr lang="en-US" sz="1500" dirty="0"/>
          </a:p>
        </p:txBody>
      </p:sp>
      <p:sp>
        <p:nvSpPr>
          <p:cNvPr id="8" name="Text 6"/>
          <p:cNvSpPr/>
          <p:nvPr/>
        </p:nvSpPr>
        <p:spPr>
          <a:xfrm>
            <a:off x="822960" y="2551176"/>
            <a:ext cx="2971800" cy="116128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Ki values come from many assays and laboratories. Inter-laboratory reproducibility is only ~0.5 log units, which sets a floor on achievable error.</a:t>
            </a:r>
            <a:endParaRPr lang="en-US" sz="1150" dirty="0"/>
          </a:p>
        </p:txBody>
      </p:sp>
      <p:sp>
        <p:nvSpPr>
          <p:cNvPr id="9" name="Shape 7"/>
          <p:cNvSpPr/>
          <p:nvPr/>
        </p:nvSpPr>
        <p:spPr>
          <a:xfrm>
            <a:off x="4251960" y="1874520"/>
            <a:ext cx="3520440" cy="2057400"/>
          </a:xfrm>
          <a:prstGeom prst="roundRect">
            <a:avLst>
              <a:gd name="adj" fmla="val 4000"/>
            </a:avLst>
          </a:prstGeom>
          <a:solidFill>
            <a:srgbClr val="F5ECE6"/>
          </a:solidFill>
          <a:ln/>
        </p:spPr>
      </p:sp>
      <p:sp>
        <p:nvSpPr>
          <p:cNvPr id="10" name="Text 8"/>
          <p:cNvSpPr/>
          <p:nvPr/>
        </p:nvSpPr>
        <p:spPr>
          <a:xfrm>
            <a:off x="4526280" y="207568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Two targets only</a:t>
            </a:r>
            <a:endParaRPr lang="en-US" sz="1500" dirty="0"/>
          </a:p>
        </p:txBody>
      </p:sp>
      <p:sp>
        <p:nvSpPr>
          <p:cNvPr id="11" name="Text 9"/>
          <p:cNvSpPr/>
          <p:nvPr/>
        </p:nvSpPr>
        <p:spPr>
          <a:xfrm>
            <a:off x="4526280" y="2551176"/>
            <a:ext cx="2971800" cy="116128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5-HT₂A and D₃ were chosen for data density. The pipeline is general, but the numbers are not yet shown to transfer across the receptor panel.</a:t>
            </a:r>
            <a:endParaRPr lang="en-US" sz="1150" dirty="0"/>
          </a:p>
        </p:txBody>
      </p:sp>
      <p:sp>
        <p:nvSpPr>
          <p:cNvPr id="12" name="Shape 10"/>
          <p:cNvSpPr/>
          <p:nvPr/>
        </p:nvSpPr>
        <p:spPr>
          <a:xfrm>
            <a:off x="7955280" y="1874520"/>
            <a:ext cx="3520440" cy="2057400"/>
          </a:xfrm>
          <a:prstGeom prst="roundRect">
            <a:avLst>
              <a:gd name="adj" fmla="val 4000"/>
            </a:avLst>
          </a:prstGeom>
          <a:solidFill>
            <a:srgbClr val="E9F1F0"/>
          </a:solidFill>
          <a:ln/>
        </p:spPr>
      </p:sp>
      <p:sp>
        <p:nvSpPr>
          <p:cNvPr id="13" name="Text 11"/>
          <p:cNvSpPr/>
          <p:nvPr/>
        </p:nvSpPr>
        <p:spPr>
          <a:xfrm>
            <a:off x="8229600" y="207568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2D representation</a:t>
            </a:r>
            <a:endParaRPr lang="en-US" sz="1500" dirty="0"/>
          </a:p>
        </p:txBody>
      </p:sp>
      <p:sp>
        <p:nvSpPr>
          <p:cNvPr id="14" name="Text 12"/>
          <p:cNvSpPr/>
          <p:nvPr/>
        </p:nvSpPr>
        <p:spPr>
          <a:xfrm>
            <a:off x="8229600" y="2551176"/>
            <a:ext cx="2971800" cy="116128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ECFP4 and 2D descriptors carry no explicit conformation or protein structure, so binding-mode effects are invisible to the model.</a:t>
            </a:r>
            <a:endParaRPr lang="en-US" sz="1150" dirty="0"/>
          </a:p>
        </p:txBody>
      </p:sp>
      <p:sp>
        <p:nvSpPr>
          <p:cNvPr id="15" name="Shape 13"/>
          <p:cNvSpPr/>
          <p:nvPr/>
        </p:nvSpPr>
        <p:spPr>
          <a:xfrm>
            <a:off x="548640" y="4114800"/>
            <a:ext cx="3520440" cy="1554480"/>
          </a:xfrm>
          <a:prstGeom prst="roundRect">
            <a:avLst>
              <a:gd name="adj" fmla="val 5294"/>
            </a:avLst>
          </a:prstGeom>
          <a:solidFill>
            <a:srgbClr val="F5ECE6"/>
          </a:solidFill>
          <a:ln/>
        </p:spPr>
      </p:sp>
      <p:sp>
        <p:nvSpPr>
          <p:cNvPr id="16" name="Text 14"/>
          <p:cNvSpPr/>
          <p:nvPr/>
        </p:nvSpPr>
        <p:spPr>
          <a:xfrm>
            <a:off x="822960" y="431596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No external test set</a:t>
            </a:r>
            <a:endParaRPr lang="en-US" sz="1500" dirty="0"/>
          </a:p>
        </p:txBody>
      </p:sp>
      <p:sp>
        <p:nvSpPr>
          <p:cNvPr id="17" name="Text 15"/>
          <p:cNvSpPr/>
          <p:nvPr/>
        </p:nvSpPr>
        <p:spPr>
          <a:xfrm>
            <a:off x="822960" y="4791456"/>
            <a:ext cx="2971800" cy="65836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Validation is internal, albeit leakage-controlled and repeated. A prospective or external set would be the stronger claim.</a:t>
            </a:r>
            <a:endParaRPr lang="en-US" sz="1150" dirty="0"/>
          </a:p>
        </p:txBody>
      </p:sp>
      <p:sp>
        <p:nvSpPr>
          <p:cNvPr id="18" name="Shape 16"/>
          <p:cNvSpPr/>
          <p:nvPr/>
        </p:nvSpPr>
        <p:spPr>
          <a:xfrm>
            <a:off x="4251960" y="4114800"/>
            <a:ext cx="3520440" cy="1554480"/>
          </a:xfrm>
          <a:prstGeom prst="roundRect">
            <a:avLst>
              <a:gd name="adj" fmla="val 5294"/>
            </a:avLst>
          </a:prstGeom>
          <a:solidFill>
            <a:srgbClr val="E9F1F0"/>
          </a:solidFill>
          <a:ln/>
        </p:spPr>
      </p:sp>
      <p:sp>
        <p:nvSpPr>
          <p:cNvPr id="19" name="Text 17"/>
          <p:cNvSpPr/>
          <p:nvPr/>
        </p:nvSpPr>
        <p:spPr>
          <a:xfrm>
            <a:off x="4526280" y="431596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Binder-only library</a:t>
            </a:r>
            <a:endParaRPr lang="en-US" sz="1500" dirty="0"/>
          </a:p>
        </p:txBody>
      </p:sp>
      <p:sp>
        <p:nvSpPr>
          <p:cNvPr id="20" name="Text 18"/>
          <p:cNvSpPr/>
          <p:nvPr/>
        </p:nvSpPr>
        <p:spPr>
          <a:xfrm>
            <a:off x="4526280" y="4791456"/>
            <a:ext cx="2971800" cy="65836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Potency ranking within binders, not binder versus non-binder discrimination.</a:t>
            </a:r>
            <a:endParaRPr lang="en-US" sz="1150" dirty="0"/>
          </a:p>
        </p:txBody>
      </p:sp>
      <p:sp>
        <p:nvSpPr>
          <p:cNvPr id="21" name="Shape 19"/>
          <p:cNvSpPr/>
          <p:nvPr/>
        </p:nvSpPr>
        <p:spPr>
          <a:xfrm>
            <a:off x="7955280" y="4114800"/>
            <a:ext cx="3520440" cy="1554480"/>
          </a:xfrm>
          <a:prstGeom prst="roundRect">
            <a:avLst>
              <a:gd name="adj" fmla="val 5294"/>
            </a:avLst>
          </a:prstGeom>
          <a:solidFill>
            <a:srgbClr val="F5ECE6"/>
          </a:solidFill>
          <a:ln/>
        </p:spPr>
      </p:sp>
      <p:sp>
        <p:nvSpPr>
          <p:cNvPr id="22" name="Text 20"/>
          <p:cNvSpPr/>
          <p:nvPr/>
        </p:nvSpPr>
        <p:spPr>
          <a:xfrm>
            <a:off x="8229600" y="4315968"/>
            <a:ext cx="2971800"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Scope of tuning and ablation</a:t>
            </a:r>
            <a:endParaRPr lang="en-US" sz="1500" dirty="0"/>
          </a:p>
        </p:txBody>
      </p:sp>
      <p:sp>
        <p:nvSpPr>
          <p:cNvPr id="23" name="Text 21"/>
          <p:cNvSpPr/>
          <p:nvPr/>
        </p:nvSpPr>
        <p:spPr>
          <a:xfrm>
            <a:off x="8229600" y="4791456"/>
            <a:ext cx="2971800" cy="658368"/>
          </a:xfrm>
          <a:prstGeom prst="rect">
            <a:avLst/>
          </a:prstGeom>
          <a:noFill/>
          <a:ln/>
        </p:spPr>
        <p:txBody>
          <a:bodyPr wrap="square" rtlCol="0" anchor="t"/>
          <a:lstStyle/>
          <a:p>
            <a:pPr indent="0" marL="0">
              <a:lnSpc>
                <a:spcPct val="112000"/>
              </a:lnSpc>
              <a:buNone/>
            </a:pPr>
            <a:r>
              <a:rPr lang="en-US" sz="1150" dirty="0">
                <a:solidFill>
                  <a:srgbClr val="22333B"/>
                </a:solidFill>
                <a:latin typeface="Calibri" pitchFamily="34" charset="0"/>
                <a:ea typeface="Calibri" pitchFamily="34" charset="-122"/>
                <a:cs typeface="Calibri" pitchFamily="34" charset="-120"/>
              </a:rPr>
              <a:t>Hyperparameters are fixed sensible defaults, not per-fold tuned; nested CV would be the rigorous protocol. The promiscuity ablation covers the regression models only, not the classifiers.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indent="0" marL="0">
              <a:buNone/>
            </a:pPr>
            <a:r>
              <a:rPr lang="en-US" sz="1200" b="1" spc="300" kern="0" dirty="0">
                <a:solidFill>
                  <a:srgbClr val="116E64"/>
                </a:solidFill>
                <a:latin typeface="Calibri" pitchFamily="34" charset="0"/>
                <a:ea typeface="Calibri" pitchFamily="34" charset="-122"/>
                <a:cs typeface="Calibri" pitchFamily="34" charset="-120"/>
              </a:rPr>
              <a:t>CONCLUSIONS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indent="0" marL="0">
              <a:buNone/>
            </a:pPr>
            <a:r>
              <a:rPr lang="en-US" sz="2900" b="1" dirty="0">
                <a:solidFill>
                  <a:srgbClr val="22333B"/>
                </a:solidFill>
                <a:latin typeface="Cambria" pitchFamily="34" charset="0"/>
                <a:ea typeface="Cambria" pitchFamily="34" charset="-122"/>
                <a:cs typeface="Cambria" pitchFamily="34" charset="-120"/>
              </a:rPr>
              <a:t>Contributions and next steps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indent="0" marL="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algn="r" indent="0" marL="0">
              <a:buNone/>
            </a:pPr>
            <a:r>
              <a:rPr lang="en-US" sz="900" dirty="0">
                <a:solidFill>
                  <a:srgbClr val="60727A"/>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48640" y="1737360"/>
            <a:ext cx="11091672" cy="4572000"/>
          </a:xfrm>
          <a:prstGeom prst="rect">
            <a:avLst/>
          </a:prstGeom>
          <a:noFill/>
          <a:ln/>
        </p:spPr>
        <p:txBody>
          <a:bodyPr wrap="square" rtlCol="0" anchor="t"/>
          <a:lstStyle/>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A curated clinical-stage GPCR ligand dataset that did not exist in this form: 719 molecules, 3,011 records, characterised across fifteen descriptors.</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As a virtual screen, the strongest result: MCC 0.63 on both receptors, with top-1% enrichment at 98% of its achievable ceiling and honest probabilities.</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Underneath it, a leakage-controlled affinity model at scaffold R² 0.56–0.64, with chance, baseline and robustness controls behind every number.</a:t>
            </a:r>
            <a:endParaRPr lang="en-US" sz="1450" dirty="0"/>
          </a:p>
          <a:p>
            <a:pPr marL="177800" indent="-177800">
              <a:spcAft>
                <a:spcPts val="800"/>
              </a:spcAft>
              <a:buSzPct val="100000"/>
              <a:buChar char="•"/>
            </a:pPr>
            <a:r>
              <a:rPr lang="en-US" sz="1450" dirty="0">
                <a:solidFill>
                  <a:srgbClr val="22333B"/>
                </a:solidFill>
                <a:latin typeface="Calibri" pitchFamily="34" charset="0"/>
                <a:ea typeface="Calibri" pitchFamily="34" charset="-122"/>
                <a:cs typeface="Calibri" pitchFamily="34" charset="-120"/>
              </a:rPr>
              <a:t>SHAP shows the two receptors are driven by different property families: charge for 5-HT₂A, molecular topology for D₃.</a:t>
            </a:r>
            <a:endParaRPr lang="en-US" sz="1450" dirty="0"/>
          </a:p>
        </p:txBody>
      </p:sp>
      <p:sp>
        <p:nvSpPr>
          <p:cNvPr id="7" name="Shape 5"/>
          <p:cNvSpPr/>
          <p:nvPr/>
        </p:nvSpPr>
        <p:spPr>
          <a:xfrm>
            <a:off x="548640" y="4041648"/>
            <a:ext cx="11091672" cy="896112"/>
          </a:xfrm>
          <a:prstGeom prst="roundRect">
            <a:avLst>
              <a:gd name="adj" fmla="val 9184"/>
            </a:avLst>
          </a:prstGeom>
          <a:solidFill>
            <a:srgbClr val="F5ECE6"/>
          </a:solidFill>
          <a:ln/>
        </p:spPr>
      </p:sp>
      <p:sp>
        <p:nvSpPr>
          <p:cNvPr id="8" name="Text 6"/>
          <p:cNvSpPr/>
          <p:nvPr/>
        </p:nvSpPr>
        <p:spPr>
          <a:xfrm>
            <a:off x="868680" y="4041648"/>
            <a:ext cx="10451592" cy="896112"/>
          </a:xfrm>
          <a:prstGeom prst="rect">
            <a:avLst/>
          </a:prstGeom>
          <a:noFill/>
          <a:ln/>
        </p:spPr>
        <p:txBody>
          <a:bodyPr wrap="square" rtlCol="0" anchor="ctr"/>
          <a:lstStyle/>
          <a:p>
            <a:pPr indent="0" marL="0">
              <a:buNone/>
            </a:pPr>
            <a:r>
              <a:rPr lang="en-US" sz="1250" b="1" dirty="0">
                <a:solidFill>
                  <a:srgbClr val="22333B"/>
                </a:solidFill>
                <a:latin typeface="Calibri" pitchFamily="34" charset="0"/>
                <a:ea typeface="Calibri" pitchFamily="34" charset="-122"/>
                <a:cs typeface="Calibri" pitchFamily="34" charset="-120"/>
              </a:rPr>
              <a:t>The contribution is not a record score.  </a:t>
            </a:r>
            <a:pPr indent="0" marL="0">
              <a:buNone/>
            </a:pPr>
            <a:r>
              <a:rPr lang="en-US" sz="1250" dirty="0">
                <a:solidFill>
                  <a:srgbClr val="22333B"/>
                </a:solidFill>
                <a:latin typeface="Calibri" pitchFamily="34" charset="0"/>
                <a:ea typeface="Calibri" pitchFamily="34" charset="-122"/>
                <a:cs typeface="Calibri" pitchFamily="34" charset="-120"/>
              </a:rPr>
              <a:t>It is a number that survives a scaffold split, a permutation test, a nearest-neighbour baseline and a promiscuity ablation. Most single-target QSAR results are reported without any of the four. An MCC above 0.6 under those conditions is worth more than a higher figure obtained without them.</a:t>
            </a:r>
            <a:endParaRPr lang="en-US" sz="1250" dirty="0"/>
          </a:p>
        </p:txBody>
      </p:sp>
      <p:sp>
        <p:nvSpPr>
          <p:cNvPr id="9" name="Shape 7"/>
          <p:cNvSpPr/>
          <p:nvPr/>
        </p:nvSpPr>
        <p:spPr>
          <a:xfrm>
            <a:off x="548640" y="5047488"/>
            <a:ext cx="11091672" cy="1335024"/>
          </a:xfrm>
          <a:prstGeom prst="roundRect">
            <a:avLst>
              <a:gd name="adj" fmla="val 6164"/>
            </a:avLst>
          </a:prstGeom>
          <a:solidFill>
            <a:srgbClr val="E9F1F0"/>
          </a:solidFill>
          <a:ln/>
        </p:spPr>
      </p:sp>
      <p:sp>
        <p:nvSpPr>
          <p:cNvPr id="10" name="Text 8"/>
          <p:cNvSpPr/>
          <p:nvPr/>
        </p:nvSpPr>
        <p:spPr>
          <a:xfrm>
            <a:off x="822960" y="5248656"/>
            <a:ext cx="10543032" cy="411480"/>
          </a:xfrm>
          <a:prstGeom prst="rect">
            <a:avLst/>
          </a:prstGeom>
          <a:noFill/>
          <a:ln/>
        </p:spPr>
        <p:txBody>
          <a:bodyPr wrap="square" rtlCol="0" anchor="ctr"/>
          <a:lstStyle/>
          <a:p>
            <a:pPr indent="0" marL="0">
              <a:buNone/>
            </a:pPr>
            <a:r>
              <a:rPr lang="en-US" sz="1500" b="1" dirty="0">
                <a:solidFill>
                  <a:srgbClr val="22333B"/>
                </a:solidFill>
                <a:latin typeface="Cambria" pitchFamily="34" charset="0"/>
                <a:ea typeface="Cambria" pitchFamily="34" charset="-122"/>
                <a:cs typeface="Cambria" pitchFamily="34" charset="-120"/>
              </a:rPr>
              <a:t>Where this goes next</a:t>
            </a:r>
            <a:endParaRPr lang="en-US" sz="1500" dirty="0"/>
          </a:p>
        </p:txBody>
      </p:sp>
      <p:sp>
        <p:nvSpPr>
          <p:cNvPr id="11" name="Text 9"/>
          <p:cNvSpPr/>
          <p:nvPr/>
        </p:nvSpPr>
        <p:spPr>
          <a:xfrm>
            <a:off x="822960" y="5724144"/>
            <a:ext cx="10543032" cy="438912"/>
          </a:xfrm>
          <a:prstGeom prst="rect">
            <a:avLst/>
          </a:prstGeom>
          <a:noFill/>
          <a:ln/>
        </p:spPr>
        <p:txBody>
          <a:bodyPr wrap="square" rtlCol="0" anchor="t"/>
          <a:lstStyle/>
          <a:p>
            <a:pPr indent="0" marL="0">
              <a:lnSpc>
                <a:spcPct val="112000"/>
              </a:lnSpc>
              <a:buNone/>
            </a:pPr>
            <a:r>
              <a:rPr lang="en-US" sz="1250" dirty="0">
                <a:solidFill>
                  <a:srgbClr val="22333B"/>
                </a:solidFill>
                <a:latin typeface="Calibri" pitchFamily="34" charset="0"/>
                <a:ea typeface="Calibri" pitchFamily="34" charset="-122"/>
                <a:cs typeface="Calibri" pitchFamily="34" charset="-120"/>
              </a:rPr>
              <a:t>Extend across the receptor panel; move to three-dimensional or structure-aware representations; add inactive data so a genuine binder-versus-decoy screen becomes possible. The most direct next experiment: train on preclinical only, test on the held-out clinical set.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2026-09-15T19:12:08Z</dcterms:created>
  <dcterms:modified xsi:type="dcterms:W3CDTF">2026-09-15T19:12:08Z</dcterms:modified>
</cp:coreProperties>
</file>