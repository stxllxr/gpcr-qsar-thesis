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4" r:id="rId18"/>
    <p:sldId id="275" r:id="rId19"/>
    <p:sldId id="277" r:id="rId20"/>
    <p:sldId id="278" r:id="rId21"/>
    <p:sldId id="279" r:id="rId22"/>
    <p:sldId id="280" r:id="rId23"/>
    <p:sldId id="281" r:id="rId24"/>
    <p:sldId id="282" r:id="rId25"/>
    <p:sldId id="284" r:id="rId26"/>
    <p:sldId id="286" r:id="rId27"/>
    <p:sldId id="287" r:id="rId28"/>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8" d="100"/>
          <a:sy n="48" d="100"/>
        </p:scale>
        <p:origin x="53"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ECFP4 only</c:v>
                </c:pt>
              </c:strCache>
            </c:strRef>
          </c:tx>
          <c:spPr>
            <a:solidFill>
              <a:srgbClr val="8FB3AE"/>
            </a:solidFill>
            <a:effectLst/>
          </c:spPr>
          <c:invertIfNegative val="0"/>
          <c:dLbls>
            <c:numFmt formatCode="0.000" sourceLinked="0"/>
            <c:spPr>
              <a:noFill/>
              <a:ln>
                <a:noFill/>
              </a:ln>
              <a:effectLst/>
            </c:spPr>
            <c:txPr>
              <a:bodyPr/>
              <a:lstStyle/>
              <a:p>
                <a:pPr>
                  <a:defRPr sz="10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Sheet1!$B$2:$B$3</c:f>
              <c:numCache>
                <c:formatCode>General</c:formatCode>
                <c:ptCount val="2"/>
                <c:pt idx="0">
                  <c:v>0.54400000000000004</c:v>
                </c:pt>
                <c:pt idx="1">
                  <c:v>0.63900000000000001</c:v>
                </c:pt>
              </c:numCache>
            </c:numRef>
          </c:val>
          <c:extLst>
            <c:ext xmlns:c16="http://schemas.microsoft.com/office/drawing/2014/chart" uri="{C3380CC4-5D6E-409C-BE32-E72D297353CC}">
              <c16:uniqueId val="{00000000-15C7-4009-8F5F-EAAB3393C7E9}"/>
            </c:ext>
          </c:extLst>
        </c:ser>
        <c:ser>
          <c:idx val="1"/>
          <c:order val="1"/>
          <c:tx>
            <c:strRef>
              <c:f>Sheet1!$C$1</c:f>
              <c:strCache>
                <c:ptCount val="1"/>
                <c:pt idx="0">
                  <c:v>Descriptors only</c:v>
                </c:pt>
              </c:strCache>
            </c:strRef>
          </c:tx>
          <c:spPr>
            <a:solidFill>
              <a:srgbClr val="60727A"/>
            </a:solidFill>
            <a:effectLst/>
          </c:spPr>
          <c:invertIfNegative val="0"/>
          <c:dLbls>
            <c:numFmt formatCode="0.000" sourceLinked="0"/>
            <c:spPr>
              <a:noFill/>
              <a:ln>
                <a:noFill/>
              </a:ln>
              <a:effectLst/>
            </c:spPr>
            <c:txPr>
              <a:bodyPr/>
              <a:lstStyle/>
              <a:p>
                <a:pPr>
                  <a:defRPr sz="10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Sheet1!$C$2:$C$3</c:f>
              <c:numCache>
                <c:formatCode>General</c:formatCode>
                <c:ptCount val="2"/>
                <c:pt idx="0">
                  <c:v>0.52100000000000002</c:v>
                </c:pt>
                <c:pt idx="1">
                  <c:v>0.59799999999999998</c:v>
                </c:pt>
              </c:numCache>
            </c:numRef>
          </c:val>
          <c:extLst>
            <c:ext xmlns:c16="http://schemas.microsoft.com/office/drawing/2014/chart" uri="{C3380CC4-5D6E-409C-BE32-E72D297353CC}">
              <c16:uniqueId val="{00000001-15C7-4009-8F5F-EAAB3393C7E9}"/>
            </c:ext>
          </c:extLst>
        </c:ser>
        <c:ser>
          <c:idx val="2"/>
          <c:order val="2"/>
          <c:tx>
            <c:strRef>
              <c:f>Sheet1!$D$1</c:f>
              <c:strCache>
                <c:ptCount val="1"/>
                <c:pt idx="0">
                  <c:v>Fused</c:v>
                </c:pt>
              </c:strCache>
            </c:strRef>
          </c:tx>
          <c:spPr>
            <a:solidFill>
              <a:srgbClr val="116E64"/>
            </a:solidFill>
            <a:effectLst/>
          </c:spPr>
          <c:invertIfNegative val="0"/>
          <c:dLbls>
            <c:numFmt formatCode="0.000" sourceLinked="0"/>
            <c:spPr>
              <a:noFill/>
              <a:ln>
                <a:noFill/>
              </a:ln>
              <a:effectLst/>
            </c:spPr>
            <c:txPr>
              <a:bodyPr/>
              <a:lstStyle/>
              <a:p>
                <a:pPr>
                  <a:defRPr sz="10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Sheet1!$D$2:$D$3</c:f>
              <c:numCache>
                <c:formatCode>General</c:formatCode>
                <c:ptCount val="2"/>
                <c:pt idx="0">
                  <c:v>0.56200000000000006</c:v>
                </c:pt>
                <c:pt idx="1">
                  <c:v>0.64400000000000002</c:v>
                </c:pt>
              </c:numCache>
            </c:numRef>
          </c:val>
          <c:extLst>
            <c:ext xmlns:c16="http://schemas.microsoft.com/office/drawing/2014/chart" uri="{C3380CC4-5D6E-409C-BE32-E72D297353CC}">
              <c16:uniqueId val="{00000002-15C7-4009-8F5F-EAAB3393C7E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33B"/>
                </a:solidFill>
                <a:latin typeface="Calibri"/>
              </a:defRPr>
            </a:pPr>
            <a:endParaRPr lang="en-US"/>
          </a:p>
        </c:txPr>
        <c:crossAx val="2094734552"/>
        <c:crosses val="autoZero"/>
        <c:auto val="1"/>
        <c:lblAlgn val="ctr"/>
        <c:lblOffset val="100"/>
        <c:noMultiLvlLbl val="1"/>
      </c:catAx>
      <c:valAx>
        <c:axId val="2094734552"/>
        <c:scaling>
          <c:orientation val="minMax"/>
          <c:max val="0.75"/>
          <c:min val="0"/>
        </c:scaling>
        <c:delete val="0"/>
        <c:axPos val="l"/>
        <c:majorGridlines>
          <c:spPr>
            <a:ln w="12700" cap="flat">
              <a:solidFill>
                <a:srgbClr val="ECEC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2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33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Scaffold R²</c:v>
                </c:pt>
              </c:strCache>
            </c:strRef>
          </c:tx>
          <c:spPr>
            <a:solidFill>
              <a:srgbClr val="116E64"/>
            </a:solidFill>
            <a:effectLst/>
          </c:spPr>
          <c:invertIfNegative val="0"/>
          <c:dLbls>
            <c:numFmt formatCode="0.00" sourceLinked="0"/>
            <c:spPr>
              <a:noFill/>
              <a:ln>
                <a:noFill/>
              </a:ln>
              <a:effectLst/>
            </c:spPr>
            <c:txPr>
              <a:bodyPr/>
              <a:lstStyle/>
              <a:p>
                <a:pPr>
                  <a:defRPr sz="11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Sheet1!$B$2:$B$3</c:f>
              <c:numCache>
                <c:formatCode>General</c:formatCode>
                <c:ptCount val="2"/>
                <c:pt idx="0">
                  <c:v>0.56200000000000006</c:v>
                </c:pt>
                <c:pt idx="1">
                  <c:v>0.64400000000000002</c:v>
                </c:pt>
              </c:numCache>
            </c:numRef>
          </c:val>
          <c:extLst>
            <c:ext xmlns:c16="http://schemas.microsoft.com/office/drawing/2014/chart" uri="{C3380CC4-5D6E-409C-BE32-E72D297353CC}">
              <c16:uniqueId val="{00000000-343E-4D7A-A4DB-B4A7FCB4829D}"/>
            </c:ext>
          </c:extLst>
        </c:ser>
        <c:ser>
          <c:idx val="1"/>
          <c:order val="1"/>
          <c:tx>
            <c:strRef>
              <c:f>Sheet1!$C$1</c:f>
              <c:strCache>
                <c:ptCount val="1"/>
                <c:pt idx="0">
                  <c:v>10-fold CV R²</c:v>
                </c:pt>
              </c:strCache>
            </c:strRef>
          </c:tx>
          <c:spPr>
            <a:solidFill>
              <a:srgbClr val="BE5638"/>
            </a:solidFill>
            <a:effectLst/>
          </c:spPr>
          <c:invertIfNegative val="0"/>
          <c:dLbls>
            <c:numFmt formatCode="0.00" sourceLinked="0"/>
            <c:spPr>
              <a:noFill/>
              <a:ln>
                <a:noFill/>
              </a:ln>
              <a:effectLst/>
            </c:spPr>
            <c:txPr>
              <a:bodyPr/>
              <a:lstStyle/>
              <a:p>
                <a:pPr>
                  <a:defRPr sz="1100" b="0" i="0" u="none" strike="noStrike">
                    <a:solidFill>
                      <a:srgbClr val="22333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5-HT₂A</c:v>
                </c:pt>
                <c:pt idx="1">
                  <c:v>Dopamine D₃</c:v>
                </c:pt>
              </c:strCache>
            </c:strRef>
          </c:cat>
          <c:val>
            <c:numRef>
              <c:f>Sheet1!$C$2:$C$3</c:f>
              <c:numCache>
                <c:formatCode>General</c:formatCode>
                <c:ptCount val="2"/>
                <c:pt idx="0">
                  <c:v>0.67900000000000005</c:v>
                </c:pt>
                <c:pt idx="1">
                  <c:v>0.71699999999999997</c:v>
                </c:pt>
              </c:numCache>
            </c:numRef>
          </c:val>
          <c:extLst>
            <c:ext xmlns:c16="http://schemas.microsoft.com/office/drawing/2014/chart" uri="{C3380CC4-5D6E-409C-BE32-E72D297353CC}">
              <c16:uniqueId val="{00000001-343E-4D7A-A4DB-B4A7FCB4829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333B"/>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12700" cap="flat">
              <a:solidFill>
                <a:srgbClr val="ECEC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072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2333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99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morning. I'm Dagmawi Tarekegn Fikadu, and this is my thesis, supervised by Professor Giorgetti and Filippo Baldessari. It asks whether we can predict how strongly clinical-stage drugs bind their receptors, and whether that prediction can be trusted. That second half is the thread through the whole talk.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thesis starts from a repurposing question. Drugs that reached clinical trials have already cleared early safety testing in humans. So if one of them binds a receptor nobody tested it on, that is the cheapest route to a new therapy. Propranolol, a heart drug, now treats infant haemangiomas exactly that way.</a:t>
            </a:r>
          </a:p>
          <a:p>
            <a:r>
              <a:rPr lang="en-GB" dirty="0"/>
              <a:t>Finding those cases needs two things. A clean record of what these drugs bind: that is Part One. And a model that predicts binding where nobody has measured it. Part Two asks whether that prediction can be trusted.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the targets. G-protein-coupled receptors are the most productive drug-target class we have: about a third of approved drugs act through them. The aminergic family, serotonin, dopamine, adrenergic and muscarinic receptors, is especially rich in drugs. What I measure is binding affinity, Ki, on a log scale as pKi. Only one thing to remember: higher pKi means tighter binding.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One. From ChEMBL I took human binding data for every compound that reached clinical phases one to four. Under 700 daltons, salts removed, peptides excluded, very flexible molecules filtered out, duplicates collapsed to the highest affinity. That gives 3,011 records: 719 unique molecules against 47 targets, in 18 receptor families. I curated by clinical stage, not by potency, on purpose. This is chemistry that has already survived selection.</a:t>
            </a:r>
          </a:p>
          <a:p>
            <a:r>
              <a:rPr lang="en-GB" dirty="0"/>
              <a:t>And it's diverse: those 719 molecules sit on 511 different scaffolds, and 83 per cent of the scaffolds appear only once. So this is a broad sample of aminergic chemistry, not a few analogue series, and that is why, in Part Two, the models are tested on whole scaffolds they have never seen.</a:t>
            </a:r>
          </a:p>
          <a:p>
            <a:r>
              <a:rPr lang="en-GB" dirty="0"/>
              <a:t/>
            </a:r>
          </a:p>
          <a:p>
            <a:r>
              <a:rPr lang="en-GB" dirty="0" b="1"/>
              <a:t>HOLD — only if asked:</a:t>
            </a:r>
          </a:p>
          <a:p>
            <a:r>
              <a:rPr lang="en-GB" dirty="0"/>
              <a:t>a scaffold is the ring system plus the links between rings (Bemis–Murcko), side chains stripped off. · Clinical set: about 1.4 molecules per scaffold. The Part Two sets are less diverse — 1,936 scaffolds for 4,620 compounds and 2,607 for 5,488, about 2.4 and 2.1 per scaffold — because preclinical chemistry comes in analogue series: see question 3b.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set is strongly aminergic. Serotonin, adrenergic, dopamine, muscarinic and opioid receptors make up about 86 per cent of the records. And just over half of the drugs, 52 per cent, are approved. The rest reached phases one to three of clinical trials.</a:t>
            </a:r>
          </a:p>
          <a:p>
            <a:endParaRPr lang="en-GB" dirty="0"/>
          </a:p>
          <a:p>
            <a:r>
              <a:rPr lang="en-GB" b="1" dirty="0"/>
              <a:t>HOLD — only if asked:</a:t>
            </a:r>
          </a:p>
          <a:p>
            <a:r>
              <a:rPr lang="en-GB" dirty="0"/>
              <a:t>if someone quotes 70% from the thesis table, that is counted per row: approved drugs have more rows because they've been measured against more receptors. Per drug, it is 52%.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And this is the property that matters most for repurposing. These drugs are promiscuous. On average each molecule acts on 4.19 different targets, and 64.7 per cent act on more than one. Tamoxifen alone hits 31. It crosses families too: 38 per cent act on more than one receptor family.</a:t>
            </a:r>
          </a:p>
          <a:p>
            <a:r>
              <a:rPr lang="en-GB" dirty="0"/>
              <a:t>That matters twice. It is the opportunity repurposing exploits. And it is why, later, I remove the most promiscuous drugs and retrain, to check the models do not depend on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characterise this chemistry I computed fifteen descriptors for every compound. Eleven describe the molecule itself: size, lipophilicity, solubility, polarity, flexibility and shape, the properties that decide whether a drug can be taken orally and reach the brain.</a:t>
            </a:r>
          </a:p>
          <a:p>
            <a:r>
              <a:rPr lang="en-GB" dirty="0"/>
              <a:t>The other four are composite scores. QED rolls eight properties into one drug-likeness score, from zero to one. The other three set potency against what it cost. Ligand efficiency is potency per heavy atom. Lipophilic ligand efficiency is potency minus LogP: the binding you get beyond what greasiness alone would give. And LELP is LogP divided by ligand efficiency, where lower is better.</a:t>
            </a:r>
          </a:p>
          <a:p>
            <a:r>
              <a:rPr lang="en-GB" dirty="0"/>
              <a:t>Together they tell a clear story. The set is drug-like, median QED 0.69, and size-efficient: three quarters clear the usual ligand-efficiency threshold of 0.3. But only 23 per cent reach the lipophilic-efficiency target of five. Many of these compounds lean heavily on lipophilicity to bind, a known weakness of aminergic drugs.</a:t>
            </a:r>
          </a:p>
          <a:p>
            <a:r>
              <a:rPr lang="en-GB" dirty="0"/>
              <a:t>Hold on to the number fifteen: in Part Two it scales to about two hundred.</a:t>
            </a:r>
          </a:p>
          <a:p>
            <a:endParaRPr lang="en-GB" dirty="0"/>
          </a:p>
          <a:p>
            <a:r>
              <a:rPr lang="en-GB" b="1" dirty="0"/>
              <a:t>HOLD — only if asked:</a:t>
            </a:r>
          </a:p>
          <a:p>
            <a:r>
              <a:rPr lang="en-GB" dirty="0"/>
              <a:t>QED is computed from structure alone; only LE, LLE and LELP use the measured pKi (the slide's subtitle groups all four loosely). · Formulas: LE = 1.37 × pKi ÷ heavy atoms; LLE = pKi − LogP; LELP = LogP ÷ LE. · Thresholds and sources: QED ≥ 0.67 high (Bickerton 2012); LE ≥ 0.3 (Hopkins 2004); LLE ≥ 5 (Leeson &amp; Springthorpe 2007); LELP ≤ 7.5 optimal, &gt; 10 poor (Keserű &amp; Makara 2009). · 46.9% of records have poor LELP above 10. · The 1.37 converts pKi into kcal/mol of binding energy at room temperature.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That was lipophilicity. The other way to buy potency is size: add atoms, and affinity goes up. So is the potency in this dataset earned, or bought with size?</a:t>
            </a:r>
          </a:p>
          <a:p>
            <a:r>
              <a:rPr lang="en-GB" dirty="0"/>
              <a:t>Ligand efficiency answers that. On the right, efficiency falls steeply with size, Spearman minus 0.77. And the number that makes it concrete: compare the smallest compounds, twenty heavy atoms or fewer, with the largest, thirty-five or more. Median efficiency halves, from 0.52 to 0.24. Median affinity barely moves: 6.66 against 6.51. The extra size bought almost no potency. That is why efficiency, not raw potency, is the thing to optimise.</a:t>
            </a:r>
          </a:p>
          <a:p>
            <a:endParaRPr lang="en-GB" dirty="0"/>
          </a:p>
          <a:p>
            <a:r>
              <a:rPr lang="en-GB" b="1" dirty="0"/>
              <a:t>HOLD — only if asked:</a:t>
            </a:r>
          </a:p>
          <a:p>
            <a:r>
              <a:rPr lang="en-GB" dirty="0"/>
              <a:t>"≤20 heavy atoms" is roughly the smallest fifth (627 records), "≥35" the largest tenth (265). · Not cherry-picked: at ≤18/≥38, ≤22/≥33 or quartiles, LE always roughly halves and median pKi stays 6.5–7.0. · "LE has size in the denominator, so it must fall" — see question 7d. · These medians are per record; per molecule see question 7. · The efficiency axis is clipped at the 95th percentile, 0.65; every compound is still in the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Part One leaves me with an opportunity, a choice, and an obstacle.</a:t>
            </a:r>
          </a:p>
          <a:p>
            <a:r>
              <a:rPr lang="en-GB" dirty="0"/>
              <a:t>The opportunity: nearly two-thirds of these drugs act on more than one receptor, exactly what repurposing exploits. To use it, I need to predict binding where nobody has measured it.</a:t>
            </a:r>
          </a:p>
          <a:p>
            <a:r>
              <a:rPr lang="en-GB" dirty="0"/>
              <a:t>The choice: how to predict it. One route is docking: fit each molecule into a 3D structure of the receptor and score the fit. Docking is very good at showing how a molecule sits in the pocket, but its scores are a weak guide to how strongly it binds. The other route is to learn from measured affinities, and I had just curated thousands of them. For a question about binding strength, learning was the better fit. The two are complementary, and combining them is a natural next step.</a:t>
            </a:r>
          </a:p>
          <a:p>
            <a:r>
              <a:rPr lang="en-GB" dirty="0"/>
              <a:t>The obstacle: learning needs data. My first model, on the clinical compounds alone, reached an R-squared of only about 0.35. Was that the method, my curation, or simply too few compounds? To test it, I took the two richest receptors, serotonin 5-HT2A and dopamine D3, shown here with their natural ligands, and extended each with preclinical ChEMBL compounds under the same curation rules: from 172 and 173 compounds to 4,620 and 5,488.</a:t>
            </a:r>
          </a:p>
          <a:p>
            <a:r>
              <a:rPr lang="en-GB" dirty="0"/>
              <a:t>Adding data raises an obvious worry about leakage. Answering it is the heart of this work.</a:t>
            </a:r>
          </a:p>
          <a:p>
            <a:endParaRPr lang="en-GB" dirty="0"/>
          </a:p>
          <a:p>
            <a:r>
              <a:rPr lang="en-GB" b="1" dirty="0"/>
              <a:t>HOLD — only if asked:</a:t>
            </a:r>
          </a:p>
          <a:p>
            <a:r>
              <a:rPr lang="en-GB" dirty="0"/>
              <a:t>why not docking — see question 1b. · The initial ~0.35 is in the thesis Discussion, opening of the modelling section. · Roughly 27-fold and 32-fold expansion.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Part Two. The task in one line: a molecule goes in, a predicted pKi comes out. But a model is just a mathematical function. It takes numbers in and gives a number out. It cannot read a chemical drawing. So the first real step is translating each molecule into numbers, in two ways.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first is a fingerprint, ECFP4, shown here on tyrosine, the natural precursor of dopamine. Take each atom and look at its neighbourhood out to two bonds. On the left, that captures the carboxylic acid. In the middle, the carbon carrying the amine. On the right, the phenol: the OH on the ring. Each fragment is hashed into one of 2,048 slots and switches it on: present is one, absent is zero. The picture shows three, but every atom is read at three sizes, so tyrosine actually switches on 24 bits. Two things matter. The length is always 2,048, whatever the size of the molecule. And molecules that share fragments share bits.</a:t>
            </a:r>
          </a:p>
          <a:p>
            <a:endParaRPr lang="en-GB" dirty="0"/>
          </a:p>
          <a:p>
            <a:r>
              <a:rPr lang="en-GB" b="1" dirty="0"/>
              <a:t>HOLD — only if asked:</a:t>
            </a:r>
          </a:p>
          <a:p>
            <a:r>
              <a:rPr lang="en-GB" dirty="0"/>
              <a:t>13 heavy atoms → 24 bits. Each atom is read at radius 0 (itself), 1 (plus neighbours) and 2 (plus neighbours' neighbours); the "4" in ECFP4 is the diameter, four bonds. · Occasionally two different fragments land in the same slot, a collision: the price of a fixed length. · Similarity, by Tanimoto: tyrosine vs L-DOPA (one extra ring OH) 0.65; vs phenylalanine (one fewer OH) 0.70; vs dopamine only 0.25, because dopamine has lost the acid and gained an OH, and in a molecule this small two changes rewrite most local environments. · The fingerprint is stereo-blind: see question 7e.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second is descriptors: the fifteen from Part One, scaled up to about two hundred whole-molecule properties, like weight, lipophilicity, polar surface and charge. I join fingerprint and descriptors into one vector of 2,248 numbers. That is the only view of each molecule the model ever sees. Whether joining them actually helps, I tested rather than assumed.</a:t>
            </a:r>
          </a:p>
          <a:p>
            <a:endParaRPr lang="en-GB" dirty="0"/>
          </a:p>
          <a:p>
            <a:r>
              <a:rPr lang="en-GB" b="1" dirty="0"/>
              <a:t>HOLD — only if asked:</a:t>
            </a:r>
          </a:p>
          <a:p>
            <a:r>
              <a:rPr lang="en-GB" dirty="0"/>
              <a:t>DescriptaStorus is an open-source library built on RDKit (by Brian Kelley) that computes a standard panel of exactly 200 2D descriptors in one call; it is the same panel the Chemprop deep-learning package uses. · "Normalised" means each value is replaced by its percentile against a large reference set of molecules, so everything sits between 0 and 1. Tyrosine's molecular weight, 181, becomes 0.01: lighter than 99% of the reference. · Those reference distributions ship with the library, so normalisation uses nothing from my data and cannot leak test-set information. · Why normalise for trees: question 7g.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models are tree ensembles. Random Forest builds hundreds of decision trees on random subsets and averages them, so their errors cancel. XGBoost adds trees one after another, each correcting the mistakes of the last. I also ran a third, CatBoost, only to check the result does not depend on one method. At this data size, tree ensembles are competitive, robust, and much easier to interpret than deep learning.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part I care most about, so I will slow down.</a:t>
            </a:r>
          </a:p>
          <a:p>
            <a:r>
              <a:rPr lang="en-GB" dirty="0"/>
              <a:t>The obvious test is a random split: hide twenty per cent of the compounds and train on the rest. On this kind of data it is misleading. Medicinal chemistry is full of analogue series, dozens of small variations on one core. A random split puts near-identical analogues on both sides, so the model just recognises what it has already seen. The score looks excellent, and it is inflated.</a:t>
            </a:r>
          </a:p>
          <a:p>
            <a:r>
              <a:rPr lang="en-GB" dirty="0"/>
              <a:t>The fix is to split by family. A scaffold is the core skeleton of a molecule: strip off the side chains, keep the rings and the links between them. Whole scaffold families go to one side together, so every test compound is chemistry the model has genuinely never seen. I repeat this twelve times with different random splits and report the mean.</a:t>
            </a:r>
          </a:p>
          <a:p>
            <a:r>
              <a:rPr lang="en-GB" dirty="0"/>
              <a:t>The score drops. And that drop is the point. It is the honest number.</a:t>
            </a:r>
          </a:p>
          <a:p>
            <a:endParaRPr lang="en-GB" dirty="0"/>
          </a:p>
          <a:p>
            <a:r>
              <a:rPr lang="en-GB" b="1" dirty="0"/>
              <a:t>HOLD — only if asked:</a:t>
            </a:r>
          </a:p>
          <a:p>
            <a:r>
              <a:rPr lang="en-GB" dirty="0"/>
              <a:t>grouping is by the exact Bemis–Murcko scaffold, not by similarity. For the stricter similarity-based split, see question 2 below. This is the most likely technical question of the 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the results. With fused features and XGBoost, the scaffold-split R-squared is 0.56 for 5-HT2A and 0.64 for D3, up from about 0.35 on the clinical compounds alone. So most of that ceiling was the data, and the learning curve in a moment shows exactly how.</a:t>
            </a:r>
          </a:p>
          <a:p>
            <a:r>
              <a:rPr lang="en-GB" dirty="0"/>
              <a:t>The other bars are the test I promised: was fusing worth it? For 5-HT2A, yes, modestly: together beats either part alone. For D3 the fingerprint already carries nearly everything, so fusion ties. The error is 0.81 and 0.76 log units, about one and a half times the disagreement between laboratories. And Random Forest and CatBoost land in the same place, so performance is set by the data, not by the learner.</a:t>
            </a:r>
          </a:p>
          <a:p>
            <a:endParaRPr lang="en-GB" dirty="0"/>
          </a:p>
          <a:p>
            <a:r>
              <a:rPr lang="en-GB" b="1" dirty="0"/>
              <a:t>HOLD — only if asked:</a:t>
            </a:r>
          </a:p>
          <a:p>
            <a:r>
              <a:rPr lang="en-GB" dirty="0"/>
              <a:t>bar values: fingerprint alone 0.544 and 0.639, descriptors alone 0.521 and 0.598, fused 0.562 and 0.644. Descriptors alone are weakest on both targets: whole-molecule properties matter, but substructure matters more. · Inter-laboratory noise is about 0.5 log units, so 0.81 and 0.76 are 1.6 and 1.5 times that floor.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are the actual predictions on held-out compounds, both targets on the same axes. One thing first: the R-squared in the titles, 0.60 and 0.63, is for this single split. The twelve-split means are the 0.56 and 0.64 you just saw.</a:t>
            </a:r>
          </a:p>
          <a:p>
            <a:r>
              <a:rPr lang="en-GB" dirty="0"/>
              <a:t>The message is the slope: 0.58 and 0.61, not one. Look at the red bars. At the weak end the model over-predicts by about one log unit; at the potent end it under-predicts by one to one and a half. It pulls the extremes toward the middle, which is what a model minimising average error does. So the ranking is reliable, but absolute values are conservative at the potent end.</a:t>
            </a:r>
          </a:p>
          <a:p>
            <a:endParaRPr lang="en-GB" dirty="0"/>
          </a:p>
          <a:p>
            <a:r>
              <a:rPr lang="en-GB" b="1" dirty="0"/>
              <a:t>HOLD — only if asked:</a:t>
            </a:r>
          </a:p>
          <a:p>
            <a:r>
              <a:rPr lang="en-GB" dirty="0"/>
              <a:t>the predicted spread is about three quarters of the measured spread (SD 0.92 vs 1.24, and 0.98 vs 1.28).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how we know the gain came from data. I trained on growing subsets and measured R-squared on held-out compounds each time, five scaffold splits per point.</a:t>
            </a:r>
          </a:p>
          <a:p>
            <a:r>
              <a:rPr lang="en-GB" dirty="0"/>
              <a:t>R-squared climbs steeply, then flattens. For 5-HT2A it goes from 0.25 with 200 training compounds to 0.56 with the full set. But the first thousand compounds deliver most of that; the last seventeen hundred add less than 0.01.</a:t>
            </a:r>
          </a:p>
          <a:p>
            <a:r>
              <a:rPr lang="en-GB" dirty="0"/>
              <a:t>That flat tail is the important part. The model is near the ceiling you can reach from one target's data with this representation. More of the same data will not help. To go further you have to share information across targets, and that is where this thesis ends up.</a:t>
            </a:r>
          </a:p>
          <a:p>
            <a:endParaRPr lang="en-GB" dirty="0"/>
          </a:p>
          <a:p>
            <a:r>
              <a:rPr lang="en-GB" b="1" dirty="0"/>
              <a:t>HOLD — only if asked:</a:t>
            </a:r>
          </a:p>
          <a:p>
            <a:r>
              <a:rPr lang="en-GB" dirty="0"/>
              <a:t>the x-axis stops at 3,696 and 4,390 because that is the 80% training pool; the other 924 and 1,098 compounds are the test set. · D3 sits above 5-HT2A at every matched training size, so its relationship is easier to learn, not just better supplied.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more look at what the scaffold split costs. Standard ten-fold cross-validation lets close analogues fall on both sides of every split. It would report 0.68 and 0.72. The scaffold split reports 0.56 and 0.64. That gap of about 0.1 is exactly the inflation the scaffold split removes. Both numbers are in the thesis so the gap is explicit, and the lower one is the number I stand behind.</a:t>
            </a:r>
          </a:p>
          <a:p>
            <a:endParaRPr lang="en-GB" dirty="0"/>
          </a:p>
          <a:p>
            <a:r>
              <a:rPr lang="en-GB" b="1" dirty="0"/>
              <a:t>HOLD — only if asked:</a:t>
            </a:r>
          </a:p>
          <a:p>
            <a:r>
              <a:rPr lang="en-GB" dirty="0"/>
              <a:t>cross-validation RMSE is 0.70 and 0.69, against 0.81 and 0.76 on the scaffold split.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controls stand behind these numbers.</a:t>
            </a:r>
          </a:p>
          <a:p>
            <a:r>
              <a:rPr lang="en-GB" dirty="0"/>
              <a:t>First, chance. I shuffled the affinity labels and retrained a hundred times. R-squared collapsed every time, and no shuffled model reached the real one: p equals 0.0099, the floor for a hundred permutations.</a:t>
            </a:r>
          </a:p>
          <a:p>
            <a:r>
              <a:rPr lang="en-GB" dirty="0"/>
              <a:t>Second, the harder one. The most deflating explanation for a good score is that the model has simply memorised which training compound each test compound looks like. So I built exactly that as a baseline: give each test compound the affinity of its most similar training compound. No learning at all. That reaches 0.35 and 0.44. The models reach 0.56 and 0.64, about 0.2 higher. They are learning structure-activity relationships, not doing a disguised lookup.</a:t>
            </a:r>
          </a:p>
          <a:p>
            <a:endParaRPr lang="en-GB" dirty="0"/>
          </a:p>
          <a:p>
            <a:r>
              <a:rPr lang="en-GB" b="1" dirty="0"/>
              <a:t>HOLD — only if asked:</a:t>
            </a:r>
          </a:p>
          <a:p>
            <a:r>
              <a:rPr lang="en-GB" dirty="0"/>
              <a:t>the permutation test has its own section, 3.5.4, and figure in the thesis. Read-across exact values: 0.347 and 0.435.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Remember the promiscuous drugs from Part One. A fair worry is that the models lean on a handful of famous multi-target compounds. So I removed every compound hitting five or more targets, 136 for 5-HT2A and 117 for D3, and retrained. R-squared did not drop. It rose slightly: 0.56 to 0.58, and 0.64 to 0.67. If anything, those compounds are harder to fit.</a:t>
            </a:r>
          </a:p>
          <a:p>
            <a:endParaRPr lang="en-GB" dirty="0"/>
          </a:p>
          <a:p>
            <a:r>
              <a:rPr lang="en-GB" b="1" dirty="0"/>
              <a:t>HOLD — only if asked:</a:t>
            </a:r>
          </a:p>
          <a:p>
            <a:r>
              <a:rPr lang="en-GB" dirty="0"/>
              <a:t>why removal helps: a molecule built to hit many targets sits where any single target's structure-activity relationship is weaker. · Classifier version: see question 11.</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Last question for the regression: what is the model actually using? SHAP traces each prediction back to the input features. The two receptors rely on different chemistry. 5-HT2A is driven mostly by charge and electrostatic descriptors. D3 leans on shape and branching, topological indices like Balaban J. That split is chemically sensible, and it means the models are not black boxes.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the same models as a screening tool, which is closer to how they would actually be used, and back toward repurposing. First, the task itself. Every compound here is a measured binder, so I am not separating binders from non-binders. I am separating potent from weak. The cut is 100 nanomolar, the solid line. That splits the libraries 59 to 41 and 67 to 33: two real classes.</a:t>
            </a:r>
          </a:p>
          <a:p>
            <a:r>
              <a:rPr lang="en-GB" dirty="0"/>
              <a:t>Why not 1 micromolar, the usual screening cut-off? That is the dashed line. Almost everything here binds at least that well, so 85 and 87 per cent would be called active, and MCC, which I will define in a moment, falls from 0.63 to 0.35 and 0.43. The threshold is not tuned to flatter the result. It is where this library actually has two classes.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classifier itself, on one representative split: the one closest to the median, not the best. Read the top-left of each panel. For 5-HT2A, 444 of 534 true actives found, and 325 of 393 inactives correctly rejected: 68 false alarms, 90 misses. For D3, 637 of 731 actives found. Notice the balance: it is not just calling everything active. Every metric on the next slide can be recomputed from these four numbers.</a:t>
            </a:r>
          </a:p>
          <a:p>
            <a:endParaRPr lang="en-GB" dirty="0"/>
          </a:p>
          <a:p>
            <a:r>
              <a:rPr lang="en-GB" b="1" dirty="0"/>
              <a:t>HOLD — only if asked:</a:t>
            </a:r>
          </a:p>
          <a:p>
            <a:r>
              <a:rPr lang="en-GB" dirty="0"/>
              <a:t>this split is seed 10; its MCC is 0.654 and 0.639 against twelve-split means of 0.635 and 0.632. · Recall and specificity are both 0.83 for 5-HT2A; for D3, 0.87 and 0.77.</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metrics, and what they mean, because a number alone means nothing.</a:t>
            </a:r>
          </a:p>
          <a:p>
            <a:r>
              <a:rPr lang="en-GB" dirty="0"/>
              <a:t>MCC first. Accuracy lies when one class dominates. This library is 59 and 67 per cent active, so a model that always says "active" scores 59 per cent and is useless. The Matthews correlation coefficient uses all four cells you just saw, so it only rises when both classes are called correctly. Plus one is perfect, zero is chance. Ours is 0.635 and 0.632, across twelve scaffold splits.</a:t>
            </a:r>
          </a:p>
          <a:p>
            <a:r>
              <a:rPr lang="en-GB" dirty="0"/>
              <a:t>Enrichment second. Rank the library by prediction, take the top one per cent, and ask how much richer in actives it is than the library overall. One means random. Ours is 1.67 and 1.46, which sounds modest until you know the ceiling. Because the library is mostly active, the maximum possible is 1.69 and 1.49. We are at 98 per cent of the maximum.</a:t>
            </a:r>
          </a:p>
          <a:p>
            <a:r>
              <a:rPr lang="en-GB" dirty="0"/>
              <a:t/>
            </a:r>
          </a:p>
          <a:p>
            <a:r>
              <a:rPr lang="en-GB" dirty="0" b="1"/>
              <a:t>HOLD — only if asked:</a:t>
            </a:r>
          </a:p>
          <a:p>
            <a:r>
              <a:rPr lang="en-GB" dirty="0"/>
              <a:t>ROC-AUC is about 0.90 for 5-HT2A and 0.92 for D3: see question 6. · All three learners give MCC 0.61–0.64. · If anyone asks you to compare MCC with R²: see question 6b. · The top 1% is about nine compounds per split, averaged over twelve splits: see question 6c.</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Last result. Does the classifier rely on the same chemistry as the regression? I ran SHAP again. The rank agreement between the two is 0.90 for 5-HT2A and 0.87 for D3. Ask the model a different question, and it leans on the same features. Charge-related surface areas still lead for 5-HT2A; for D3, Balaban J alone carries 18 per cent of the attribution. So the interpretation is a property of the data, not of how I set up the model.</a:t>
            </a:r>
          </a:p>
          <a:p>
            <a:endParaRPr lang="en-GB" dirty="0"/>
          </a:p>
          <a:p>
            <a:r>
              <a:rPr lang="en-GB" b="1" dirty="0"/>
              <a:t>HOLD — only if asked:</a:t>
            </a:r>
          </a:p>
          <a:p>
            <a:r>
              <a:rPr lang="en-GB" dirty="0"/>
              <a:t>the axis is in log-odds, so ranks compare with the regression figure but magnitudes do not. · Salt bridge: see question 10.</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this work does not establish. The labels are pooled from many laboratories, and laboratories agree only to about half a log unit, which puts a floor under the error. Only two targets, chosen because they had enough data. The representation is two-dimensional: no 3D shape, no protein structure, which is exactly what docking would add. Validation is internal: careful and repeated, but there is no external or prospective test set. And hyperparameters are sensible defaults rather than fully tuned. Each of these is a concrete next step, not something I am hiding.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close the loop.</a:t>
            </a:r>
          </a:p>
          <a:p>
            <a:r>
              <a:rPr lang="en-GB" dirty="0"/>
              <a:t>Part One produced a curated dataset of clinical-stage GPCR drugs that did not exist in this form: 719 molecules and 3,011 records, with their chemistry and their promiscuity mapped.</a:t>
            </a:r>
          </a:p>
          <a:p>
            <a:r>
              <a:rPr lang="en-GB" dirty="0"/>
              <a:t>Part Two answered the question repurposing depends on. On these two receptors, binding can be predicted on chemistry the model has never seen: R-squared 0.56 to 0.64, and as a screen, MCC 0.63 with enrichment at 98 per cent of its ceiling. Those numbers survive a scaffold split, a permutation test, a similarity baseline and a promiscuity check.</a:t>
            </a:r>
          </a:p>
          <a:p>
            <a:r>
              <a:rPr lang="en-GB" dirty="0"/>
              <a:t>And the learning curve tells me where the next gain has to come from: not more single-target data, but sharing information across targets. A multitask model over the whole panel could score all 719 clinical molecules against receptors they were never tested on. That is the repurposing screen this work makes possible.</a:t>
            </a:r>
          </a:p>
          <a:p>
            <a:r>
              <a:rPr lang="en-GB" dirty="0"/>
              <a:t>Thank you to Professor Giorgetti, to Filippo, to the professors of the programme, and to my family.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33B"/>
        </a:solidFill>
        <a:effectLst/>
      </p:bgPr>
    </p:bg>
    <p:spTree>
      <p:nvGrpSpPr>
        <p:cNvPr id="1" name=""/>
        <p:cNvGrpSpPr/>
        <p:nvPr/>
      </p:nvGrpSpPr>
      <p:grpSpPr>
        <a:xfrm>
          <a:off x="0" y="0"/>
          <a:ext cx="0" cy="0"/>
          <a:chOff x="0" y="0"/>
          <a:chExt cx="0" cy="0"/>
        </a:xfrm>
      </p:grpSpPr>
      <p:sp>
        <p:nvSpPr>
          <p:cNvPr id="3" name="Text 1"/>
          <p:cNvSpPr/>
          <p:nvPr/>
        </p:nvSpPr>
        <p:spPr>
          <a:xfrm>
            <a:off x="822960" y="1691640"/>
            <a:ext cx="10607040" cy="2286000"/>
          </a:xfrm>
          <a:prstGeom prst="rect">
            <a:avLst/>
          </a:prstGeom>
          <a:noFill/>
          <a:ln/>
        </p:spPr>
        <p:txBody>
          <a:bodyPr wrap="square" rtlCol="0" anchor="ctr"/>
          <a:lstStyle/>
          <a:p>
            <a:pPr marL="0" indent="0">
              <a:lnSpc>
                <a:spcPct val="112000"/>
              </a:lnSpc>
              <a:buNone/>
            </a:pPr>
            <a:r>
              <a:rPr lang="en-US" sz="3000" b="1" dirty="0">
                <a:solidFill>
                  <a:srgbClr val="FFFFFF"/>
                </a:solidFill>
                <a:latin typeface="Cambria" pitchFamily="34" charset="0"/>
                <a:ea typeface="Cambria" pitchFamily="34" charset="-122"/>
                <a:cs typeface="Cambria" pitchFamily="34" charset="-120"/>
              </a:rPr>
              <a:t>Curation and Cheminformatic Characterization of a Clinical-Stage GPCR Ligand Dataset for Machine-Learning-Based Binding Prediction</a:t>
            </a:r>
            <a:endParaRPr lang="en-US" sz="3000" dirty="0"/>
          </a:p>
        </p:txBody>
      </p:sp>
      <p:sp>
        <p:nvSpPr>
          <p:cNvPr id="6" name="Text 4"/>
          <p:cNvSpPr/>
          <p:nvPr/>
        </p:nvSpPr>
        <p:spPr>
          <a:xfrm>
            <a:off x="2921583" y="4585716"/>
            <a:ext cx="10058400" cy="365760"/>
          </a:xfrm>
          <a:prstGeom prst="rect">
            <a:avLst/>
          </a:prstGeom>
          <a:noFill/>
          <a:ln/>
        </p:spPr>
        <p:txBody>
          <a:bodyPr wrap="square"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Dagmawi Tarekegn Fikadu</a:t>
            </a: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    MSc Molecular &amp; Medical Biotechnology</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822960" y="5559552"/>
            <a:ext cx="10607040" cy="365760"/>
          </a:xfrm>
          <a:prstGeom prst="rect">
            <a:avLst/>
          </a:prstGeom>
          <a:noFill/>
          <a:ln/>
        </p:spPr>
        <p:txBody>
          <a:bodyPr wrap="square" rtlCol="0" anchor="ctr"/>
          <a:lstStyle/>
          <a:p>
            <a:pPr marL="0" indent="0">
              <a:buNone/>
            </a:pPr>
            <a:r>
              <a:rPr lang="en-US" sz="1400" dirty="0">
                <a:solidFill>
                  <a:srgbClr val="8FB3AE"/>
                </a:solidFill>
                <a:latin typeface="Times New Roman" panose="02020603050405020304" pitchFamily="18" charset="0"/>
                <a:ea typeface="Calibri" pitchFamily="34" charset="-122"/>
                <a:cs typeface="Times New Roman" panose="02020603050405020304" pitchFamily="18" charset="0"/>
              </a:rPr>
              <a:t>Principal Investigator: Prof. Alejandro Giorgetti   ·   Supervisor: Filippo Baldessari   ·   University of Verona</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Times New Roman" panose="02020603050405020304" pitchFamily="18" charset="0"/>
                <a:ea typeface="Calibri" pitchFamily="34" charset="-122"/>
                <a:cs typeface="Times New Roman" panose="02020603050405020304" pitchFamily="18" charset="0"/>
              </a:rPr>
              <a:t>ROADMAP</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Times New Roman" panose="02020603050405020304" pitchFamily="18" charset="0"/>
                <a:ea typeface="Cambria" pitchFamily="34" charset="-122"/>
                <a:cs typeface="Times New Roman" panose="02020603050405020304" pitchFamily="18" charset="0"/>
              </a:rPr>
              <a:t>A </a:t>
            </a:r>
            <a:r>
              <a:rPr lang="en-US" sz="2900" b="1">
                <a:solidFill>
                  <a:srgbClr val="22333B"/>
                </a:solidFill>
                <a:latin typeface="Times New Roman" panose="02020603050405020304" pitchFamily="18" charset="0"/>
                <a:ea typeface="Cambria" pitchFamily="34" charset="-122"/>
                <a:cs typeface="Times New Roman" panose="02020603050405020304" pitchFamily="18" charset="0"/>
              </a:rPr>
              <a:t>two-part thesis</a:t>
            </a:r>
            <a:endParaRPr lang="en-US" sz="2900" dirty="0">
              <a:latin typeface="Times New Roman" panose="02020603050405020304" pitchFamily="18" charset="0"/>
              <a:cs typeface="Times New Roman" panose="02020603050405020304" pitchFamily="18" charset="0"/>
            </a:endParaRPr>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MSc Molecular &amp; Medical Biotechnology · University of Verona</a:t>
            </a:r>
            <a:endParaRPr lang="en-US" sz="900" dirty="0">
              <a:latin typeface="Times New Roman" panose="02020603050405020304" pitchFamily="18" charset="0"/>
              <a:cs typeface="Times New Roman" panose="02020603050405020304" pitchFamily="18" charset="0"/>
            </a:endParaRPr>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1</a:t>
            </a:r>
            <a:endParaRPr lang="en-US" sz="9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1572768"/>
            <a:ext cx="5120640" cy="3193542"/>
          </a:xfrm>
          <a:prstGeom prst="roundRect">
            <a:avLst>
              <a:gd name="adj" fmla="val 3529"/>
            </a:avLst>
          </a:prstGeom>
          <a:solidFill>
            <a:srgbClr val="E9F1F0"/>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868680" y="1700784"/>
            <a:ext cx="4572000" cy="274320"/>
          </a:xfrm>
          <a:prstGeom prst="rect">
            <a:avLst/>
          </a:prstGeom>
          <a:noFill/>
          <a:ln/>
        </p:spPr>
        <p:txBody>
          <a:bodyPr wrap="square" rtlCol="0" anchor="ctr"/>
          <a:lstStyle/>
          <a:p>
            <a:pPr marL="0" indent="0">
              <a:buNone/>
            </a:pPr>
            <a:r>
              <a:rPr lang="en-US" sz="1150" b="1" kern="0" spc="200" dirty="0">
                <a:solidFill>
                  <a:srgbClr val="116E64"/>
                </a:solidFill>
                <a:latin typeface="Times New Roman" panose="02020603050405020304" pitchFamily="18" charset="0"/>
                <a:ea typeface="Calibri" pitchFamily="34" charset="-122"/>
                <a:cs typeface="Times New Roman" panose="02020603050405020304" pitchFamily="18" charset="0"/>
              </a:rPr>
              <a:t>PART ONE</a:t>
            </a:r>
            <a:endParaRPr lang="en-US" sz="1150" dirty="0">
              <a:latin typeface="Times New Roman" panose="02020603050405020304" pitchFamily="18" charset="0"/>
              <a:cs typeface="Times New Roman" panose="02020603050405020304" pitchFamily="18" charset="0"/>
            </a:endParaRPr>
          </a:p>
        </p:txBody>
      </p:sp>
      <p:sp>
        <p:nvSpPr>
          <p:cNvPr id="8" name="Text 6"/>
          <p:cNvSpPr/>
          <p:nvPr/>
        </p:nvSpPr>
        <p:spPr>
          <a:xfrm>
            <a:off x="868680" y="1965960"/>
            <a:ext cx="4572000" cy="365760"/>
          </a:xfrm>
          <a:prstGeom prst="rect">
            <a:avLst/>
          </a:prstGeom>
          <a:noFill/>
          <a:ln/>
        </p:spPr>
        <p:txBody>
          <a:bodyPr wrap="square" rtlCol="0" anchor="ctr"/>
          <a:lstStyle/>
          <a:p>
            <a:pPr marL="0" indent="0">
              <a:buNone/>
            </a:pPr>
            <a:r>
              <a:rPr lang="en-US" sz="1800" b="1" dirty="0">
                <a:solidFill>
                  <a:srgbClr val="22333B"/>
                </a:solidFill>
                <a:latin typeface="Times New Roman" panose="02020603050405020304" pitchFamily="18" charset="0"/>
                <a:ea typeface="Cambria" pitchFamily="34" charset="-122"/>
                <a:cs typeface="Times New Roman" panose="02020603050405020304" pitchFamily="18" charset="0"/>
              </a:rPr>
              <a:t>Curate &amp; characterise</a:t>
            </a:r>
            <a:endParaRPr lang="en-US" sz="1800" dirty="0">
              <a:latin typeface="Times New Roman" panose="02020603050405020304" pitchFamily="18" charset="0"/>
              <a:cs typeface="Times New Roman" panose="02020603050405020304" pitchFamily="18" charset="0"/>
            </a:endParaRPr>
          </a:p>
        </p:txBody>
      </p:sp>
      <p:sp>
        <p:nvSpPr>
          <p:cNvPr id="9" name="Text 7"/>
          <p:cNvSpPr/>
          <p:nvPr/>
        </p:nvSpPr>
        <p:spPr>
          <a:xfrm>
            <a:off x="868680" y="2359152"/>
            <a:ext cx="4709160" cy="2359152"/>
          </a:xfrm>
          <a:prstGeom prst="rect">
            <a:avLst/>
          </a:prstGeom>
          <a:noFill/>
          <a:ln/>
        </p:spPr>
        <p:txBody>
          <a:bodyPr wrap="square" rtlCol="0" anchor="t"/>
          <a:lstStyle/>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Build a clean clinical-stage GPCR ligand dataset</a:t>
            </a:r>
            <a:endParaRPr lang="en-US" sz="2200" dirty="0">
              <a:latin typeface="Times New Roman" panose="02020603050405020304" pitchFamily="18" charset="0"/>
              <a:cs typeface="Times New Roman" panose="02020603050405020304" pitchFamily="18" charset="0"/>
            </a:endParaRPr>
          </a:p>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Measure 15 descriptors on every molecule.</a:t>
            </a:r>
            <a:endParaRPr lang="en-US" sz="2200" dirty="0">
              <a:latin typeface="Times New Roman" panose="02020603050405020304" pitchFamily="18" charset="0"/>
              <a:cs typeface="Times New Roman" panose="02020603050405020304" pitchFamily="18" charset="0"/>
            </a:endParaRPr>
          </a:p>
          <a:p>
            <a:pPr marL="152400" indent="-152400">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Perform Exploratory Data analysis</a:t>
            </a:r>
            <a:endParaRPr lang="en-US" sz="2200" dirty="0">
              <a:latin typeface="Times New Roman" panose="02020603050405020304" pitchFamily="18" charset="0"/>
              <a:cs typeface="Times New Roman" panose="02020603050405020304" pitchFamily="18" charset="0"/>
            </a:endParaRPr>
          </a:p>
        </p:txBody>
      </p:sp>
      <p:sp>
        <p:nvSpPr>
          <p:cNvPr id="10" name="Text 8"/>
          <p:cNvSpPr/>
          <p:nvPr/>
        </p:nvSpPr>
        <p:spPr>
          <a:xfrm>
            <a:off x="5742432" y="2606366"/>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
        <p:nvSpPr>
          <p:cNvPr id="11" name="Shape 9"/>
          <p:cNvSpPr/>
          <p:nvPr/>
        </p:nvSpPr>
        <p:spPr>
          <a:xfrm>
            <a:off x="6583680" y="1572768"/>
            <a:ext cx="5275528" cy="3193542"/>
          </a:xfrm>
          <a:prstGeom prst="roundRect">
            <a:avLst>
              <a:gd name="adj" fmla="val 3529"/>
            </a:avLst>
          </a:prstGeom>
          <a:solidFill>
            <a:srgbClr val="F5ECE6"/>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6903720" y="1700784"/>
            <a:ext cx="4572000" cy="274320"/>
          </a:xfrm>
          <a:prstGeom prst="rect">
            <a:avLst/>
          </a:prstGeom>
          <a:noFill/>
          <a:ln/>
        </p:spPr>
        <p:txBody>
          <a:bodyPr wrap="square" rtlCol="0" anchor="ctr"/>
          <a:lstStyle/>
          <a:p>
            <a:pPr marL="0" indent="0">
              <a:buNone/>
            </a:pPr>
            <a:r>
              <a:rPr lang="en-US" sz="1150" b="1" kern="0" spc="200" dirty="0">
                <a:solidFill>
                  <a:srgbClr val="BE5638"/>
                </a:solidFill>
                <a:latin typeface="Times New Roman" panose="02020603050405020304" pitchFamily="18" charset="0"/>
                <a:ea typeface="Calibri" pitchFamily="34" charset="-122"/>
                <a:cs typeface="Times New Roman" panose="02020603050405020304" pitchFamily="18" charset="0"/>
              </a:rPr>
              <a:t>PART TWO</a:t>
            </a:r>
            <a:endParaRPr lang="en-US" sz="1150" dirty="0">
              <a:latin typeface="Times New Roman" panose="02020603050405020304" pitchFamily="18" charset="0"/>
              <a:cs typeface="Times New Roman" panose="02020603050405020304" pitchFamily="18" charset="0"/>
            </a:endParaRPr>
          </a:p>
        </p:txBody>
      </p:sp>
      <p:sp>
        <p:nvSpPr>
          <p:cNvPr id="13" name="Text 11"/>
          <p:cNvSpPr/>
          <p:nvPr/>
        </p:nvSpPr>
        <p:spPr>
          <a:xfrm>
            <a:off x="6903720" y="1965960"/>
            <a:ext cx="4572000" cy="365760"/>
          </a:xfrm>
          <a:prstGeom prst="rect">
            <a:avLst/>
          </a:prstGeom>
          <a:noFill/>
          <a:ln/>
        </p:spPr>
        <p:txBody>
          <a:bodyPr wrap="square" rtlCol="0" anchor="ctr"/>
          <a:lstStyle/>
          <a:p>
            <a:pPr marL="0" indent="0">
              <a:buNone/>
            </a:pPr>
            <a:r>
              <a:rPr lang="en-US" sz="1800" b="1" dirty="0">
                <a:solidFill>
                  <a:srgbClr val="22333B"/>
                </a:solidFill>
                <a:latin typeface="Times New Roman" panose="02020603050405020304" pitchFamily="18" charset="0"/>
                <a:ea typeface="Cambria" pitchFamily="34" charset="-122"/>
                <a:cs typeface="Times New Roman" panose="02020603050405020304" pitchFamily="18" charset="0"/>
              </a:rPr>
              <a:t>Model binding affinity</a:t>
            </a:r>
            <a:endParaRPr lang="en-US" sz="1800" dirty="0">
              <a:latin typeface="Times New Roman" panose="02020603050405020304" pitchFamily="18" charset="0"/>
              <a:cs typeface="Times New Roman" panose="02020603050405020304" pitchFamily="18" charset="0"/>
            </a:endParaRPr>
          </a:p>
        </p:txBody>
      </p:sp>
      <p:sp>
        <p:nvSpPr>
          <p:cNvPr id="14" name="Text 12"/>
          <p:cNvSpPr/>
          <p:nvPr/>
        </p:nvSpPr>
        <p:spPr>
          <a:xfrm>
            <a:off x="6903720" y="2359152"/>
            <a:ext cx="4480560" cy="1924812"/>
          </a:xfrm>
          <a:prstGeom prst="rect">
            <a:avLst/>
          </a:prstGeom>
          <a:noFill/>
          <a:ln/>
        </p:spPr>
        <p:txBody>
          <a:bodyPr wrap="square" rtlCol="0" anchor="t"/>
          <a:lstStyle/>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Use that dataset to predict pKi from structure</a:t>
            </a:r>
            <a:endParaRPr lang="en-US" sz="2200" dirty="0">
              <a:latin typeface="Times New Roman" panose="02020603050405020304" pitchFamily="18" charset="0"/>
              <a:cs typeface="Times New Roman" panose="02020603050405020304" pitchFamily="18" charset="0"/>
            </a:endParaRPr>
          </a:p>
          <a:p>
            <a:pPr marL="152400" indent="-152400">
              <a:spcAft>
                <a:spcPts val="5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Leakage-controlled validation</a:t>
            </a:r>
            <a:endParaRPr lang="en-US" sz="2200" dirty="0">
              <a:latin typeface="Times New Roman" panose="02020603050405020304" pitchFamily="18" charset="0"/>
              <a:cs typeface="Times New Roman" panose="02020603050405020304" pitchFamily="18" charset="0"/>
            </a:endParaRPr>
          </a:p>
          <a:p>
            <a:pPr marL="152400" indent="-152400">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Regression, virtual screening, and interpretation</a:t>
            </a:r>
            <a:endParaRPr lang="en-US" sz="2200" dirty="0">
              <a:latin typeface="Times New Roman" panose="02020603050405020304" pitchFamily="18" charset="0"/>
              <a:cs typeface="Times New Roman" panose="02020603050405020304" pitchFamily="18" charset="0"/>
            </a:endParaRPr>
          </a:p>
        </p:txBody>
      </p:sp>
      <p:sp>
        <p:nvSpPr>
          <p:cNvPr id="15" name="Shape 13"/>
          <p:cNvSpPr/>
          <p:nvPr/>
        </p:nvSpPr>
        <p:spPr>
          <a:xfrm>
            <a:off x="657528" y="5198364"/>
            <a:ext cx="1188720" cy="777240"/>
          </a:xfrm>
          <a:prstGeom prst="roundRect">
            <a:avLst>
              <a:gd name="adj" fmla="val 5233"/>
            </a:avLst>
          </a:prstGeom>
          <a:solidFill>
            <a:srgbClr val="E9F1F0"/>
          </a:solidFill>
          <a:ln/>
        </p:spPr>
        <p:txBody>
          <a:bodyPr/>
          <a:lstStyle/>
          <a:p>
            <a:endParaRPr lang="en-US" sz="1500">
              <a:latin typeface="Times New Roman" panose="02020603050405020304" pitchFamily="18" charset="0"/>
              <a:cs typeface="Times New Roman" panose="02020603050405020304" pitchFamily="18" charset="0"/>
            </a:endParaRPr>
          </a:p>
        </p:txBody>
      </p:sp>
      <p:sp>
        <p:nvSpPr>
          <p:cNvPr id="16" name="Text 14"/>
          <p:cNvSpPr/>
          <p:nvPr/>
        </p:nvSpPr>
        <p:spPr>
          <a:xfrm>
            <a:off x="657528" y="5294936"/>
            <a:ext cx="914400" cy="301752"/>
          </a:xfrm>
          <a:prstGeom prst="rect">
            <a:avLst/>
          </a:prstGeom>
          <a:noFill/>
          <a:ln/>
        </p:spPr>
        <p:txBody>
          <a:bodyPr wrap="square" rtlCol="0" anchor="ctr"/>
          <a:lstStyle/>
          <a:p>
            <a:pPr marL="0" indent="0">
              <a:buNone/>
            </a:pPr>
            <a:r>
              <a:rPr lang="en-US" sz="1500" b="1" dirty="0">
                <a:solidFill>
                  <a:srgbClr val="116E64"/>
                </a:solidFill>
                <a:latin typeface="Times New Roman" panose="02020603050405020304" pitchFamily="18" charset="0"/>
                <a:ea typeface="Cambria" pitchFamily="34" charset="-122"/>
                <a:cs typeface="Times New Roman" panose="02020603050405020304" pitchFamily="18" charset="0"/>
              </a:rPr>
              <a:t>01</a:t>
            </a:r>
            <a:endParaRPr lang="en-US" sz="1500" dirty="0">
              <a:latin typeface="Times New Roman" panose="02020603050405020304" pitchFamily="18" charset="0"/>
              <a:cs typeface="Times New Roman" panose="02020603050405020304" pitchFamily="18" charset="0"/>
            </a:endParaRPr>
          </a:p>
        </p:txBody>
      </p:sp>
      <p:sp>
        <p:nvSpPr>
          <p:cNvPr id="17" name="Text 15"/>
          <p:cNvSpPr/>
          <p:nvPr/>
        </p:nvSpPr>
        <p:spPr>
          <a:xfrm>
            <a:off x="657528" y="5543550"/>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Dataset</a:t>
            </a:r>
            <a:endParaRPr lang="en-US" sz="1500" dirty="0">
              <a:latin typeface="Times New Roman" panose="02020603050405020304" pitchFamily="18" charset="0"/>
              <a:cs typeface="Times New Roman" panose="02020603050405020304" pitchFamily="18" charset="0"/>
            </a:endParaRPr>
          </a:p>
        </p:txBody>
      </p:sp>
      <p:sp>
        <p:nvSpPr>
          <p:cNvPr id="18" name="Text 16"/>
          <p:cNvSpPr/>
          <p:nvPr/>
        </p:nvSpPr>
        <p:spPr>
          <a:xfrm>
            <a:off x="822960" y="4828032"/>
            <a:ext cx="2103120" cy="777240"/>
          </a:xfrm>
          <a:prstGeom prst="rect">
            <a:avLst/>
          </a:prstGeom>
          <a:noFill/>
          <a:ln/>
        </p:spPr>
        <p:txBody>
          <a:bodyPr wrap="square" rtlCol="0" anchor="t"/>
          <a:lstStyle/>
          <a:p>
            <a:pPr marL="0" indent="0">
              <a:buNone/>
            </a:pPr>
            <a:endParaRPr lang="en-US" sz="1100" dirty="0">
              <a:latin typeface="Times New Roman" panose="02020603050405020304" pitchFamily="18" charset="0"/>
              <a:cs typeface="Times New Roman" panose="02020603050405020304" pitchFamily="18" charset="0"/>
            </a:endParaRPr>
          </a:p>
        </p:txBody>
      </p:sp>
      <p:sp>
        <p:nvSpPr>
          <p:cNvPr id="19" name="Shape 17"/>
          <p:cNvSpPr/>
          <p:nvPr/>
        </p:nvSpPr>
        <p:spPr>
          <a:xfrm>
            <a:off x="3154680" y="5198364"/>
            <a:ext cx="1188720" cy="777240"/>
          </a:xfrm>
          <a:prstGeom prst="roundRect">
            <a:avLst>
              <a:gd name="adj" fmla="val 5233"/>
            </a:avLst>
          </a:prstGeom>
          <a:solidFill>
            <a:srgbClr val="F5ECE6"/>
          </a:solidFill>
          <a:ln/>
        </p:spPr>
        <p:txBody>
          <a:bodyPr/>
          <a:lstStyle/>
          <a:p>
            <a:endParaRPr lang="en-US" sz="1500">
              <a:latin typeface="Times New Roman" panose="02020603050405020304" pitchFamily="18" charset="0"/>
              <a:cs typeface="Times New Roman" panose="02020603050405020304" pitchFamily="18" charset="0"/>
            </a:endParaRPr>
          </a:p>
        </p:txBody>
      </p:sp>
      <p:sp>
        <p:nvSpPr>
          <p:cNvPr id="20" name="Text 18"/>
          <p:cNvSpPr/>
          <p:nvPr/>
        </p:nvSpPr>
        <p:spPr>
          <a:xfrm>
            <a:off x="3154680" y="5269323"/>
            <a:ext cx="914400" cy="301752"/>
          </a:xfrm>
          <a:prstGeom prst="rect">
            <a:avLst/>
          </a:prstGeom>
          <a:noFill/>
          <a:ln/>
        </p:spPr>
        <p:txBody>
          <a:bodyPr wrap="square" rtlCol="0" anchor="ctr"/>
          <a:lstStyle/>
          <a:p>
            <a:pPr marL="0" indent="0">
              <a:buNone/>
            </a:pPr>
            <a:r>
              <a:rPr lang="en-US" sz="1500" b="1" dirty="0">
                <a:solidFill>
                  <a:srgbClr val="BE5638"/>
                </a:solidFill>
                <a:latin typeface="Times New Roman" panose="02020603050405020304" pitchFamily="18" charset="0"/>
                <a:ea typeface="Cambria" pitchFamily="34" charset="-122"/>
                <a:cs typeface="Times New Roman" panose="02020603050405020304" pitchFamily="18" charset="0"/>
              </a:rPr>
              <a:t>02</a:t>
            </a:r>
            <a:endParaRPr lang="en-US" sz="1500" dirty="0">
              <a:latin typeface="Times New Roman" panose="02020603050405020304" pitchFamily="18" charset="0"/>
              <a:cs typeface="Times New Roman" panose="02020603050405020304" pitchFamily="18" charset="0"/>
            </a:endParaRPr>
          </a:p>
        </p:txBody>
      </p:sp>
      <p:sp>
        <p:nvSpPr>
          <p:cNvPr id="21" name="Text 19"/>
          <p:cNvSpPr/>
          <p:nvPr/>
        </p:nvSpPr>
        <p:spPr>
          <a:xfrm>
            <a:off x="3154680" y="5477256"/>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Models</a:t>
            </a:r>
            <a:endParaRPr lang="en-US" sz="1500" dirty="0">
              <a:latin typeface="Times New Roman" panose="02020603050405020304" pitchFamily="18" charset="0"/>
              <a:cs typeface="Times New Roman" panose="02020603050405020304" pitchFamily="18" charset="0"/>
            </a:endParaRPr>
          </a:p>
        </p:txBody>
      </p:sp>
      <p:sp>
        <p:nvSpPr>
          <p:cNvPr id="22" name="Text 20"/>
          <p:cNvSpPr/>
          <p:nvPr/>
        </p:nvSpPr>
        <p:spPr>
          <a:xfrm>
            <a:off x="3639312" y="4828032"/>
            <a:ext cx="2103120" cy="777240"/>
          </a:xfrm>
          <a:prstGeom prst="rect">
            <a:avLst/>
          </a:prstGeom>
          <a:noFill/>
          <a:ln/>
        </p:spPr>
        <p:txBody>
          <a:bodyPr wrap="square" rtlCol="0" anchor="t"/>
          <a:lstStyle/>
          <a:p>
            <a:pPr marL="0" indent="0">
              <a:buNone/>
            </a:pPr>
            <a:endParaRPr lang="en-US" sz="1100" dirty="0">
              <a:latin typeface="Times New Roman" panose="02020603050405020304" pitchFamily="18" charset="0"/>
              <a:cs typeface="Times New Roman" panose="02020603050405020304" pitchFamily="18" charset="0"/>
            </a:endParaRPr>
          </a:p>
        </p:txBody>
      </p:sp>
      <p:sp>
        <p:nvSpPr>
          <p:cNvPr id="23" name="Shape 21"/>
          <p:cNvSpPr/>
          <p:nvPr/>
        </p:nvSpPr>
        <p:spPr>
          <a:xfrm>
            <a:off x="5650712" y="5191926"/>
            <a:ext cx="1511466" cy="762778"/>
          </a:xfrm>
          <a:prstGeom prst="roundRect">
            <a:avLst>
              <a:gd name="adj" fmla="val 5233"/>
            </a:avLst>
          </a:prstGeom>
          <a:solidFill>
            <a:srgbClr val="E9F1F0"/>
          </a:solidFill>
          <a:ln/>
        </p:spPr>
        <p:txBody>
          <a:bodyPr/>
          <a:lstStyle/>
          <a:p>
            <a:endParaRPr lang="en-US" sz="1500">
              <a:latin typeface="Times New Roman" panose="02020603050405020304" pitchFamily="18" charset="0"/>
              <a:cs typeface="Times New Roman" panose="02020603050405020304" pitchFamily="18" charset="0"/>
            </a:endParaRPr>
          </a:p>
        </p:txBody>
      </p:sp>
      <p:sp>
        <p:nvSpPr>
          <p:cNvPr id="24" name="Text 22"/>
          <p:cNvSpPr/>
          <p:nvPr/>
        </p:nvSpPr>
        <p:spPr>
          <a:xfrm>
            <a:off x="5690367" y="5241798"/>
            <a:ext cx="914400" cy="301752"/>
          </a:xfrm>
          <a:prstGeom prst="rect">
            <a:avLst/>
          </a:prstGeom>
          <a:noFill/>
          <a:ln/>
        </p:spPr>
        <p:txBody>
          <a:bodyPr wrap="square" rtlCol="0" anchor="ctr"/>
          <a:lstStyle/>
          <a:p>
            <a:pPr marL="0" indent="0">
              <a:buNone/>
            </a:pPr>
            <a:r>
              <a:rPr lang="en-US" sz="1500" b="1" dirty="0">
                <a:solidFill>
                  <a:srgbClr val="116E64"/>
                </a:solidFill>
                <a:latin typeface="Times New Roman" panose="02020603050405020304" pitchFamily="18" charset="0"/>
                <a:ea typeface="Cambria" pitchFamily="34" charset="-122"/>
                <a:cs typeface="Times New Roman" panose="02020603050405020304" pitchFamily="18" charset="0"/>
              </a:rPr>
              <a:t>03</a:t>
            </a:r>
            <a:endParaRPr lang="en-US" sz="1500" dirty="0">
              <a:latin typeface="Times New Roman" panose="02020603050405020304" pitchFamily="18" charset="0"/>
              <a:cs typeface="Times New Roman" panose="02020603050405020304" pitchFamily="18" charset="0"/>
            </a:endParaRPr>
          </a:p>
        </p:txBody>
      </p:sp>
      <p:sp>
        <p:nvSpPr>
          <p:cNvPr id="25" name="Text 23"/>
          <p:cNvSpPr/>
          <p:nvPr/>
        </p:nvSpPr>
        <p:spPr>
          <a:xfrm>
            <a:off x="5645394" y="5477209"/>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Validation</a:t>
            </a:r>
            <a:endParaRPr lang="en-US" sz="1500" dirty="0">
              <a:latin typeface="Times New Roman" panose="02020603050405020304" pitchFamily="18" charset="0"/>
              <a:cs typeface="Times New Roman" panose="02020603050405020304" pitchFamily="18" charset="0"/>
            </a:endParaRPr>
          </a:p>
        </p:txBody>
      </p:sp>
      <p:sp>
        <p:nvSpPr>
          <p:cNvPr id="26" name="Text 24"/>
          <p:cNvSpPr/>
          <p:nvPr/>
        </p:nvSpPr>
        <p:spPr>
          <a:xfrm>
            <a:off x="6455664" y="4828032"/>
            <a:ext cx="2103120" cy="777240"/>
          </a:xfrm>
          <a:prstGeom prst="rect">
            <a:avLst/>
          </a:prstGeom>
          <a:noFill/>
          <a:ln/>
        </p:spPr>
        <p:txBody>
          <a:bodyPr wrap="square" rtlCol="0" anchor="t"/>
          <a:lstStyle/>
          <a:p>
            <a:pPr marL="0" indent="0">
              <a:buNone/>
            </a:pPr>
            <a:endParaRPr lang="en-US" sz="1100" dirty="0">
              <a:latin typeface="Times New Roman" panose="02020603050405020304" pitchFamily="18" charset="0"/>
              <a:cs typeface="Times New Roman" panose="02020603050405020304" pitchFamily="18" charset="0"/>
            </a:endParaRPr>
          </a:p>
        </p:txBody>
      </p:sp>
      <p:sp>
        <p:nvSpPr>
          <p:cNvPr id="27" name="Shape 25"/>
          <p:cNvSpPr/>
          <p:nvPr/>
        </p:nvSpPr>
        <p:spPr>
          <a:xfrm>
            <a:off x="8471730" y="5157216"/>
            <a:ext cx="1274748" cy="754380"/>
          </a:xfrm>
          <a:prstGeom prst="roundRect">
            <a:avLst>
              <a:gd name="adj" fmla="val 5233"/>
            </a:avLst>
          </a:prstGeom>
          <a:solidFill>
            <a:srgbClr val="F5ECE6"/>
          </a:solidFill>
          <a:ln/>
        </p:spPr>
        <p:txBody>
          <a:bodyPr/>
          <a:lstStyle/>
          <a:p>
            <a:endParaRPr lang="en-US" sz="1500" dirty="0">
              <a:latin typeface="Times New Roman" panose="02020603050405020304" pitchFamily="18" charset="0"/>
              <a:cs typeface="Times New Roman" panose="02020603050405020304" pitchFamily="18" charset="0"/>
            </a:endParaRPr>
          </a:p>
        </p:txBody>
      </p:sp>
      <p:sp>
        <p:nvSpPr>
          <p:cNvPr id="28" name="Text 26"/>
          <p:cNvSpPr/>
          <p:nvPr/>
        </p:nvSpPr>
        <p:spPr>
          <a:xfrm>
            <a:off x="8471730" y="5280660"/>
            <a:ext cx="914400" cy="301752"/>
          </a:xfrm>
          <a:prstGeom prst="rect">
            <a:avLst/>
          </a:prstGeom>
          <a:noFill/>
          <a:ln/>
        </p:spPr>
        <p:txBody>
          <a:bodyPr wrap="square" rtlCol="0" anchor="ctr"/>
          <a:lstStyle/>
          <a:p>
            <a:pPr marL="0" indent="0">
              <a:buNone/>
            </a:pPr>
            <a:r>
              <a:rPr lang="en-US" sz="1500" b="1" dirty="0">
                <a:solidFill>
                  <a:srgbClr val="BE5638"/>
                </a:solidFill>
                <a:latin typeface="Times New Roman" panose="02020603050405020304" pitchFamily="18" charset="0"/>
                <a:ea typeface="Cambria" pitchFamily="34" charset="-122"/>
                <a:cs typeface="Times New Roman" panose="02020603050405020304" pitchFamily="18" charset="0"/>
              </a:rPr>
              <a:t>04</a:t>
            </a:r>
            <a:endParaRPr lang="en-US" sz="1500" dirty="0">
              <a:latin typeface="Times New Roman" panose="02020603050405020304" pitchFamily="18" charset="0"/>
              <a:cs typeface="Times New Roman" panose="02020603050405020304" pitchFamily="18" charset="0"/>
            </a:endParaRPr>
          </a:p>
        </p:txBody>
      </p:sp>
      <p:sp>
        <p:nvSpPr>
          <p:cNvPr id="29" name="Text 27"/>
          <p:cNvSpPr/>
          <p:nvPr/>
        </p:nvSpPr>
        <p:spPr>
          <a:xfrm>
            <a:off x="8461746" y="5486540"/>
            <a:ext cx="2103120" cy="301752"/>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Results</a:t>
            </a:r>
            <a:endParaRPr lang="en-US" sz="1500" dirty="0">
              <a:latin typeface="Times New Roman" panose="02020603050405020304" pitchFamily="18" charset="0"/>
              <a:cs typeface="Times New Roman" panose="02020603050405020304" pitchFamily="18" charset="0"/>
            </a:endParaRPr>
          </a:p>
        </p:txBody>
      </p:sp>
      <p:sp>
        <p:nvSpPr>
          <p:cNvPr id="34" name="Text 8">
            <a:extLst>
              <a:ext uri="{FF2B5EF4-FFF2-40B4-BE49-F238E27FC236}">
                <a16:creationId xmlns:a16="http://schemas.microsoft.com/office/drawing/2014/main" id="{33E40B6C-9D1F-5DB3-E4E3-8702824DFE6A}"/>
              </a:ext>
            </a:extLst>
          </p:cNvPr>
          <p:cNvSpPr/>
          <p:nvPr/>
        </p:nvSpPr>
        <p:spPr>
          <a:xfrm>
            <a:off x="7442843" y="5045529"/>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
        <p:nvSpPr>
          <p:cNvPr id="36" name="Text 8">
            <a:extLst>
              <a:ext uri="{FF2B5EF4-FFF2-40B4-BE49-F238E27FC236}">
                <a16:creationId xmlns:a16="http://schemas.microsoft.com/office/drawing/2014/main" id="{9B641C47-D771-8705-4714-CDD7B53286A8}"/>
              </a:ext>
            </a:extLst>
          </p:cNvPr>
          <p:cNvSpPr/>
          <p:nvPr/>
        </p:nvSpPr>
        <p:spPr>
          <a:xfrm>
            <a:off x="2071862" y="5088962"/>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
        <p:nvSpPr>
          <p:cNvPr id="40" name="Text 8">
            <a:extLst>
              <a:ext uri="{FF2B5EF4-FFF2-40B4-BE49-F238E27FC236}">
                <a16:creationId xmlns:a16="http://schemas.microsoft.com/office/drawing/2014/main" id="{CF049623-EB9D-3B62-456A-DDFBA3E7CA99}"/>
              </a:ext>
            </a:extLst>
          </p:cNvPr>
          <p:cNvSpPr/>
          <p:nvPr/>
        </p:nvSpPr>
        <p:spPr>
          <a:xfrm>
            <a:off x="4607643" y="5102352"/>
            <a:ext cx="759512" cy="909175"/>
          </a:xfrm>
          <a:prstGeom prst="rect">
            <a:avLst/>
          </a:prstGeom>
          <a:noFill/>
          <a:ln/>
        </p:spPr>
        <p:txBody>
          <a:bodyPr wrap="square" rtlCol="0" anchor="ctr"/>
          <a:lstStyle/>
          <a:p>
            <a:pPr marL="0" indent="0" algn="ctr">
              <a:buNone/>
            </a:pPr>
            <a:r>
              <a:rPr lang="en-US" sz="3400" b="1" dirty="0">
                <a:solidFill>
                  <a:srgbClr val="BE5638"/>
                </a:solidFill>
                <a:latin typeface="Times New Roman" panose="02020603050405020304" pitchFamily="18" charset="0"/>
                <a:ea typeface="Calibri" pitchFamily="34" charset="-122"/>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GPCRs and binding affinity</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48640" y="1783080"/>
            <a:ext cx="5715000" cy="4572000"/>
          </a:xfrm>
          <a:prstGeom prst="rect">
            <a:avLst/>
          </a:prstGeom>
          <a:noFill/>
          <a:ln/>
        </p:spPr>
        <p:txBody>
          <a:bodyPr wrap="square" rtlCol="0" anchor="t"/>
          <a:lstStyle/>
          <a:p>
            <a:pPr marL="177800" indent="-177800">
              <a:spcAft>
                <a:spcPts val="8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G-protein-coupled receptors are the most productive drug-target class: about a third of approved drugs act through them.</a:t>
            </a:r>
            <a:endParaRPr lang="en-US" sz="22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The aminergic subfamily (serotonin, dopamine, adrenergic, muscarinic) is especially drug-rich, with pockets that fit small drug-like molecules.</a:t>
            </a:r>
            <a:endParaRPr lang="en-US" sz="22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200" dirty="0">
                <a:solidFill>
                  <a:srgbClr val="22333B"/>
                </a:solidFill>
                <a:latin typeface="Times New Roman" panose="02020603050405020304" pitchFamily="18" charset="0"/>
                <a:ea typeface="Calibri" pitchFamily="34" charset="-122"/>
                <a:cs typeface="Times New Roman" panose="02020603050405020304" pitchFamily="18" charset="0"/>
              </a:rPr>
              <a:t>Binding affinity is measured as Ki and reported as pKi = 9 − log10(Ki[nM]); higher pKi means tighter binding.</a:t>
            </a:r>
            <a:endParaRPr lang="en-US" sz="2200" dirty="0">
              <a:latin typeface="Times New Roman" panose="02020603050405020304" pitchFamily="18" charset="0"/>
              <a:cs typeface="Times New Roman" panose="02020603050405020304" pitchFamily="18" charset="0"/>
            </a:endParaRPr>
          </a:p>
        </p:txBody>
      </p:sp>
      <p:pic>
        <p:nvPicPr>
          <p:cNvPr id="7" name="Image 0" descr="/sessions/sharp-elegant-gauss/mnt/outputs/thesis_clean/figures/deck_bio_gpcr.png"/>
          <p:cNvPicPr>
            <a:picLocks noChangeAspect="1"/>
          </p:cNvPicPr>
          <p:nvPr/>
        </p:nvPicPr>
        <p:blipFill>
          <a:blip r:embed="rId3"/>
          <a:stretch>
            <a:fillRect/>
          </a:stretch>
        </p:blipFill>
        <p:spPr>
          <a:xfrm>
            <a:off x="6263640" y="1874520"/>
            <a:ext cx="5486400" cy="3063240"/>
          </a:xfrm>
          <a:prstGeom prst="rect">
            <a:avLst/>
          </a:prstGeom>
        </p:spPr>
      </p:pic>
      <p:sp>
        <p:nvSpPr>
          <p:cNvPr id="8" name="Text 5"/>
          <p:cNvSpPr/>
          <p:nvPr/>
        </p:nvSpPr>
        <p:spPr>
          <a:xfrm>
            <a:off x="6263640" y="5029200"/>
            <a:ext cx="5486400" cy="731520"/>
          </a:xfrm>
          <a:prstGeom prst="rect">
            <a:avLst/>
          </a:prstGeom>
          <a:noFill/>
          <a:ln/>
        </p:spPr>
        <p:txBody>
          <a:bodyPr wrap="square" rtlCol="0" anchor="ctr"/>
          <a:lstStyle/>
          <a:p>
            <a:pPr marL="0" indent="0" algn="ctr">
              <a:buNone/>
            </a:pPr>
            <a:r>
              <a:rPr lang="en-US" sz="1150" i="1" dirty="0">
                <a:solidFill>
                  <a:srgbClr val="60727A"/>
                </a:solidFill>
                <a:latin typeface="Calibri" pitchFamily="34" charset="0"/>
                <a:ea typeface="Calibri" pitchFamily="34" charset="-122"/>
                <a:cs typeface="Calibri" pitchFamily="34" charset="-120"/>
              </a:rPr>
              <a:t>A GPCR in the membrane: a small-molecule ligand binds the extracellular pocket and triggers intracellular G-protein signalling.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Times New Roman" panose="02020603050405020304" pitchFamily="18" charset="0"/>
                <a:ea typeface="Calibri" pitchFamily="34" charset="-122"/>
                <a:cs typeface="Times New Roman" panose="02020603050405020304" pitchFamily="18" charset="0"/>
              </a:rPr>
              <a:t>PART ONE · THE DATASET</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was curated, and how</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3</a:t>
            </a:r>
            <a:endParaRPr lang="en-US" sz="900" dirty="0"/>
          </a:p>
        </p:txBody>
      </p:sp>
      <p:sp>
        <p:nvSpPr>
          <p:cNvPr id="6" name="Text 4"/>
          <p:cNvSpPr/>
          <p:nvPr/>
        </p:nvSpPr>
        <p:spPr>
          <a:xfrm>
            <a:off x="548640" y="1572768"/>
            <a:ext cx="2743200" cy="868680"/>
          </a:xfrm>
          <a:prstGeom prst="rect">
            <a:avLst/>
          </a:prstGeom>
          <a:noFill/>
          <a:ln/>
        </p:spPr>
        <p:txBody>
          <a:bodyPr wrap="square" rtlCol="0" anchor="ctr"/>
          <a:lstStyle/>
          <a:p>
            <a:pPr marL="0" indent="0">
              <a:buNone/>
            </a:pPr>
            <a:r>
              <a:rPr lang="en-US" sz="4000" b="1" dirty="0">
                <a:solidFill>
                  <a:srgbClr val="116E64"/>
                </a:solidFill>
                <a:latin typeface="Times New Roman" panose="02020603050405020304" pitchFamily="18" charset="0"/>
                <a:ea typeface="Cambria" pitchFamily="34" charset="-122"/>
                <a:cs typeface="Times New Roman" panose="02020603050405020304" pitchFamily="18" charset="0"/>
              </a:rPr>
              <a:t>719</a:t>
            </a:r>
            <a:endParaRPr lang="en-US" sz="4000" dirty="0">
              <a:latin typeface="Times New Roman" panose="02020603050405020304" pitchFamily="18" charset="0"/>
              <a:cs typeface="Times New Roman" panose="02020603050405020304" pitchFamily="18" charset="0"/>
            </a:endParaRPr>
          </a:p>
        </p:txBody>
      </p:sp>
      <p:sp>
        <p:nvSpPr>
          <p:cNvPr id="7" name="Text 5"/>
          <p:cNvSpPr/>
          <p:nvPr/>
        </p:nvSpPr>
        <p:spPr>
          <a:xfrm>
            <a:off x="516573" y="2368296"/>
            <a:ext cx="2743200" cy="548640"/>
          </a:xfrm>
          <a:prstGeom prst="rect">
            <a:avLst/>
          </a:prstGeom>
          <a:noFill/>
          <a:ln/>
        </p:spPr>
        <p:txBody>
          <a:bodyPr wrap="square" rtlCol="0" anchor="ctr"/>
          <a:lstStyle/>
          <a:p>
            <a:pPr marL="0" indent="0">
              <a:buNone/>
            </a:pP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unique molecules</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3566160" y="1568196"/>
            <a:ext cx="2743200" cy="868680"/>
          </a:xfrm>
          <a:prstGeom prst="rect">
            <a:avLst/>
          </a:prstGeom>
          <a:noFill/>
          <a:ln/>
        </p:spPr>
        <p:txBody>
          <a:bodyPr wrap="square" rtlCol="0" anchor="ctr"/>
          <a:lstStyle/>
          <a:p>
            <a:pPr marL="0" indent="0">
              <a:buNone/>
            </a:pPr>
            <a:r>
              <a:rPr lang="en-US" sz="4000" b="1" dirty="0">
                <a:solidFill>
                  <a:srgbClr val="BE5638"/>
                </a:solidFill>
                <a:latin typeface="Times New Roman" panose="02020603050405020304" pitchFamily="18" charset="0"/>
                <a:ea typeface="Cambria" pitchFamily="34" charset="-122"/>
                <a:cs typeface="Times New Roman" panose="02020603050405020304" pitchFamily="18" charset="0"/>
              </a:rPr>
              <a:t>3,011</a:t>
            </a:r>
            <a:endParaRPr lang="en-US" sz="4000" dirty="0">
              <a:latin typeface="Times New Roman" panose="02020603050405020304" pitchFamily="18" charset="0"/>
              <a:cs typeface="Times New Roman" panose="02020603050405020304" pitchFamily="18" charset="0"/>
            </a:endParaRPr>
          </a:p>
        </p:txBody>
      </p:sp>
      <p:sp>
        <p:nvSpPr>
          <p:cNvPr id="9" name="Text 7"/>
          <p:cNvSpPr/>
          <p:nvPr/>
        </p:nvSpPr>
        <p:spPr>
          <a:xfrm>
            <a:off x="3287078" y="2369882"/>
            <a:ext cx="2834640" cy="548640"/>
          </a:xfrm>
          <a:prstGeom prst="rect">
            <a:avLst/>
          </a:prstGeom>
          <a:noFill/>
          <a:ln/>
        </p:spPr>
        <p:txBody>
          <a:bodyPr wrap="square" rtlCol="0" anchor="ctr"/>
          <a:lstStyle/>
          <a:p>
            <a:pPr marL="0" indent="0">
              <a:buNone/>
            </a:pP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compound–target records</a:t>
            </a:r>
            <a:endParaRPr lang="en-US" sz="2000" dirty="0">
              <a:latin typeface="Times New Roman" panose="02020603050405020304" pitchFamily="18" charset="0"/>
              <a:cs typeface="Times New Roman" panose="02020603050405020304" pitchFamily="18" charset="0"/>
            </a:endParaRPr>
          </a:p>
        </p:txBody>
      </p:sp>
      <p:sp>
        <p:nvSpPr>
          <p:cNvPr id="10" name="Text 8"/>
          <p:cNvSpPr/>
          <p:nvPr/>
        </p:nvSpPr>
        <p:spPr>
          <a:xfrm>
            <a:off x="6583680" y="1572768"/>
            <a:ext cx="2743200" cy="868680"/>
          </a:xfrm>
          <a:prstGeom prst="rect">
            <a:avLst/>
          </a:prstGeom>
          <a:noFill/>
          <a:ln/>
        </p:spPr>
        <p:txBody>
          <a:bodyPr wrap="square" rtlCol="0" anchor="ctr"/>
          <a:lstStyle/>
          <a:p>
            <a:pPr marL="0" indent="0">
              <a:buNone/>
            </a:pPr>
            <a:r>
              <a:rPr lang="en-US" sz="4000" b="1" dirty="0">
                <a:solidFill>
                  <a:srgbClr val="116E64"/>
                </a:solidFill>
                <a:latin typeface="Times New Roman" panose="02020603050405020304" pitchFamily="18" charset="0"/>
                <a:ea typeface="Cambria" pitchFamily="34" charset="-122"/>
                <a:cs typeface="Times New Roman" panose="02020603050405020304" pitchFamily="18" charset="0"/>
              </a:rPr>
              <a:t>47</a:t>
            </a:r>
            <a:endParaRPr lang="en-US" sz="4000" dirty="0">
              <a:latin typeface="Times New Roman" panose="02020603050405020304" pitchFamily="18" charset="0"/>
              <a:cs typeface="Times New Roman" panose="02020603050405020304" pitchFamily="18" charset="0"/>
            </a:endParaRPr>
          </a:p>
        </p:txBody>
      </p:sp>
      <p:sp>
        <p:nvSpPr>
          <p:cNvPr id="11" name="Text 9"/>
          <p:cNvSpPr/>
          <p:nvPr/>
        </p:nvSpPr>
        <p:spPr>
          <a:xfrm>
            <a:off x="6492240" y="2350008"/>
            <a:ext cx="2743200" cy="548640"/>
          </a:xfrm>
          <a:prstGeom prst="rect">
            <a:avLst/>
          </a:prstGeom>
          <a:noFill/>
          <a:ln/>
        </p:spPr>
        <p:txBody>
          <a:bodyPr wrap="square" rtlCol="0" anchor="ctr"/>
          <a:lstStyle/>
          <a:p>
            <a:pPr marL="0" indent="0">
              <a:buNone/>
            </a:pP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targets</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8988552" y="1622314"/>
            <a:ext cx="237744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18</a:t>
            </a:r>
            <a:endParaRPr lang="en-US" sz="4000" dirty="0"/>
          </a:p>
        </p:txBody>
      </p:sp>
      <p:sp>
        <p:nvSpPr>
          <p:cNvPr id="13" name="Text 11"/>
          <p:cNvSpPr/>
          <p:nvPr/>
        </p:nvSpPr>
        <p:spPr>
          <a:xfrm>
            <a:off x="8961120" y="2298970"/>
            <a:ext cx="2377440" cy="548640"/>
          </a:xfrm>
          <a:prstGeom prst="rect">
            <a:avLst/>
          </a:prstGeom>
          <a:noFill/>
          <a:ln/>
        </p:spPr>
        <p:txBody>
          <a:bodyPr wrap="square" rtlCol="0" anchor="ctr"/>
          <a:lstStyle/>
          <a:p>
            <a:pPr marL="0" indent="0">
              <a:buNone/>
            </a:pPr>
            <a:r>
              <a:rPr lang="en-US" sz="2000" dirty="0">
                <a:solidFill>
                  <a:srgbClr val="60727A"/>
                </a:solidFill>
                <a:latin typeface="Calibri" pitchFamily="34" charset="0"/>
                <a:ea typeface="Calibri" pitchFamily="34" charset="-122"/>
                <a:cs typeface="Calibri" pitchFamily="34" charset="-120"/>
              </a:rPr>
              <a:t>receptor families</a:t>
            </a:r>
            <a:endParaRPr lang="en-US" sz="2000" dirty="0"/>
          </a:p>
        </p:txBody>
      </p:sp>
      <p:sp>
        <p:nvSpPr>
          <p:cNvPr id="14" name="Shape 12"/>
          <p:cNvSpPr/>
          <p:nvPr/>
        </p:nvSpPr>
        <p:spPr>
          <a:xfrm>
            <a:off x="548640" y="3611880"/>
            <a:ext cx="9360470" cy="2415696"/>
          </a:xfrm>
          <a:prstGeom prst="roundRect">
            <a:avLst>
              <a:gd name="adj" fmla="val 3830"/>
            </a:avLst>
          </a:prstGeom>
          <a:solidFill>
            <a:srgbClr val="E9F1F0"/>
          </a:solidFill>
          <a:ln/>
        </p:spPr>
        <p:txBody>
          <a:bodyPr/>
          <a:lstStyle/>
          <a:p>
            <a:endParaRPr lang="en-US"/>
          </a:p>
        </p:txBody>
      </p:sp>
      <p:sp>
        <p:nvSpPr>
          <p:cNvPr id="15" name="Text 13"/>
          <p:cNvSpPr/>
          <p:nvPr/>
        </p:nvSpPr>
        <p:spPr>
          <a:xfrm>
            <a:off x="822960" y="3813048"/>
            <a:ext cx="4892040" cy="411480"/>
          </a:xfrm>
          <a:prstGeom prst="rect">
            <a:avLst/>
          </a:prstGeom>
          <a:noFill/>
          <a:ln/>
        </p:spPr>
        <p:txBody>
          <a:bodyPr wrap="square" rtlCol="0" anchor="ctr"/>
          <a:lstStyle/>
          <a:p>
            <a:pPr marL="0" indent="0">
              <a:buNone/>
            </a:pPr>
            <a:r>
              <a:rPr lang="en-US" sz="1500" b="1" dirty="0">
                <a:solidFill>
                  <a:srgbClr val="22333B"/>
                </a:solidFill>
                <a:latin typeface="Times New Roman" panose="02020603050405020304" pitchFamily="18" charset="0"/>
                <a:ea typeface="Cambria" pitchFamily="34" charset="-122"/>
                <a:cs typeface="Times New Roman" panose="02020603050405020304" pitchFamily="18" charset="0"/>
              </a:rPr>
              <a:t>The curation pipeline</a:t>
            </a:r>
            <a:endParaRPr lang="en-US" sz="1500" dirty="0">
              <a:latin typeface="Times New Roman" panose="02020603050405020304" pitchFamily="18" charset="0"/>
              <a:cs typeface="Times New Roman" panose="02020603050405020304" pitchFamily="18" charset="0"/>
            </a:endParaRPr>
          </a:p>
        </p:txBody>
      </p:sp>
      <p:sp>
        <p:nvSpPr>
          <p:cNvPr id="16" name="Text 14"/>
          <p:cNvSpPr/>
          <p:nvPr/>
        </p:nvSpPr>
        <p:spPr>
          <a:xfrm>
            <a:off x="822959" y="4288536"/>
            <a:ext cx="7751873" cy="1252728"/>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Human Ki binding data from ChEMBL for compounds in clinical Phases I–IV and below 700 Da, with salt removal, peptide exclusion, a rotatable-bond flexibility filter, and highest-pKi deduplication per molecule.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COMPOSITION</a:t>
            </a:r>
            <a:endParaRPr lang="en-US" sz="12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4</a:t>
            </a:r>
            <a:endParaRPr lang="en-US" sz="900" dirty="0"/>
          </a:p>
        </p:txBody>
      </p:sp>
      <p:pic>
        <p:nvPicPr>
          <p:cNvPr id="6" name="Image 0" descr="/sessions/sharp-elegant-gauss/mnt/outputs/thesis_clean/figures/deck_family_pie.png"/>
          <p:cNvPicPr>
            <a:picLocks noChangeAspect="1"/>
          </p:cNvPicPr>
          <p:nvPr/>
        </p:nvPicPr>
        <p:blipFill>
          <a:blip r:embed="rId3"/>
          <a:stretch>
            <a:fillRect/>
          </a:stretch>
        </p:blipFill>
        <p:spPr>
          <a:xfrm>
            <a:off x="2665878" y="818290"/>
            <a:ext cx="6857067" cy="54042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POLYPHARMACOLOGY</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Clinical-stage ligands engage many targets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5</a:t>
            </a:r>
            <a:endParaRPr lang="en-US" sz="900" dirty="0"/>
          </a:p>
        </p:txBody>
      </p:sp>
      <p:pic>
        <p:nvPicPr>
          <p:cNvPr id="6" name="Image 0" descr="/sessions/sharp-elegant-gauss/mnt/outputs/thesis_clean/figures/deck_promiscuous_named.png"/>
          <p:cNvPicPr>
            <a:picLocks noChangeAspect="1"/>
          </p:cNvPicPr>
          <p:nvPr/>
        </p:nvPicPr>
        <p:blipFill>
          <a:blip r:embed="rId3"/>
          <a:stretch>
            <a:fillRect/>
          </a:stretch>
        </p:blipFill>
        <p:spPr>
          <a:xfrm>
            <a:off x="411479" y="1783079"/>
            <a:ext cx="7737909" cy="2974573"/>
          </a:xfrm>
          <a:prstGeom prst="rect">
            <a:avLst/>
          </a:prstGeom>
        </p:spPr>
      </p:pic>
      <p:sp>
        <p:nvSpPr>
          <p:cNvPr id="7" name="Text 4"/>
          <p:cNvSpPr/>
          <p:nvPr/>
        </p:nvSpPr>
        <p:spPr>
          <a:xfrm>
            <a:off x="7863840" y="1935822"/>
            <a:ext cx="3840480" cy="868680"/>
          </a:xfrm>
          <a:prstGeom prst="rect">
            <a:avLst/>
          </a:prstGeom>
          <a:noFill/>
          <a:ln/>
        </p:spPr>
        <p:txBody>
          <a:bodyPr wrap="square" rtlCol="0" anchor="ctr"/>
          <a:lstStyle/>
          <a:p>
            <a:pPr marL="0" indent="0">
              <a:buNone/>
            </a:pPr>
            <a:endParaRPr lang="en-US" sz="4000" dirty="0"/>
          </a:p>
        </p:txBody>
      </p:sp>
      <p:sp>
        <p:nvSpPr>
          <p:cNvPr id="8" name="Text 5"/>
          <p:cNvSpPr/>
          <p:nvPr/>
        </p:nvSpPr>
        <p:spPr>
          <a:xfrm>
            <a:off x="7863840" y="2679192"/>
            <a:ext cx="3840480" cy="548640"/>
          </a:xfrm>
          <a:prstGeom prst="rect">
            <a:avLst/>
          </a:prstGeom>
          <a:noFill/>
          <a:ln/>
        </p:spPr>
        <p:txBody>
          <a:bodyPr wrap="square" rtlCol="0" anchor="ctr"/>
          <a:lstStyle/>
          <a:p>
            <a:r>
              <a:rPr lang="en-US" sz="2000" b="1" dirty="0">
                <a:solidFill>
                  <a:srgbClr val="116E64"/>
                </a:solidFill>
                <a:latin typeface="Cambria" pitchFamily="34" charset="0"/>
                <a:ea typeface="Cambria" pitchFamily="34" charset="-122"/>
                <a:cs typeface="Cambria" pitchFamily="34" charset="-120"/>
              </a:rPr>
              <a:t>4.19</a:t>
            </a:r>
            <a:r>
              <a:rPr lang="en-US" sz="2000" b="1" dirty="0"/>
              <a:t>  </a:t>
            </a: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targets per molecule</a:t>
            </a:r>
            <a:endParaRPr lang="en-US" sz="2000" dirty="0">
              <a:latin typeface="Times New Roman" panose="02020603050405020304" pitchFamily="18" charset="0"/>
              <a:cs typeface="Times New Roman" panose="02020603050405020304" pitchFamily="18" charset="0"/>
            </a:endParaRPr>
          </a:p>
        </p:txBody>
      </p:sp>
      <p:sp>
        <p:nvSpPr>
          <p:cNvPr id="9" name="Text 6"/>
          <p:cNvSpPr/>
          <p:nvPr/>
        </p:nvSpPr>
        <p:spPr>
          <a:xfrm>
            <a:off x="7863840" y="3401568"/>
            <a:ext cx="3840480" cy="868680"/>
          </a:xfrm>
          <a:prstGeom prst="rect">
            <a:avLst/>
          </a:prstGeom>
          <a:noFill/>
          <a:ln/>
        </p:spPr>
        <p:txBody>
          <a:bodyPr wrap="square" rtlCol="0" anchor="ctr"/>
          <a:lstStyle/>
          <a:p>
            <a:pPr marL="0" indent="0">
              <a:buNone/>
            </a:pPr>
            <a:endParaRPr lang="en-US" sz="4000" dirty="0"/>
          </a:p>
        </p:txBody>
      </p:sp>
      <p:sp>
        <p:nvSpPr>
          <p:cNvPr id="10" name="Text 7"/>
          <p:cNvSpPr/>
          <p:nvPr/>
        </p:nvSpPr>
        <p:spPr>
          <a:xfrm>
            <a:off x="7863840" y="3227832"/>
            <a:ext cx="3840480" cy="548640"/>
          </a:xfrm>
          <a:prstGeom prst="rect">
            <a:avLst/>
          </a:prstGeom>
          <a:noFill/>
          <a:ln/>
        </p:spPr>
        <p:txBody>
          <a:bodyPr wrap="square" rtlCol="0" anchor="ctr"/>
          <a:lstStyle/>
          <a:p>
            <a:r>
              <a:rPr lang="en-US" sz="2000" b="1" dirty="0">
                <a:solidFill>
                  <a:srgbClr val="BE5638"/>
                </a:solidFill>
                <a:latin typeface="Cambria" pitchFamily="34" charset="0"/>
                <a:ea typeface="Cambria" pitchFamily="34" charset="-122"/>
                <a:cs typeface="Cambria" pitchFamily="34" charset="-120"/>
              </a:rPr>
              <a:t>64.7%  </a:t>
            </a:r>
            <a:r>
              <a:rPr lang="en-US" sz="2000" dirty="0">
                <a:solidFill>
                  <a:srgbClr val="60727A"/>
                </a:solidFill>
                <a:latin typeface="Times New Roman" panose="02020603050405020304" pitchFamily="18" charset="0"/>
                <a:ea typeface="Calibri" pitchFamily="34" charset="-122"/>
                <a:cs typeface="Times New Roman" panose="02020603050405020304" pitchFamily="18" charset="0"/>
              </a:rPr>
              <a:t>act on more than one target</a:t>
            </a:r>
            <a:endParaRPr lang="en-US" sz="2000" dirty="0">
              <a:latin typeface="Times New Roman" panose="02020603050405020304" pitchFamily="18" charset="0"/>
              <a:cs typeface="Times New Roman" panose="02020603050405020304" pitchFamily="18" charset="0"/>
            </a:endParaRPr>
          </a:p>
        </p:txBody>
      </p:sp>
      <p:sp>
        <p:nvSpPr>
          <p:cNvPr id="11" name="Shape 8"/>
          <p:cNvSpPr/>
          <p:nvPr/>
        </p:nvSpPr>
        <p:spPr>
          <a:xfrm>
            <a:off x="548640" y="4983480"/>
            <a:ext cx="11091672" cy="1325880"/>
          </a:xfrm>
          <a:prstGeom prst="roundRect">
            <a:avLst>
              <a:gd name="adj" fmla="val 6207"/>
            </a:avLst>
          </a:prstGeom>
          <a:solidFill>
            <a:srgbClr val="F5ECE6"/>
          </a:solidFill>
          <a:ln/>
        </p:spPr>
        <p:txBody>
          <a:bodyPr/>
          <a:lstStyle/>
          <a:p>
            <a:endParaRPr lang="en-US"/>
          </a:p>
        </p:txBody>
      </p:sp>
      <p:sp>
        <p:nvSpPr>
          <p:cNvPr id="13" name="Text 10"/>
          <p:cNvSpPr/>
          <p:nvPr/>
        </p:nvSpPr>
        <p:spPr>
          <a:xfrm>
            <a:off x="809244" y="5090222"/>
            <a:ext cx="10543032" cy="1219138"/>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Promiscuity crosses family boundaries: 1.89 families per molecule on average (max 11), and 38.0% act on more than one. This is the basis for the repurposing motivation, and the reason for the later robustness check that removes multi-target compounds and retrains.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DESCRIPTORS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6</a:t>
            </a:r>
            <a:endParaRPr lang="en-US" sz="900" dirty="0"/>
          </a:p>
        </p:txBody>
      </p:sp>
      <p:sp>
        <p:nvSpPr>
          <p:cNvPr id="7" name="Shape 5"/>
          <p:cNvSpPr/>
          <p:nvPr/>
        </p:nvSpPr>
        <p:spPr>
          <a:xfrm>
            <a:off x="548513" y="886408"/>
            <a:ext cx="9669068" cy="2867204"/>
          </a:xfrm>
          <a:prstGeom prst="roundRect">
            <a:avLst>
              <a:gd name="adj" fmla="val 3529"/>
            </a:avLst>
          </a:prstGeom>
          <a:solidFill>
            <a:srgbClr val="E9F1F0"/>
          </a:solidFill>
          <a:ln/>
        </p:spPr>
        <p:txBody>
          <a:bodyPr/>
          <a:lstStyle/>
          <a:p>
            <a:endParaRPr lang="en-US"/>
          </a:p>
        </p:txBody>
      </p:sp>
      <p:sp>
        <p:nvSpPr>
          <p:cNvPr id="8" name="Text 6"/>
          <p:cNvSpPr/>
          <p:nvPr/>
        </p:nvSpPr>
        <p:spPr>
          <a:xfrm>
            <a:off x="822833" y="1062990"/>
            <a:ext cx="6263640" cy="411480"/>
          </a:xfrm>
          <a:prstGeom prst="rect">
            <a:avLst/>
          </a:prstGeom>
          <a:noFill/>
          <a:ln/>
        </p:spPr>
        <p:txBody>
          <a:bodyPr wrap="square" rtlCol="0" anchor="ctr"/>
          <a:lstStyle/>
          <a:p>
            <a:pPr marL="0" indent="0">
              <a:buNone/>
            </a:pPr>
            <a:r>
              <a:rPr lang="en-US" sz="1600" b="1" dirty="0">
                <a:solidFill>
                  <a:srgbClr val="22333B"/>
                </a:solidFill>
                <a:latin typeface="Times New Roman" panose="02020603050405020304" pitchFamily="18" charset="0"/>
                <a:ea typeface="Cambria" pitchFamily="34" charset="-122"/>
                <a:cs typeface="Times New Roman" panose="02020603050405020304" pitchFamily="18" charset="0"/>
              </a:rPr>
              <a:t>Physicochemical and structural  (11)</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822833" y="1508760"/>
            <a:ext cx="8713052" cy="2244852"/>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MW · LogP · LogS · TPSA · HBA · HBD · RotB · HAC · RingCount · Fsp³ · HalogenCount</a:t>
            </a:r>
            <a:endParaRPr lang="en-US" sz="2000" dirty="0">
              <a:latin typeface="Times New Roman" panose="02020603050405020304" pitchFamily="18" charset="0"/>
              <a:cs typeface="Times New Roman" panose="02020603050405020304" pitchFamily="18" charset="0"/>
            </a:endParaRPr>
          </a:p>
          <a:p>
            <a:pPr marL="0" indent="0">
              <a:lnSpc>
                <a:spcPct val="112000"/>
              </a:lnSpc>
              <a:buNone/>
            </a:pPr>
            <a:endParaRPr lang="en-US" sz="2000" dirty="0">
              <a:latin typeface="Times New Roman" panose="02020603050405020304" pitchFamily="18" charset="0"/>
              <a:cs typeface="Times New Roman" panose="02020603050405020304" pitchFamily="18" charset="0"/>
            </a:endParaRPr>
          </a:p>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Size, lipophilicity, solubility, polarity, flexibility and shape: the properties that govern whether a molecule is orally bioavailable and CNS-penetrant.</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567641" y="4111276"/>
            <a:ext cx="9669068" cy="2309585"/>
          </a:xfrm>
          <a:prstGeom prst="roundRect">
            <a:avLst>
              <a:gd name="adj" fmla="val 3529"/>
            </a:avLst>
          </a:prstGeom>
          <a:solidFill>
            <a:srgbClr val="F5ECE6"/>
          </a:solidFill>
          <a:ln/>
        </p:spPr>
        <p:txBody>
          <a:bodyPr/>
          <a:lstStyle/>
          <a:p>
            <a:endParaRPr lang="en-US"/>
          </a:p>
        </p:txBody>
      </p:sp>
      <p:sp>
        <p:nvSpPr>
          <p:cNvPr id="11" name="Text 9"/>
          <p:cNvSpPr/>
          <p:nvPr/>
        </p:nvSpPr>
        <p:spPr>
          <a:xfrm>
            <a:off x="822833" y="4338291"/>
            <a:ext cx="3520440" cy="411480"/>
          </a:xfrm>
          <a:prstGeom prst="rect">
            <a:avLst/>
          </a:prstGeom>
          <a:noFill/>
          <a:ln/>
        </p:spPr>
        <p:txBody>
          <a:bodyPr wrap="square" rtlCol="0" anchor="ctr"/>
          <a:lstStyle/>
          <a:p>
            <a:pPr marL="0" indent="0">
              <a:buNone/>
            </a:pPr>
            <a:r>
              <a:rPr lang="en-US" sz="1600" b="1" dirty="0">
                <a:solidFill>
                  <a:srgbClr val="22333B"/>
                </a:solidFill>
                <a:latin typeface="Times New Roman" panose="02020603050405020304" pitchFamily="18" charset="0"/>
                <a:ea typeface="Cambria" pitchFamily="34" charset="-122"/>
                <a:cs typeface="Times New Roman" panose="02020603050405020304" pitchFamily="18" charset="0"/>
              </a:rPr>
              <a:t>Efficiency metrics  (4)</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22833" y="4785808"/>
            <a:ext cx="8468934" cy="1435608"/>
          </a:xfrm>
          <a:prstGeom prst="rect">
            <a:avLst/>
          </a:prstGeom>
          <a:noFill/>
          <a:ln/>
        </p:spPr>
        <p:txBody>
          <a:bodyPr wrap="square" rtlCol="0" anchor="t"/>
          <a:lstStyle/>
          <a:p>
            <a:pPr>
              <a:lnSpc>
                <a:spcPct val="112000"/>
              </a:lnSpc>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LE · LLE · LELP ·QED</a:t>
            </a:r>
          </a:p>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Derived from the descriptors above together with the measured pKi, so potency is judged relative to size and lipophilicity rather than on its own.</a:t>
            </a:r>
            <a:endParaRPr lang="en-US" sz="2000" dirty="0">
              <a:latin typeface="Times New Roman" panose="02020603050405020304" pitchFamily="18" charset="0"/>
              <a:cs typeface="Times New Roman" panose="02020603050405020304" pitchFamily="18" charset="0"/>
            </a:endParaRPr>
          </a:p>
        </p:txBody>
      </p:sp>
      <p:sp>
        <p:nvSpPr>
          <p:cNvPr id="14" name="Shape 12"/>
          <p:cNvSpPr/>
          <p:nvPr/>
        </p:nvSpPr>
        <p:spPr>
          <a:xfrm>
            <a:off x="2452645" y="5869993"/>
            <a:ext cx="5669280" cy="566928"/>
          </a:xfrm>
          <a:prstGeom prst="roundRect">
            <a:avLst>
              <a:gd name="adj" fmla="val 14516"/>
            </a:avLst>
          </a:prstGeom>
          <a:solidFill>
            <a:srgbClr val="116E64"/>
          </a:solidFill>
          <a:ln/>
        </p:spPr>
        <p:txBody>
          <a:bodyPr/>
          <a:lstStyle/>
          <a:p>
            <a:endParaRPr lang="en-US" dirty="0"/>
          </a:p>
        </p:txBody>
      </p:sp>
      <p:sp>
        <p:nvSpPr>
          <p:cNvPr id="15" name="Text 13"/>
          <p:cNvSpPr/>
          <p:nvPr/>
        </p:nvSpPr>
        <p:spPr>
          <a:xfrm>
            <a:off x="3189759" y="5901497"/>
            <a:ext cx="4358329" cy="519365"/>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15 descriptors  →  ~200 for the models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ONE · PROPERTIES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Is the potency earned, or bought with size?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7</a:t>
            </a:r>
            <a:endParaRPr lang="en-US" sz="900" dirty="0"/>
          </a:p>
        </p:txBody>
      </p:sp>
      <p:pic>
        <p:nvPicPr>
          <p:cNvPr id="7" name="Image 0" descr="/sessions/sharp-elegant-gauss/mnt/outputs/thesis_clean/figures/deck_ligand_eff.png"/>
          <p:cNvPicPr>
            <a:picLocks noChangeAspect="1"/>
          </p:cNvPicPr>
          <p:nvPr/>
        </p:nvPicPr>
        <p:blipFill>
          <a:blip r:embed="rId3"/>
          <a:stretch>
            <a:fillRect/>
          </a:stretch>
        </p:blipFill>
        <p:spPr>
          <a:xfrm>
            <a:off x="548640" y="1742533"/>
            <a:ext cx="6634754" cy="4197096"/>
          </a:xfrm>
          <a:prstGeom prst="rect">
            <a:avLst/>
          </a:prstGeom>
        </p:spPr>
      </p:pic>
      <p:sp>
        <p:nvSpPr>
          <p:cNvPr id="8" name="Text 5"/>
          <p:cNvSpPr/>
          <p:nvPr/>
        </p:nvSpPr>
        <p:spPr>
          <a:xfrm>
            <a:off x="7183394" y="2148240"/>
            <a:ext cx="4572000" cy="868680"/>
          </a:xfrm>
          <a:prstGeom prst="rect">
            <a:avLst/>
          </a:prstGeom>
          <a:noFill/>
          <a:ln/>
        </p:spPr>
        <p:txBody>
          <a:bodyPr wrap="square" rtlCol="0" anchor="ctr"/>
          <a:lstStyle/>
          <a:p>
            <a:pPr marL="0" indent="0">
              <a:buNone/>
            </a:pPr>
            <a:r>
              <a:rPr lang="en-US" sz="4000" b="1" dirty="0">
                <a:solidFill>
                  <a:srgbClr val="116E64"/>
                </a:solidFill>
                <a:latin typeface="Cambria" pitchFamily="34" charset="0"/>
                <a:ea typeface="Cambria" pitchFamily="34" charset="-122"/>
                <a:cs typeface="Cambria" pitchFamily="34" charset="-120"/>
              </a:rPr>
              <a:t>0.52 → 0.24</a:t>
            </a:r>
            <a:endParaRPr lang="en-US" sz="4000" dirty="0"/>
          </a:p>
        </p:txBody>
      </p:sp>
      <p:sp>
        <p:nvSpPr>
          <p:cNvPr id="9" name="Text 6"/>
          <p:cNvSpPr/>
          <p:nvPr/>
        </p:nvSpPr>
        <p:spPr>
          <a:xfrm>
            <a:off x="7406640" y="3108960"/>
            <a:ext cx="45720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ligand efficiency, smallest compounds vs largest</a:t>
            </a:r>
            <a:endParaRPr lang="en-US" sz="1300" dirty="0"/>
          </a:p>
        </p:txBody>
      </p:sp>
      <p:sp>
        <p:nvSpPr>
          <p:cNvPr id="10" name="Text 7"/>
          <p:cNvSpPr/>
          <p:nvPr/>
        </p:nvSpPr>
        <p:spPr>
          <a:xfrm>
            <a:off x="7183394" y="3871585"/>
            <a:ext cx="457200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6.66 → 6.51</a:t>
            </a:r>
            <a:endParaRPr lang="en-US" sz="4000" dirty="0"/>
          </a:p>
        </p:txBody>
      </p:sp>
      <p:sp>
        <p:nvSpPr>
          <p:cNvPr id="11" name="Text 8"/>
          <p:cNvSpPr/>
          <p:nvPr/>
        </p:nvSpPr>
        <p:spPr>
          <a:xfrm>
            <a:off x="7406640" y="4797752"/>
            <a:ext cx="45720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median pKᵢ across the very same range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PART TWO · THE TARGETS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Two data-rich receptors, and how they reached modelling scale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72768"/>
            <a:ext cx="5440680" cy="3017520"/>
          </a:xfrm>
          <a:prstGeom prst="roundRect">
            <a:avLst>
              <a:gd name="adj" fmla="val 2727"/>
            </a:avLst>
          </a:prstGeom>
          <a:solidFill>
            <a:srgbClr val="E9F1F0"/>
          </a:solidFill>
          <a:ln/>
        </p:spPr>
        <p:txBody>
          <a:bodyPr/>
          <a:lstStyle/>
          <a:p>
            <a:endParaRPr lang="en-US"/>
          </a:p>
        </p:txBody>
      </p:sp>
      <p:sp>
        <p:nvSpPr>
          <p:cNvPr id="7" name="Text 5"/>
          <p:cNvSpPr/>
          <p:nvPr/>
        </p:nvSpPr>
        <p:spPr>
          <a:xfrm>
            <a:off x="868680" y="1700784"/>
            <a:ext cx="4846320" cy="384048"/>
          </a:xfrm>
          <a:prstGeom prst="rect">
            <a:avLst/>
          </a:prstGeom>
          <a:noFill/>
          <a:ln/>
        </p:spPr>
        <p:txBody>
          <a:bodyPr wrap="square" rtlCol="0" anchor="ctr"/>
          <a:lstStyle/>
          <a:p>
            <a:pPr marL="0" indent="0">
              <a:buNone/>
            </a:pPr>
            <a:r>
              <a:rPr lang="en-US" sz="1800" b="1" dirty="0">
                <a:solidFill>
                  <a:srgbClr val="22333B"/>
                </a:solidFill>
                <a:latin typeface="Cambria" pitchFamily="34" charset="0"/>
                <a:ea typeface="Cambria" pitchFamily="34" charset="-122"/>
                <a:cs typeface="Cambria" pitchFamily="34" charset="-120"/>
              </a:rPr>
              <a:t>Serotonin 5-HT₂A</a:t>
            </a:r>
            <a:endParaRPr lang="en-US" sz="1800" dirty="0"/>
          </a:p>
        </p:txBody>
      </p:sp>
      <p:sp>
        <p:nvSpPr>
          <p:cNvPr id="8" name="Text 6"/>
          <p:cNvSpPr/>
          <p:nvPr/>
        </p:nvSpPr>
        <p:spPr>
          <a:xfrm>
            <a:off x="868680" y="2103120"/>
            <a:ext cx="4846320" cy="347472"/>
          </a:xfrm>
          <a:prstGeom prst="rect">
            <a:avLst/>
          </a:prstGeom>
          <a:noFill/>
          <a:ln/>
        </p:spPr>
        <p:txBody>
          <a:bodyPr wrap="square" rtlCol="0" anchor="ctr"/>
          <a:lstStyle/>
          <a:p>
            <a:pPr marL="0" indent="0">
              <a:buNone/>
            </a:pPr>
            <a:r>
              <a:rPr lang="en-US" b="1" dirty="0">
                <a:solidFill>
                  <a:srgbClr val="116E64"/>
                </a:solidFill>
                <a:latin typeface="Times New Roman" panose="02020603050405020304" pitchFamily="18" charset="0"/>
                <a:ea typeface="Calibri" pitchFamily="34" charset="-122"/>
                <a:cs typeface="Times New Roman" panose="02020603050405020304" pitchFamily="18" charset="0"/>
              </a:rPr>
              <a:t>172 → 4,620 ligands</a:t>
            </a:r>
            <a:endParaRPr lang="en-US" dirty="0">
              <a:latin typeface="Times New Roman" panose="02020603050405020304" pitchFamily="18" charset="0"/>
              <a:cs typeface="Times New Roman" panose="02020603050405020304" pitchFamily="18" charset="0"/>
            </a:endParaRPr>
          </a:p>
        </p:txBody>
      </p:sp>
      <p:pic>
        <p:nvPicPr>
          <p:cNvPr id="9" name="Image 0" descr="/sessions/sharp-elegant-gauss/mnt/outputs/thesis_clean/figures/deck_serotonin.png"/>
          <p:cNvPicPr>
            <a:picLocks noChangeAspect="1"/>
          </p:cNvPicPr>
          <p:nvPr/>
        </p:nvPicPr>
        <p:blipFill>
          <a:blip r:embed="rId3"/>
          <a:stretch>
            <a:fillRect/>
          </a:stretch>
        </p:blipFill>
        <p:spPr>
          <a:xfrm>
            <a:off x="1490472" y="2432304"/>
            <a:ext cx="3566160" cy="1728216"/>
          </a:xfrm>
          <a:prstGeom prst="rect">
            <a:avLst/>
          </a:prstGeom>
        </p:spPr>
      </p:pic>
      <p:sp>
        <p:nvSpPr>
          <p:cNvPr id="10" name="Text 7"/>
          <p:cNvSpPr/>
          <p:nvPr/>
        </p:nvSpPr>
        <p:spPr>
          <a:xfrm>
            <a:off x="868680" y="4224528"/>
            <a:ext cx="4846320" cy="292608"/>
          </a:xfrm>
          <a:prstGeom prst="rect">
            <a:avLst/>
          </a:prstGeom>
          <a:noFill/>
          <a:ln/>
        </p:spPr>
        <p:txBody>
          <a:bodyPr wrap="square" rtlCol="0" anchor="ctr"/>
          <a:lstStyle/>
          <a:p>
            <a:pPr marL="0" indent="0" algn="ctr">
              <a:buNone/>
            </a:pPr>
            <a:r>
              <a:rPr lang="en-US" sz="1100" i="1" dirty="0">
                <a:solidFill>
                  <a:srgbClr val="60727A"/>
                </a:solidFill>
                <a:latin typeface="Calibri" pitchFamily="34" charset="0"/>
                <a:ea typeface="Calibri" pitchFamily="34" charset="-122"/>
                <a:cs typeface="Calibri" pitchFamily="34" charset="-120"/>
              </a:rPr>
              <a:t>endogenous ligand: serotonin</a:t>
            </a:r>
            <a:endParaRPr lang="en-US" sz="1100" dirty="0"/>
          </a:p>
        </p:txBody>
      </p:sp>
      <p:sp>
        <p:nvSpPr>
          <p:cNvPr id="11" name="Shape 8"/>
          <p:cNvSpPr/>
          <p:nvPr/>
        </p:nvSpPr>
        <p:spPr>
          <a:xfrm>
            <a:off x="6199632" y="1572768"/>
            <a:ext cx="5440680" cy="3017520"/>
          </a:xfrm>
          <a:prstGeom prst="roundRect">
            <a:avLst>
              <a:gd name="adj" fmla="val 2727"/>
            </a:avLst>
          </a:prstGeom>
          <a:solidFill>
            <a:srgbClr val="F5ECE6"/>
          </a:solidFill>
          <a:ln/>
        </p:spPr>
        <p:txBody>
          <a:bodyPr/>
          <a:lstStyle/>
          <a:p>
            <a:endParaRPr lang="en-US"/>
          </a:p>
        </p:txBody>
      </p:sp>
      <p:sp>
        <p:nvSpPr>
          <p:cNvPr id="12" name="Text 9"/>
          <p:cNvSpPr/>
          <p:nvPr/>
        </p:nvSpPr>
        <p:spPr>
          <a:xfrm>
            <a:off x="6519672" y="1700784"/>
            <a:ext cx="4846320" cy="384048"/>
          </a:xfrm>
          <a:prstGeom prst="rect">
            <a:avLst/>
          </a:prstGeom>
          <a:noFill/>
          <a:ln/>
        </p:spPr>
        <p:txBody>
          <a:bodyPr wrap="square" rtlCol="0" anchor="ctr"/>
          <a:lstStyle/>
          <a:p>
            <a:pPr marL="0" indent="0">
              <a:buNone/>
            </a:pPr>
            <a:r>
              <a:rPr lang="en-US" sz="1800" b="1" dirty="0">
                <a:solidFill>
                  <a:srgbClr val="22333B"/>
                </a:solidFill>
                <a:latin typeface="Cambria" pitchFamily="34" charset="0"/>
                <a:ea typeface="Cambria" pitchFamily="34" charset="-122"/>
                <a:cs typeface="Cambria" pitchFamily="34" charset="-120"/>
              </a:rPr>
              <a:t>Dopamine D₃</a:t>
            </a:r>
            <a:endParaRPr lang="en-US" sz="1800" dirty="0"/>
          </a:p>
        </p:txBody>
      </p:sp>
      <p:sp>
        <p:nvSpPr>
          <p:cNvPr id="13" name="Text 10"/>
          <p:cNvSpPr/>
          <p:nvPr/>
        </p:nvSpPr>
        <p:spPr>
          <a:xfrm>
            <a:off x="6519672" y="2103120"/>
            <a:ext cx="4846320" cy="347472"/>
          </a:xfrm>
          <a:prstGeom prst="rect">
            <a:avLst/>
          </a:prstGeom>
          <a:noFill/>
          <a:ln/>
        </p:spPr>
        <p:txBody>
          <a:bodyPr wrap="square" rtlCol="0" anchor="ctr"/>
          <a:lstStyle/>
          <a:p>
            <a:pPr marL="0" indent="0">
              <a:buNone/>
            </a:pPr>
            <a:r>
              <a:rPr lang="en-US" b="1" dirty="0">
                <a:solidFill>
                  <a:srgbClr val="BE5638"/>
                </a:solidFill>
                <a:latin typeface="Times New Roman" panose="02020603050405020304" pitchFamily="18" charset="0"/>
                <a:ea typeface="Calibri" pitchFamily="34" charset="-122"/>
                <a:cs typeface="Times New Roman" panose="02020603050405020304" pitchFamily="18" charset="0"/>
              </a:rPr>
              <a:t>173 → 5,488 ligands</a:t>
            </a:r>
            <a:endParaRPr lang="en-US" dirty="0">
              <a:latin typeface="Times New Roman" panose="02020603050405020304" pitchFamily="18" charset="0"/>
              <a:cs typeface="Times New Roman" panose="02020603050405020304" pitchFamily="18" charset="0"/>
            </a:endParaRPr>
          </a:p>
        </p:txBody>
      </p:sp>
      <p:pic>
        <p:nvPicPr>
          <p:cNvPr id="14" name="Image 1" descr="/sessions/sharp-elegant-gauss/mnt/outputs/thesis_clean/figures/deck_dopamine.png"/>
          <p:cNvPicPr>
            <a:picLocks noChangeAspect="1"/>
          </p:cNvPicPr>
          <p:nvPr/>
        </p:nvPicPr>
        <p:blipFill>
          <a:blip r:embed="rId4"/>
          <a:stretch>
            <a:fillRect/>
          </a:stretch>
        </p:blipFill>
        <p:spPr>
          <a:xfrm>
            <a:off x="7141464" y="2432304"/>
            <a:ext cx="3566160" cy="1728216"/>
          </a:xfrm>
          <a:prstGeom prst="rect">
            <a:avLst/>
          </a:prstGeom>
        </p:spPr>
      </p:pic>
      <p:sp>
        <p:nvSpPr>
          <p:cNvPr id="15" name="Text 11"/>
          <p:cNvSpPr/>
          <p:nvPr/>
        </p:nvSpPr>
        <p:spPr>
          <a:xfrm>
            <a:off x="6519672" y="4224528"/>
            <a:ext cx="4846320" cy="292608"/>
          </a:xfrm>
          <a:prstGeom prst="rect">
            <a:avLst/>
          </a:prstGeom>
          <a:noFill/>
          <a:ln/>
        </p:spPr>
        <p:txBody>
          <a:bodyPr wrap="square" rtlCol="0" anchor="ctr"/>
          <a:lstStyle/>
          <a:p>
            <a:pPr marL="0" indent="0" algn="ctr">
              <a:buNone/>
            </a:pPr>
            <a:r>
              <a:rPr lang="en-US" sz="1100" i="1" dirty="0">
                <a:solidFill>
                  <a:srgbClr val="60727A"/>
                </a:solidFill>
                <a:latin typeface="Calibri" pitchFamily="34" charset="0"/>
                <a:ea typeface="Calibri" pitchFamily="34" charset="-122"/>
                <a:cs typeface="Calibri" pitchFamily="34" charset="-120"/>
              </a:rPr>
              <a:t>endogenous ligand: dopamine</a:t>
            </a:r>
            <a:endParaRPr lang="en-US" sz="1100" dirty="0"/>
          </a:p>
        </p:txBody>
      </p:sp>
      <p:sp>
        <p:nvSpPr>
          <p:cNvPr id="21" name="Text 17"/>
          <p:cNvSpPr/>
          <p:nvPr/>
        </p:nvSpPr>
        <p:spPr>
          <a:xfrm>
            <a:off x="521208" y="4919472"/>
            <a:ext cx="10964776" cy="1106424"/>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Only 172 and 173 clinical compounds per target: too few to train on and validate. Preclinical ChEMBL compounds were added under the same curation.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THE TASK</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From a molecule to a predicted affinity</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10</a:t>
            </a:r>
            <a:endParaRPr lang="en-US" sz="900" dirty="0"/>
          </a:p>
        </p:txBody>
      </p:sp>
      <p:sp>
        <p:nvSpPr>
          <p:cNvPr id="6" name="Text 4"/>
          <p:cNvSpPr/>
          <p:nvPr/>
        </p:nvSpPr>
        <p:spPr>
          <a:xfrm>
            <a:off x="411480" y="2121408"/>
            <a:ext cx="2514600" cy="411480"/>
          </a:xfrm>
          <a:prstGeom prst="rect">
            <a:avLst/>
          </a:prstGeom>
          <a:noFill/>
          <a:ln/>
        </p:spPr>
        <p:txBody>
          <a:bodyPr wrap="square" rtlCol="0" anchor="ctr"/>
          <a:lstStyle/>
          <a:p>
            <a:pPr marL="0" indent="0" algn="ctr">
              <a:buNone/>
            </a:pPr>
            <a:r>
              <a:rPr lang="en-US" sz="1600" b="1" dirty="0">
                <a:solidFill>
                  <a:srgbClr val="22333B"/>
                </a:solidFill>
                <a:latin typeface="Cambria" pitchFamily="34" charset="0"/>
                <a:ea typeface="Cambria" pitchFamily="34" charset="-122"/>
                <a:cs typeface="Cambria" pitchFamily="34" charset="-120"/>
              </a:rPr>
              <a:t>Molecule</a:t>
            </a:r>
            <a:endParaRPr lang="en-US" sz="1600" dirty="0"/>
          </a:p>
        </p:txBody>
      </p:sp>
      <p:pic>
        <p:nvPicPr>
          <p:cNvPr id="7" name="Image 0" descr="/sessions/sharp-elegant-gauss/mnt/outputs/thesis_clean/figures/deck_pipe.png"/>
          <p:cNvPicPr>
            <a:picLocks noChangeAspect="1"/>
          </p:cNvPicPr>
          <p:nvPr/>
        </p:nvPicPr>
        <p:blipFill>
          <a:blip r:embed="rId3"/>
          <a:stretch>
            <a:fillRect/>
          </a:stretch>
        </p:blipFill>
        <p:spPr>
          <a:xfrm>
            <a:off x="548640" y="2825496"/>
            <a:ext cx="2240280" cy="1664208"/>
          </a:xfrm>
          <a:prstGeom prst="rect">
            <a:avLst/>
          </a:prstGeom>
        </p:spPr>
      </p:pic>
      <p:sp>
        <p:nvSpPr>
          <p:cNvPr id="8" name="Text 5"/>
          <p:cNvSpPr/>
          <p:nvPr/>
        </p:nvSpPr>
        <p:spPr>
          <a:xfrm>
            <a:off x="2980944" y="3337560"/>
            <a:ext cx="502920" cy="640080"/>
          </a:xfrm>
          <a:prstGeom prst="rect">
            <a:avLst/>
          </a:prstGeom>
          <a:noFill/>
          <a:ln/>
        </p:spPr>
        <p:txBody>
          <a:bodyPr wrap="square" rtlCol="0" anchor="ctr"/>
          <a:lstStyle/>
          <a:p>
            <a:pPr marL="0" indent="0" algn="ctr">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9" name="Text 6"/>
          <p:cNvSpPr/>
          <p:nvPr/>
        </p:nvSpPr>
        <p:spPr>
          <a:xfrm>
            <a:off x="3429000" y="2121408"/>
            <a:ext cx="2697480" cy="411480"/>
          </a:xfrm>
          <a:prstGeom prst="rect">
            <a:avLst/>
          </a:prstGeom>
          <a:noFill/>
          <a:ln/>
        </p:spPr>
        <p:txBody>
          <a:bodyPr wrap="square" rtlCol="0" anchor="ctr"/>
          <a:lstStyle/>
          <a:p>
            <a:pPr marL="0" indent="0" algn="ctr">
              <a:buNone/>
            </a:pPr>
            <a:r>
              <a:rPr lang="en-US" sz="1600" b="1" dirty="0">
                <a:solidFill>
                  <a:srgbClr val="22333B"/>
                </a:solidFill>
                <a:latin typeface="Cambria" pitchFamily="34" charset="0"/>
                <a:ea typeface="Cambria" pitchFamily="34" charset="-122"/>
                <a:cs typeface="Cambria" pitchFamily="34" charset="-120"/>
              </a:rPr>
              <a:t>Features</a:t>
            </a:r>
            <a:endParaRPr lang="en-US" sz="1600" dirty="0"/>
          </a:p>
        </p:txBody>
      </p:sp>
      <p:pic>
        <p:nvPicPr>
          <p:cNvPr id="10" name="Image 1" descr="/sessions/sharp-elegant-gauss/mnt/outputs/thesis_clean/figures/deck_icon_features.png"/>
          <p:cNvPicPr>
            <a:picLocks noChangeAspect="1"/>
          </p:cNvPicPr>
          <p:nvPr/>
        </p:nvPicPr>
        <p:blipFill>
          <a:blip r:embed="rId4"/>
          <a:stretch>
            <a:fillRect/>
          </a:stretch>
        </p:blipFill>
        <p:spPr>
          <a:xfrm>
            <a:off x="3474720" y="3273552"/>
            <a:ext cx="2606040" cy="768096"/>
          </a:xfrm>
          <a:prstGeom prst="rect">
            <a:avLst/>
          </a:prstGeom>
        </p:spPr>
      </p:pic>
      <p:sp>
        <p:nvSpPr>
          <p:cNvPr id="11" name="Text 7"/>
          <p:cNvSpPr/>
          <p:nvPr/>
        </p:nvSpPr>
        <p:spPr>
          <a:xfrm>
            <a:off x="6181344" y="3337560"/>
            <a:ext cx="502920" cy="640080"/>
          </a:xfrm>
          <a:prstGeom prst="rect">
            <a:avLst/>
          </a:prstGeom>
          <a:noFill/>
          <a:ln/>
        </p:spPr>
        <p:txBody>
          <a:bodyPr wrap="square" rtlCol="0" anchor="ctr"/>
          <a:lstStyle/>
          <a:p>
            <a:pPr marL="0" indent="0" algn="ctr">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12" name="Text 8"/>
          <p:cNvSpPr/>
          <p:nvPr/>
        </p:nvSpPr>
        <p:spPr>
          <a:xfrm>
            <a:off x="6537960" y="2121408"/>
            <a:ext cx="2697480" cy="411480"/>
          </a:xfrm>
          <a:prstGeom prst="rect">
            <a:avLst/>
          </a:prstGeom>
          <a:noFill/>
          <a:ln/>
        </p:spPr>
        <p:txBody>
          <a:bodyPr wrap="square" rtlCol="0" anchor="ctr"/>
          <a:lstStyle/>
          <a:p>
            <a:pPr marL="0" indent="0" algn="ctr">
              <a:buNone/>
            </a:pPr>
            <a:r>
              <a:rPr lang="en-US" sz="1600" b="1" dirty="0">
                <a:solidFill>
                  <a:srgbClr val="22333B"/>
                </a:solidFill>
                <a:latin typeface="Cambria" pitchFamily="34" charset="0"/>
                <a:ea typeface="Cambria" pitchFamily="34" charset="-122"/>
                <a:cs typeface="Cambria" pitchFamily="34" charset="-120"/>
              </a:rPr>
              <a:t>Model</a:t>
            </a:r>
            <a:endParaRPr lang="en-US" sz="1600" dirty="0"/>
          </a:p>
        </p:txBody>
      </p:sp>
      <p:pic>
        <p:nvPicPr>
          <p:cNvPr id="13" name="Image 2" descr="/sessions/sharp-elegant-gauss/mnt/outputs/thesis_clean/figures/deck_icon_model.png"/>
          <p:cNvPicPr>
            <a:picLocks noChangeAspect="1"/>
          </p:cNvPicPr>
          <p:nvPr/>
        </p:nvPicPr>
        <p:blipFill>
          <a:blip r:embed="rId5"/>
          <a:stretch>
            <a:fillRect/>
          </a:stretch>
        </p:blipFill>
        <p:spPr>
          <a:xfrm>
            <a:off x="6583680" y="3090672"/>
            <a:ext cx="2606040" cy="1133856"/>
          </a:xfrm>
          <a:prstGeom prst="rect">
            <a:avLst/>
          </a:prstGeom>
        </p:spPr>
      </p:pic>
      <p:sp>
        <p:nvSpPr>
          <p:cNvPr id="14" name="Text 9"/>
          <p:cNvSpPr/>
          <p:nvPr/>
        </p:nvSpPr>
        <p:spPr>
          <a:xfrm>
            <a:off x="9290304" y="3337560"/>
            <a:ext cx="502920" cy="640080"/>
          </a:xfrm>
          <a:prstGeom prst="rect">
            <a:avLst/>
          </a:prstGeom>
          <a:noFill/>
          <a:ln/>
        </p:spPr>
        <p:txBody>
          <a:bodyPr wrap="square" rtlCol="0" anchor="ctr"/>
          <a:lstStyle/>
          <a:p>
            <a:pPr marL="0" indent="0" algn="ctr">
              <a:buNone/>
            </a:pPr>
            <a:r>
              <a:rPr lang="en-US" sz="3000" b="1" dirty="0">
                <a:solidFill>
                  <a:srgbClr val="BE5638"/>
                </a:solidFill>
                <a:latin typeface="Calibri" pitchFamily="34" charset="0"/>
                <a:ea typeface="Calibri" pitchFamily="34" charset="-122"/>
                <a:cs typeface="Calibri" pitchFamily="34" charset="-120"/>
              </a:rPr>
              <a:t>→</a:t>
            </a:r>
            <a:endParaRPr lang="en-US" sz="3000" dirty="0"/>
          </a:p>
        </p:txBody>
      </p:sp>
      <p:sp>
        <p:nvSpPr>
          <p:cNvPr id="15" name="Text 10"/>
          <p:cNvSpPr/>
          <p:nvPr/>
        </p:nvSpPr>
        <p:spPr>
          <a:xfrm>
            <a:off x="9646920" y="2121408"/>
            <a:ext cx="2148840" cy="411480"/>
          </a:xfrm>
          <a:prstGeom prst="rect">
            <a:avLst/>
          </a:prstGeom>
          <a:noFill/>
          <a:ln/>
        </p:spPr>
        <p:txBody>
          <a:bodyPr wrap="square" rtlCol="0" anchor="ctr"/>
          <a:lstStyle/>
          <a:p>
            <a:pPr marL="0" indent="0" algn="ctr">
              <a:buNone/>
            </a:pPr>
            <a:r>
              <a:rPr lang="en-US" sz="1600" b="1" dirty="0">
                <a:solidFill>
                  <a:srgbClr val="116E64"/>
                </a:solidFill>
                <a:latin typeface="Cambria" pitchFamily="34" charset="0"/>
                <a:ea typeface="Cambria" pitchFamily="34" charset="-122"/>
                <a:cs typeface="Cambria" pitchFamily="34" charset="-120"/>
              </a:rPr>
              <a:t>Predicted pKi</a:t>
            </a:r>
            <a:endParaRPr lang="en-US" sz="1600" dirty="0"/>
          </a:p>
        </p:txBody>
      </p:sp>
      <p:pic>
        <p:nvPicPr>
          <p:cNvPr id="16" name="Image 3" descr="/sessions/sharp-elegant-gauss/mnt/outputs/thesis_clean/figures/deck_icon_pki.png"/>
          <p:cNvPicPr>
            <a:picLocks noChangeAspect="1"/>
          </p:cNvPicPr>
          <p:nvPr/>
        </p:nvPicPr>
        <p:blipFill>
          <a:blip r:embed="rId6"/>
          <a:stretch>
            <a:fillRect/>
          </a:stretch>
        </p:blipFill>
        <p:spPr>
          <a:xfrm>
            <a:off x="9784080" y="2875788"/>
            <a:ext cx="1874520" cy="1563624"/>
          </a:xfrm>
          <a:prstGeom prst="rect">
            <a:avLst/>
          </a:prstGeom>
        </p:spPr>
      </p:pic>
      <p:sp>
        <p:nvSpPr>
          <p:cNvPr id="17" name="Text 11"/>
          <p:cNvSpPr/>
          <p:nvPr/>
        </p:nvSpPr>
        <p:spPr>
          <a:xfrm>
            <a:off x="685800" y="5230368"/>
            <a:ext cx="10789920" cy="731520"/>
          </a:xfrm>
          <a:prstGeom prst="rect">
            <a:avLst/>
          </a:prstGeom>
          <a:noFill/>
          <a:ln/>
        </p:spPr>
        <p:txBody>
          <a:bodyPr wrap="square" rtlCol="0" anchor="ctr"/>
          <a:lstStyle/>
          <a:p>
            <a:pPr marL="0" indent="0" algn="ctr">
              <a:buNone/>
            </a:pPr>
            <a:r>
              <a:rPr lang="en-US" sz="1400" i="1" dirty="0">
                <a:solidFill>
                  <a:srgbClr val="60727A"/>
                </a:solidFill>
                <a:latin typeface="Calibri" pitchFamily="34" charset="0"/>
                <a:ea typeface="Calibri" pitchFamily="34" charset="-122"/>
                <a:cs typeface="Calibri" pitchFamily="34" charset="-120"/>
              </a:rPr>
              <a:t>A model is a mathematical function: it takes numbers in and returns a number. So the molecule must first be translated into numbers.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FEATURES 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ECFP4 fingerprints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11</a:t>
            </a:r>
            <a:endParaRPr lang="en-US" sz="900" dirty="0"/>
          </a:p>
        </p:txBody>
      </p:sp>
      <p:sp>
        <p:nvSpPr>
          <p:cNvPr id="6" name="Text 4"/>
          <p:cNvSpPr/>
          <p:nvPr/>
        </p:nvSpPr>
        <p:spPr>
          <a:xfrm>
            <a:off x="621665" y="2203331"/>
            <a:ext cx="6021388" cy="3904488"/>
          </a:xfrm>
          <a:prstGeom prst="rect">
            <a:avLst/>
          </a:prstGeom>
          <a:noFill/>
          <a:ln/>
        </p:spPr>
        <p:txBody>
          <a:bodyPr wrap="square" rtlCol="0" anchor="t"/>
          <a:lstStyle/>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Each atom local neighbourhood (out to two bonds) is a small substructure.</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Every substructure is hashed into one of 2,048 slots: a fixed-length on/off barcode.</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Each bit answers: is this fragment present? Similar molecules give similar barcodes.</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Length is always 2,048 bits, whatever the molecule size.</a:t>
            </a:r>
            <a:endParaRPr lang="en-US" sz="2000" dirty="0">
              <a:latin typeface="Times New Roman" panose="02020603050405020304" pitchFamily="18" charset="0"/>
              <a:cs typeface="Times New Roman" panose="02020603050405020304" pitchFamily="18" charset="0"/>
            </a:endParaRPr>
          </a:p>
        </p:txBody>
      </p:sp>
      <p:pic>
        <p:nvPicPr>
          <p:cNvPr id="10" name="Image 0" descr="/sessions/sharp-elegant-gauss/mnt/outputs/thesis_clean/figures/deck_fp_concept.png"/>
          <p:cNvPicPr>
            <a:picLocks noChangeAspect="1"/>
          </p:cNvPicPr>
          <p:nvPr/>
        </p:nvPicPr>
        <p:blipFill>
          <a:blip r:embed="rId3"/>
          <a:stretch>
            <a:fillRect/>
          </a:stretch>
        </p:blipFill>
        <p:spPr>
          <a:xfrm>
            <a:off x="6400800" y="1010505"/>
            <a:ext cx="5029200" cy="42976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FEATURES II</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Descriptors, and the fused vector</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48639" y="1874520"/>
            <a:ext cx="5545773" cy="3070704"/>
          </a:xfrm>
          <a:prstGeom prst="roundRect">
            <a:avLst>
              <a:gd name="adj" fmla="val 4737"/>
            </a:avLst>
          </a:prstGeom>
          <a:solidFill>
            <a:srgbClr val="E9F1F0"/>
          </a:solidFill>
          <a:ln/>
        </p:spPr>
        <p:txBody>
          <a:bodyPr/>
          <a:lstStyle/>
          <a:p>
            <a:endParaRPr lang="en-US"/>
          </a:p>
        </p:txBody>
      </p:sp>
      <p:sp>
        <p:nvSpPr>
          <p:cNvPr id="7" name="Text 5"/>
          <p:cNvSpPr/>
          <p:nvPr/>
        </p:nvSpPr>
        <p:spPr>
          <a:xfrm>
            <a:off x="822960" y="2075688"/>
            <a:ext cx="4754880" cy="411480"/>
          </a:xfrm>
          <a:prstGeom prst="rect">
            <a:avLst/>
          </a:prstGeom>
          <a:noFill/>
          <a:ln/>
        </p:spPr>
        <p:txBody>
          <a:bodyPr wrap="square" rtlCol="0" anchor="ctr"/>
          <a:lstStyle/>
          <a:p>
            <a:pPr marL="0" indent="0">
              <a:buNone/>
            </a:pPr>
            <a:r>
              <a:rPr lang="en-US" sz="2200" b="1" dirty="0">
                <a:solidFill>
                  <a:srgbClr val="22333B"/>
                </a:solidFill>
                <a:latin typeface="Times New Roman" panose="02020603050405020304" pitchFamily="18" charset="0"/>
                <a:ea typeface="Cambria" pitchFamily="34" charset="-122"/>
                <a:cs typeface="Times New Roman" panose="02020603050405020304" pitchFamily="18" charset="0"/>
              </a:rPr>
              <a:t>The 15 become ~200</a:t>
            </a:r>
            <a:endParaRPr lang="en-US" sz="2200" dirty="0">
              <a:latin typeface="Times New Roman" panose="02020603050405020304" pitchFamily="18" charset="0"/>
              <a:cs typeface="Times New Roman" panose="02020603050405020304" pitchFamily="18" charset="0"/>
            </a:endParaRPr>
          </a:p>
        </p:txBody>
      </p:sp>
      <p:sp>
        <p:nvSpPr>
          <p:cNvPr id="8" name="Text 6"/>
          <p:cNvSpPr/>
          <p:nvPr/>
        </p:nvSpPr>
        <p:spPr>
          <a:xfrm>
            <a:off x="822960" y="2551176"/>
            <a:ext cx="4754880" cy="841248"/>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The same idea as the Part One panel, scaled up: weight, lipophilicity, polar surface area, charge and much else, from DescriptaStorus (RDKit2D, normalised). Part One used 15 interpretable descriptors; the model gets the full panel.</a:t>
            </a:r>
            <a:endParaRPr lang="en-US" sz="2000" dirty="0">
              <a:latin typeface="Times New Roman" panose="02020603050405020304" pitchFamily="18" charset="0"/>
              <a:cs typeface="Times New Roman" panose="02020603050405020304" pitchFamily="18" charset="0"/>
            </a:endParaRPr>
          </a:p>
        </p:txBody>
      </p:sp>
      <p:sp>
        <p:nvSpPr>
          <p:cNvPr id="9" name="Shape 7"/>
          <p:cNvSpPr/>
          <p:nvPr/>
        </p:nvSpPr>
        <p:spPr>
          <a:xfrm>
            <a:off x="6126480" y="1874520"/>
            <a:ext cx="5577840" cy="3070704"/>
          </a:xfrm>
          <a:prstGeom prst="roundRect">
            <a:avLst>
              <a:gd name="adj" fmla="val 5373"/>
            </a:avLst>
          </a:prstGeom>
          <a:solidFill>
            <a:srgbClr val="F5ECE6"/>
          </a:solidFill>
          <a:ln/>
        </p:spPr>
        <p:txBody>
          <a:bodyPr/>
          <a:lstStyle/>
          <a:p>
            <a:endParaRPr lang="en-US"/>
          </a:p>
        </p:txBody>
      </p:sp>
      <p:sp>
        <p:nvSpPr>
          <p:cNvPr id="10" name="Text 8"/>
          <p:cNvSpPr/>
          <p:nvPr/>
        </p:nvSpPr>
        <p:spPr>
          <a:xfrm>
            <a:off x="6400800" y="2075688"/>
            <a:ext cx="4846320" cy="411480"/>
          </a:xfrm>
          <a:prstGeom prst="rect">
            <a:avLst/>
          </a:prstGeom>
          <a:noFill/>
          <a:ln/>
        </p:spPr>
        <p:txBody>
          <a:bodyPr wrap="square" rtlCol="0" anchor="ctr"/>
          <a:lstStyle/>
          <a:p>
            <a:pPr marL="0" indent="0">
              <a:buNone/>
            </a:pPr>
            <a:r>
              <a:rPr lang="en-US" sz="2200" b="1" dirty="0">
                <a:solidFill>
                  <a:srgbClr val="22333B"/>
                </a:solidFill>
                <a:latin typeface="Times New Roman" panose="02020603050405020304" pitchFamily="18" charset="0"/>
                <a:ea typeface="Cambria" pitchFamily="34" charset="-122"/>
                <a:cs typeface="Times New Roman" panose="02020603050405020304" pitchFamily="18" charset="0"/>
              </a:rPr>
              <a:t>Fused representation</a:t>
            </a:r>
            <a:endParaRPr lang="en-US" sz="2200" dirty="0">
              <a:latin typeface="Times New Roman" panose="02020603050405020304" pitchFamily="18" charset="0"/>
              <a:cs typeface="Times New Roman" panose="02020603050405020304" pitchFamily="18" charset="0"/>
            </a:endParaRPr>
          </a:p>
        </p:txBody>
      </p:sp>
      <p:sp>
        <p:nvSpPr>
          <p:cNvPr id="11" name="Text 9"/>
          <p:cNvSpPr/>
          <p:nvPr/>
        </p:nvSpPr>
        <p:spPr>
          <a:xfrm>
            <a:off x="6400800" y="2551176"/>
            <a:ext cx="4846320" cy="635508"/>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The 2048-bit fingerprint and ~200 descriptors are concatenated into a single 2,248-dimensional vector: the only view of each molecule the model ever sees.</a:t>
            </a:r>
            <a:endParaRPr lang="en-US" sz="2000" dirty="0">
              <a:latin typeface="Times New Roman" panose="02020603050405020304" pitchFamily="18" charset="0"/>
              <a:cs typeface="Times New Roman" panose="02020603050405020304" pitchFamily="18" charset="0"/>
            </a:endParaRPr>
          </a:p>
        </p:txBody>
      </p:sp>
      <p:sp>
        <p:nvSpPr>
          <p:cNvPr id="12" name="Text 10"/>
          <p:cNvSpPr/>
          <p:nvPr/>
        </p:nvSpPr>
        <p:spPr>
          <a:xfrm>
            <a:off x="608012" y="4873752"/>
            <a:ext cx="10972800" cy="640080"/>
          </a:xfrm>
          <a:prstGeom prst="rect">
            <a:avLst/>
          </a:prstGeom>
          <a:noFill/>
          <a:ln/>
        </p:spPr>
        <p:txBody>
          <a:bodyPr wrap="square" rtlCol="0" anchor="ctr"/>
          <a:lstStyle/>
          <a:p>
            <a:pPr marL="0" indent="0" algn="ctr">
              <a:buNone/>
            </a:pPr>
            <a:r>
              <a:rPr lang="en-US" sz="2600" b="1" dirty="0">
                <a:solidFill>
                  <a:srgbClr val="116E64"/>
                </a:solidFill>
                <a:latin typeface="Cambria" pitchFamily="34" charset="0"/>
                <a:ea typeface="Cambria" pitchFamily="34" charset="-122"/>
                <a:cs typeface="Cambria" pitchFamily="34" charset="-120"/>
              </a:rPr>
              <a:t>2048  +  200  =  2,248</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Times New Roman" panose="02020603050405020304" pitchFamily="18" charset="0"/>
                <a:ea typeface="Calibri" pitchFamily="34" charset="-122"/>
                <a:cs typeface="Times New Roman" panose="02020603050405020304" pitchFamily="18" charset="0"/>
              </a:rPr>
              <a:t>THE MODELS</a:t>
            </a:r>
            <a:endParaRPr lang="en-US" sz="1200" dirty="0">
              <a:latin typeface="Times New Roman" panose="02020603050405020304" pitchFamily="18" charset="0"/>
              <a:cs typeface="Times New Roman" panose="02020603050405020304" pitchFamily="18" charset="0"/>
            </a:endParaRPr>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800" b="1" dirty="0">
                <a:solidFill>
                  <a:srgbClr val="22333B"/>
                </a:solidFill>
                <a:latin typeface="Times New Roman" panose="02020603050405020304" pitchFamily="18" charset="0"/>
                <a:ea typeface="Cambria" pitchFamily="34" charset="-122"/>
                <a:cs typeface="Times New Roman" panose="02020603050405020304" pitchFamily="18" charset="0"/>
              </a:rPr>
              <a:t> Tree ensembles</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MSc Molecular &amp; Medical Biotechnology · University of Verona</a:t>
            </a:r>
            <a:endParaRPr lang="en-US" sz="900" dirty="0">
              <a:latin typeface="Times New Roman" panose="02020603050405020304" pitchFamily="18" charset="0"/>
              <a:cs typeface="Times New Roman" panose="02020603050405020304" pitchFamily="18" charset="0"/>
            </a:endParaRPr>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Times New Roman" panose="02020603050405020304" pitchFamily="18" charset="0"/>
                <a:ea typeface="Calibri" pitchFamily="34" charset="-122"/>
                <a:cs typeface="Times New Roman" panose="02020603050405020304" pitchFamily="18" charset="0"/>
              </a:rPr>
              <a:t>13</a:t>
            </a:r>
            <a:endParaRPr lang="en-US" sz="900" dirty="0">
              <a:latin typeface="Times New Roman" panose="02020603050405020304" pitchFamily="18" charset="0"/>
              <a:cs typeface="Times New Roman" panose="02020603050405020304" pitchFamily="18" charset="0"/>
            </a:endParaRPr>
          </a:p>
        </p:txBody>
      </p:sp>
      <p:sp>
        <p:nvSpPr>
          <p:cNvPr id="6" name="Shape 4"/>
          <p:cNvSpPr/>
          <p:nvPr/>
        </p:nvSpPr>
        <p:spPr>
          <a:xfrm>
            <a:off x="692400" y="1280160"/>
            <a:ext cx="4159518" cy="2148840"/>
          </a:xfrm>
          <a:prstGeom prst="roundRect">
            <a:avLst>
              <a:gd name="adj" fmla="val 4390"/>
            </a:avLst>
          </a:prstGeom>
          <a:solidFill>
            <a:srgbClr val="E9F1F0"/>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822960" y="1773936"/>
            <a:ext cx="2971800" cy="411480"/>
          </a:xfrm>
          <a:prstGeom prst="rect">
            <a:avLst/>
          </a:prstGeom>
          <a:noFill/>
          <a:ln/>
        </p:spPr>
        <p:txBody>
          <a:bodyPr wrap="square" rtlCol="0" anchor="ctr"/>
          <a:lstStyle/>
          <a:p>
            <a:pPr marL="0" indent="0">
              <a:buNone/>
            </a:pPr>
            <a:r>
              <a:rPr lang="en-US" sz="2000" b="1" dirty="0">
                <a:solidFill>
                  <a:srgbClr val="22333B"/>
                </a:solidFill>
                <a:latin typeface="Times New Roman" panose="02020603050405020304" pitchFamily="18" charset="0"/>
                <a:ea typeface="Cambria" pitchFamily="34" charset="-122"/>
                <a:cs typeface="Times New Roman" panose="02020603050405020304" pitchFamily="18" charset="0"/>
              </a:rPr>
              <a:t>Random Forest</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822960" y="2249424"/>
            <a:ext cx="3935652" cy="1179576"/>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Hundreds of decision trees trained on random data and feature subsets, then averaged, so diverse errors cancel out.</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6596744" y="1280160"/>
            <a:ext cx="3879668" cy="2148840"/>
          </a:xfrm>
          <a:prstGeom prst="roundRect">
            <a:avLst>
              <a:gd name="adj" fmla="val 4390"/>
            </a:avLst>
          </a:prstGeom>
          <a:solidFill>
            <a:srgbClr val="F5ECE6"/>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904653" y="1773096"/>
            <a:ext cx="2863920" cy="411480"/>
          </a:xfrm>
          <a:prstGeom prst="rect">
            <a:avLst/>
          </a:prstGeom>
          <a:noFill/>
          <a:ln/>
        </p:spPr>
        <p:txBody>
          <a:bodyPr wrap="square" rtlCol="0" anchor="ctr"/>
          <a:lstStyle/>
          <a:p>
            <a:pPr marL="0" indent="0">
              <a:buNone/>
            </a:pPr>
            <a:r>
              <a:rPr lang="en-US" sz="2000" b="1" dirty="0">
                <a:solidFill>
                  <a:srgbClr val="22333B"/>
                </a:solidFill>
                <a:latin typeface="Times New Roman" panose="02020603050405020304" pitchFamily="18" charset="0"/>
                <a:ea typeface="Cambria" pitchFamily="34" charset="-122"/>
                <a:cs typeface="Times New Roman" panose="02020603050405020304" pitchFamily="18" charset="0"/>
              </a:rPr>
              <a:t>XGBoost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6904653" y="2260759"/>
            <a:ext cx="3377682" cy="1089909"/>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Gradient boosting: trees added in sequence, each correcting the errors of the last.</a:t>
            </a:r>
            <a:endParaRPr lang="en-US" sz="2000" dirty="0">
              <a:latin typeface="Times New Roman" panose="02020603050405020304" pitchFamily="18" charset="0"/>
              <a:cs typeface="Times New Roman" panose="02020603050405020304" pitchFamily="18" charset="0"/>
            </a:endParaRPr>
          </a:p>
        </p:txBody>
      </p:sp>
      <p:pic>
        <p:nvPicPr>
          <p:cNvPr id="15" name="Image 0" descr="/sessions/sharp-elegant-gauss/mnt/outputs/thesis_clean/figures/deck_ensembles.png"/>
          <p:cNvPicPr>
            <a:picLocks noChangeAspect="1"/>
          </p:cNvPicPr>
          <p:nvPr/>
        </p:nvPicPr>
        <p:blipFill>
          <a:blip r:embed="rId3"/>
          <a:stretch>
            <a:fillRect/>
          </a:stretch>
        </p:blipFill>
        <p:spPr>
          <a:xfrm>
            <a:off x="1130497" y="3643276"/>
            <a:ext cx="9601200" cy="27340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VALIDATION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The honest test: a scaffold split</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960120" y="1517904"/>
            <a:ext cx="365760" cy="365760"/>
          </a:xfrm>
          <a:prstGeom prst="rect">
            <a:avLst/>
          </a:prstGeom>
          <a:noFill/>
          <a:ln/>
        </p:spPr>
        <p:txBody>
          <a:bodyPr wrap="square" rtlCol="0" anchor="ctr"/>
          <a:lstStyle/>
          <a:p>
            <a:pPr marL="0" indent="0">
              <a:buNone/>
            </a:pPr>
            <a:r>
              <a:rPr lang="en-US" sz="1900" b="1" dirty="0">
                <a:solidFill>
                  <a:srgbClr val="BE5638"/>
                </a:solidFill>
                <a:latin typeface="Cambria" pitchFamily="34" charset="0"/>
                <a:ea typeface="Cambria" pitchFamily="34" charset="-122"/>
                <a:cs typeface="Cambria" pitchFamily="34" charset="-120"/>
              </a:rPr>
              <a:t>1</a:t>
            </a:r>
            <a:endParaRPr lang="en-US" sz="1900" dirty="0"/>
          </a:p>
        </p:txBody>
      </p:sp>
      <p:sp>
        <p:nvSpPr>
          <p:cNvPr id="7" name="Text 5"/>
          <p:cNvSpPr/>
          <p:nvPr/>
        </p:nvSpPr>
        <p:spPr>
          <a:xfrm>
            <a:off x="1353312" y="1517904"/>
            <a:ext cx="4206240" cy="365760"/>
          </a:xfrm>
          <a:prstGeom prst="rect">
            <a:avLst/>
          </a:prstGeom>
          <a:noFill/>
          <a:ln/>
        </p:spPr>
        <p:txBody>
          <a:bodyPr wrap="square" rtlCol="0" anchor="ctr"/>
          <a:lstStyle/>
          <a:p>
            <a:pPr marL="0" indent="0">
              <a:buNone/>
            </a:pPr>
            <a:r>
              <a:rPr lang="en-US" sz="1700" b="1" dirty="0">
                <a:solidFill>
                  <a:srgbClr val="22333B"/>
                </a:solidFill>
                <a:latin typeface="Cambria" pitchFamily="34" charset="0"/>
                <a:ea typeface="Cambria" pitchFamily="34" charset="-122"/>
                <a:cs typeface="Cambria" pitchFamily="34" charset="-120"/>
              </a:rPr>
              <a:t>Random split</a:t>
            </a:r>
            <a:endParaRPr lang="en-US" sz="1700" dirty="0"/>
          </a:p>
        </p:txBody>
      </p:sp>
      <p:pic>
        <p:nvPicPr>
          <p:cNvPr id="8" name="Image 0" descr="/sessions/sharp-elegant-gauss/mnt/outputs/thesis_clean/figures/deck_split_random.png"/>
          <p:cNvPicPr>
            <a:picLocks noChangeAspect="1"/>
          </p:cNvPicPr>
          <p:nvPr/>
        </p:nvPicPr>
        <p:blipFill>
          <a:blip r:embed="rId3"/>
          <a:stretch>
            <a:fillRect/>
          </a:stretch>
        </p:blipFill>
        <p:spPr>
          <a:xfrm>
            <a:off x="1234440" y="1920240"/>
            <a:ext cx="3931920" cy="3611880"/>
          </a:xfrm>
          <a:prstGeom prst="rect">
            <a:avLst/>
          </a:prstGeom>
        </p:spPr>
      </p:pic>
      <p:sp>
        <p:nvSpPr>
          <p:cNvPr id="9" name="Text 6"/>
          <p:cNvSpPr/>
          <p:nvPr/>
        </p:nvSpPr>
        <p:spPr>
          <a:xfrm>
            <a:off x="960120" y="5577840"/>
            <a:ext cx="4206240" cy="384048"/>
          </a:xfrm>
          <a:prstGeom prst="rect">
            <a:avLst/>
          </a:prstGeom>
          <a:noFill/>
          <a:ln/>
        </p:spPr>
        <p:txBody>
          <a:bodyPr wrap="square" rtlCol="0" anchor="ctr"/>
          <a:lstStyle/>
          <a:p>
            <a:pPr marL="0" indent="0" algn="ctr">
              <a:buNone/>
            </a:pPr>
            <a:r>
              <a:rPr lang="en-US" sz="1500" i="1" dirty="0">
                <a:solidFill>
                  <a:srgbClr val="60727A"/>
                </a:solidFill>
                <a:latin typeface="Calibri" pitchFamily="34" charset="0"/>
                <a:ea typeface="Calibri" pitchFamily="34" charset="-122"/>
                <a:cs typeface="Calibri" pitchFamily="34" charset="-120"/>
              </a:rPr>
              <a:t>Near-identical analogs land on both sides, so the model "predicts" what it has already seen.</a:t>
            </a:r>
            <a:endParaRPr lang="en-US" sz="1500" dirty="0"/>
          </a:p>
        </p:txBody>
      </p:sp>
      <p:sp>
        <p:nvSpPr>
          <p:cNvPr id="10" name="Text 7"/>
          <p:cNvSpPr/>
          <p:nvPr/>
        </p:nvSpPr>
        <p:spPr>
          <a:xfrm>
            <a:off x="7022592" y="1517904"/>
            <a:ext cx="365760" cy="365760"/>
          </a:xfrm>
          <a:prstGeom prst="rect">
            <a:avLst/>
          </a:prstGeom>
          <a:noFill/>
          <a:ln/>
        </p:spPr>
        <p:txBody>
          <a:bodyPr wrap="square" rtlCol="0" anchor="ctr"/>
          <a:lstStyle/>
          <a:p>
            <a:pPr marL="0" indent="0">
              <a:buNone/>
            </a:pPr>
            <a:r>
              <a:rPr lang="en-US" sz="1900" b="1" dirty="0">
                <a:solidFill>
                  <a:srgbClr val="116E64"/>
                </a:solidFill>
                <a:latin typeface="Cambria" pitchFamily="34" charset="0"/>
                <a:ea typeface="Cambria" pitchFamily="34" charset="-122"/>
                <a:cs typeface="Cambria" pitchFamily="34" charset="-120"/>
              </a:rPr>
              <a:t>2</a:t>
            </a:r>
            <a:endParaRPr lang="en-US" sz="1900" dirty="0"/>
          </a:p>
        </p:txBody>
      </p:sp>
      <p:sp>
        <p:nvSpPr>
          <p:cNvPr id="11" name="Text 8"/>
          <p:cNvSpPr/>
          <p:nvPr/>
        </p:nvSpPr>
        <p:spPr>
          <a:xfrm>
            <a:off x="7415784" y="1517904"/>
            <a:ext cx="4206240" cy="365760"/>
          </a:xfrm>
          <a:prstGeom prst="rect">
            <a:avLst/>
          </a:prstGeom>
          <a:noFill/>
          <a:ln/>
        </p:spPr>
        <p:txBody>
          <a:bodyPr wrap="square" rtlCol="0" anchor="ctr"/>
          <a:lstStyle/>
          <a:p>
            <a:pPr marL="0" indent="0">
              <a:buNone/>
            </a:pPr>
            <a:r>
              <a:rPr lang="en-US" sz="1700" b="1" dirty="0">
                <a:solidFill>
                  <a:srgbClr val="22333B"/>
                </a:solidFill>
                <a:latin typeface="Cambria" pitchFamily="34" charset="0"/>
                <a:ea typeface="Cambria" pitchFamily="34" charset="-122"/>
                <a:cs typeface="Cambria" pitchFamily="34" charset="-120"/>
              </a:rPr>
              <a:t>Scaffold split</a:t>
            </a:r>
            <a:endParaRPr lang="en-US" sz="1700" dirty="0"/>
          </a:p>
        </p:txBody>
      </p:sp>
      <p:pic>
        <p:nvPicPr>
          <p:cNvPr id="12" name="Image 1" descr="/sessions/sharp-elegant-gauss/mnt/outputs/thesis_clean/figures/deck_split_scaffold.png"/>
          <p:cNvPicPr>
            <a:picLocks noChangeAspect="1"/>
          </p:cNvPicPr>
          <p:nvPr/>
        </p:nvPicPr>
        <p:blipFill>
          <a:blip r:embed="rId4"/>
          <a:stretch>
            <a:fillRect/>
          </a:stretch>
        </p:blipFill>
        <p:spPr>
          <a:xfrm>
            <a:off x="7212563" y="1920240"/>
            <a:ext cx="3741949" cy="3611880"/>
          </a:xfrm>
          <a:prstGeom prst="rect">
            <a:avLst/>
          </a:prstGeom>
        </p:spPr>
      </p:pic>
      <p:sp>
        <p:nvSpPr>
          <p:cNvPr id="13" name="Text 9"/>
          <p:cNvSpPr/>
          <p:nvPr/>
        </p:nvSpPr>
        <p:spPr>
          <a:xfrm>
            <a:off x="7022592" y="5577840"/>
            <a:ext cx="4206240" cy="384048"/>
          </a:xfrm>
          <a:prstGeom prst="rect">
            <a:avLst/>
          </a:prstGeom>
          <a:noFill/>
          <a:ln/>
        </p:spPr>
        <p:txBody>
          <a:bodyPr wrap="square" rtlCol="0" anchor="ctr"/>
          <a:lstStyle/>
          <a:p>
            <a:pPr marL="0" indent="0" algn="ctr">
              <a:buNone/>
            </a:pPr>
            <a:r>
              <a:rPr lang="en-US" sz="1500" i="1" dirty="0">
                <a:solidFill>
                  <a:srgbClr val="60727A"/>
                </a:solidFill>
                <a:latin typeface="Calibri" pitchFamily="34" charset="0"/>
                <a:ea typeface="Calibri" pitchFamily="34" charset="-122"/>
                <a:cs typeface="Calibri" pitchFamily="34" charset="-120"/>
              </a:rPr>
              <a:t>Whole scaffold families are held out, so every test compound is structurally novel.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Regression performance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15</a:t>
            </a:r>
            <a:endParaRPr lang="en-US" sz="900" dirty="0"/>
          </a:p>
        </p:txBody>
      </p:sp>
      <p:graphicFrame>
        <p:nvGraphicFramePr>
          <p:cNvPr id="6" name="Chart 0"/>
          <p:cNvGraphicFramePr/>
          <p:nvPr>
            <p:extLst>
              <p:ext uri="{D42A27DB-BD31-4B8C-83A1-F6EECF244321}">
                <p14:modId xmlns:p14="http://schemas.microsoft.com/office/powerpoint/2010/main" val="585675101"/>
              </p:ext>
            </p:extLst>
          </p:nvPr>
        </p:nvGraphicFramePr>
        <p:xfrm>
          <a:off x="2240280" y="1691640"/>
          <a:ext cx="6675120" cy="42976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Predicted versus experimental</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16</a:t>
            </a:r>
            <a:endParaRPr lang="en-US" sz="900" dirty="0"/>
          </a:p>
        </p:txBody>
      </p:sp>
      <p:pic>
        <p:nvPicPr>
          <p:cNvPr id="6" name="Image 0" descr="/sessions/sharp-elegant-gauss/mnt/outputs/thesis_clean/figures/deck_parity_slope.png"/>
          <p:cNvPicPr>
            <a:picLocks noChangeAspect="1"/>
          </p:cNvPicPr>
          <p:nvPr/>
        </p:nvPicPr>
        <p:blipFill>
          <a:blip r:embed="rId3"/>
          <a:stretch>
            <a:fillRect/>
          </a:stretch>
        </p:blipFill>
        <p:spPr>
          <a:xfrm>
            <a:off x="2084832" y="1481328"/>
            <a:ext cx="8001000" cy="4206240"/>
          </a:xfrm>
          <a:prstGeom prst="rect">
            <a:avLst/>
          </a:prstGeom>
        </p:spPr>
      </p:pic>
      <p:sp>
        <p:nvSpPr>
          <p:cNvPr id="7" name="Text 4"/>
          <p:cNvSpPr/>
          <p:nvPr/>
        </p:nvSpPr>
        <p:spPr>
          <a:xfrm>
            <a:off x="548640" y="5760720"/>
            <a:ext cx="11091672" cy="310896"/>
          </a:xfrm>
          <a:prstGeom prst="rect">
            <a:avLst/>
          </a:prstGeom>
          <a:noFill/>
          <a:ln/>
        </p:spPr>
        <p:txBody>
          <a:bodyPr wrap="square" rtlCol="0" anchor="ctr"/>
          <a:lstStyle/>
          <a:p>
            <a:pPr marL="0" indent="0" algn="ctr">
              <a:buNone/>
            </a:pPr>
            <a:r>
              <a:rPr lang="en-US" sz="1150" i="1" dirty="0">
                <a:solidFill>
                  <a:srgbClr val="60727A"/>
                </a:solidFill>
                <a:latin typeface="Calibri" pitchFamily="34" charset="0"/>
                <a:ea typeface="Calibri" pitchFamily="34" charset="-122"/>
                <a:cs typeface="Calibri" pitchFamily="34" charset="-120"/>
              </a:rPr>
              <a:t>Held-out predictions, scaffold split, both targets on identical axes.</a:t>
            </a:r>
            <a:endParaRPr lang="en-US" sz="1150" dirty="0"/>
          </a:p>
        </p:txBody>
      </p:sp>
      <p:sp>
        <p:nvSpPr>
          <p:cNvPr id="8" name="Shape 5"/>
          <p:cNvSpPr/>
          <p:nvPr/>
        </p:nvSpPr>
        <p:spPr>
          <a:xfrm>
            <a:off x="548640" y="6053328"/>
            <a:ext cx="11091672" cy="402336"/>
          </a:xfrm>
          <a:prstGeom prst="roundRect">
            <a:avLst>
              <a:gd name="adj" fmla="val 20455"/>
            </a:avLst>
          </a:prstGeom>
          <a:solidFill>
            <a:srgbClr val="F5ECE6"/>
          </a:solidFill>
          <a:ln/>
        </p:spPr>
        <p:txBody>
          <a:bodyPr/>
          <a:lstStyle/>
          <a:p>
            <a:endParaRPr lang="en-US"/>
          </a:p>
        </p:txBody>
      </p:sp>
      <p:sp>
        <p:nvSpPr>
          <p:cNvPr id="9" name="Text 6"/>
          <p:cNvSpPr/>
          <p:nvPr/>
        </p:nvSpPr>
        <p:spPr>
          <a:xfrm>
            <a:off x="868680" y="6053328"/>
            <a:ext cx="10451592" cy="402336"/>
          </a:xfrm>
          <a:prstGeom prst="rect">
            <a:avLst/>
          </a:prstGeom>
          <a:noFill/>
          <a:ln/>
        </p:spPr>
        <p:txBody>
          <a:bodyPr wrap="square" rtlCol="0" anchor="ctr"/>
          <a:lstStyle/>
          <a:p>
            <a:pPr marL="0" indent="0">
              <a:buNone/>
            </a:pPr>
            <a:r>
              <a:rPr lang="en-US" sz="1150" b="1" dirty="0">
                <a:solidFill>
                  <a:srgbClr val="22333B"/>
                </a:solidFill>
                <a:latin typeface="Calibri" pitchFamily="34" charset="0"/>
                <a:ea typeface="Calibri" pitchFamily="34" charset="-122"/>
                <a:cs typeface="Calibri" pitchFamily="34" charset="-120"/>
              </a:rPr>
              <a:t>The fitted line has slope 0.58 and 0.61, not 1.  </a:t>
            </a:r>
            <a:r>
              <a:rPr lang="en-US" sz="1150" dirty="0">
                <a:solidFill>
                  <a:srgbClr val="22333B"/>
                </a:solidFill>
                <a:latin typeface="Calibri" pitchFamily="34" charset="0"/>
                <a:ea typeface="Calibri" pitchFamily="34" charset="-122"/>
                <a:cs typeface="Calibri" pitchFamily="34" charset="-120"/>
              </a:rPr>
              <a:t>Weak binders are over-predicted by about a log unit, strong binders under-predicted by the same. Ranking is reliable; absolute values are conservative at the potent end.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THE GAIN IS REAL</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Learning curve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18</a:t>
            </a:r>
            <a:endParaRPr lang="en-US" sz="900" dirty="0"/>
          </a:p>
        </p:txBody>
      </p:sp>
      <p:pic>
        <p:nvPicPr>
          <p:cNvPr id="6" name="Image 0" descr="/sessions/sharp-elegant-gauss/mnt/outputs/thesis_clean/figures/deck_learning_curve.png"/>
          <p:cNvPicPr>
            <a:picLocks noChangeAspect="1"/>
          </p:cNvPicPr>
          <p:nvPr/>
        </p:nvPicPr>
        <p:blipFill>
          <a:blip r:embed="rId3"/>
          <a:stretch>
            <a:fillRect/>
          </a:stretch>
        </p:blipFill>
        <p:spPr>
          <a:xfrm>
            <a:off x="790956" y="1655251"/>
            <a:ext cx="10607040" cy="3977640"/>
          </a:xfrm>
          <a:prstGeom prst="rect">
            <a:avLst/>
          </a:prstGeom>
        </p:spPr>
      </p:pic>
      <p:sp>
        <p:nvSpPr>
          <p:cNvPr id="7" name="Text 4"/>
          <p:cNvSpPr/>
          <p:nvPr/>
        </p:nvSpPr>
        <p:spPr>
          <a:xfrm>
            <a:off x="822960" y="5751576"/>
            <a:ext cx="10515600" cy="548640"/>
          </a:xfrm>
          <a:prstGeom prst="rect">
            <a:avLst/>
          </a:prstGeom>
          <a:noFill/>
          <a:ln/>
        </p:spPr>
        <p:txBody>
          <a:bodyPr wrap="square" rtlCol="0" anchor="ctr"/>
          <a:lstStyle/>
          <a:p>
            <a:pPr marL="0" indent="0" algn="ctr">
              <a:buNone/>
            </a:pPr>
            <a:r>
              <a:rPr lang="en-US" sz="1250" i="1" dirty="0">
                <a:solidFill>
                  <a:srgbClr val="60727A"/>
                </a:solidFill>
                <a:latin typeface="Calibri" pitchFamily="34" charset="0"/>
                <a:ea typeface="Calibri" pitchFamily="34" charset="-122"/>
                <a:cs typeface="Calibri" pitchFamily="34" charset="-120"/>
              </a:rPr>
              <a:t>Both panels on identical scales. R² climbs steeply, then flattens against the single-target ceiling; the gain is data-driven.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VALIDATION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random folds would have claimed</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19</a:t>
            </a:r>
            <a:endParaRPr lang="en-US" sz="900" dirty="0"/>
          </a:p>
        </p:txBody>
      </p:sp>
      <p:graphicFrame>
        <p:nvGraphicFramePr>
          <p:cNvPr id="7" name="Chart 0"/>
          <p:cNvGraphicFramePr/>
          <p:nvPr/>
        </p:nvGraphicFramePr>
        <p:xfrm>
          <a:off x="457200" y="2331720"/>
          <a:ext cx="6858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635240" y="1312164"/>
            <a:ext cx="4023360" cy="2107692"/>
          </a:xfrm>
          <a:prstGeom prst="roundRect">
            <a:avLst>
              <a:gd name="adj" fmla="val 4865"/>
            </a:avLst>
          </a:prstGeom>
          <a:solidFill>
            <a:srgbClr val="F5ECE6"/>
          </a:solidFill>
          <a:ln/>
        </p:spPr>
        <p:txBody>
          <a:bodyPr/>
          <a:lstStyle/>
          <a:p>
            <a:endParaRPr lang="en-US"/>
          </a:p>
        </p:txBody>
      </p:sp>
      <p:sp>
        <p:nvSpPr>
          <p:cNvPr id="9" name="Text 6"/>
          <p:cNvSpPr/>
          <p:nvPr/>
        </p:nvSpPr>
        <p:spPr>
          <a:xfrm>
            <a:off x="7863840" y="1563624"/>
            <a:ext cx="347472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Random folds: 0.68 and 0.72</a:t>
            </a:r>
            <a:endParaRPr lang="en-US" sz="1500" dirty="0"/>
          </a:p>
        </p:txBody>
      </p:sp>
      <p:sp>
        <p:nvSpPr>
          <p:cNvPr id="10" name="Text 7"/>
          <p:cNvSpPr/>
          <p:nvPr/>
        </p:nvSpPr>
        <p:spPr>
          <a:xfrm>
            <a:off x="7863840" y="2007108"/>
            <a:ext cx="3474720" cy="795528"/>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Ten-fold cross-validation lets close analogues fall on both sides of a split, so the model partly recognises what it has seen.</a:t>
            </a:r>
            <a:endParaRPr lang="en-US" dirty="0">
              <a:latin typeface="Times New Roman" panose="02020603050405020304" pitchFamily="18" charset="0"/>
              <a:cs typeface="Times New Roman" panose="02020603050405020304" pitchFamily="18" charset="0"/>
            </a:endParaRPr>
          </a:p>
        </p:txBody>
      </p:sp>
      <p:sp>
        <p:nvSpPr>
          <p:cNvPr id="11" name="Shape 8"/>
          <p:cNvSpPr/>
          <p:nvPr/>
        </p:nvSpPr>
        <p:spPr>
          <a:xfrm>
            <a:off x="7635240" y="3726180"/>
            <a:ext cx="4023360" cy="1819656"/>
          </a:xfrm>
          <a:prstGeom prst="roundRect">
            <a:avLst>
              <a:gd name="adj" fmla="val 5625"/>
            </a:avLst>
          </a:prstGeom>
          <a:solidFill>
            <a:srgbClr val="E9F1F0"/>
          </a:solidFill>
          <a:ln/>
        </p:spPr>
        <p:txBody>
          <a:bodyPr/>
          <a:lstStyle/>
          <a:p>
            <a:endParaRPr lang="en-US"/>
          </a:p>
        </p:txBody>
      </p:sp>
      <p:sp>
        <p:nvSpPr>
          <p:cNvPr id="12" name="Text 9"/>
          <p:cNvSpPr/>
          <p:nvPr/>
        </p:nvSpPr>
        <p:spPr>
          <a:xfrm>
            <a:off x="7863840" y="3753612"/>
            <a:ext cx="347472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Scaffold split: 0.56 and 0.64</a:t>
            </a:r>
            <a:endParaRPr lang="en-US" sz="1500" dirty="0"/>
          </a:p>
        </p:txBody>
      </p:sp>
      <p:sp>
        <p:nvSpPr>
          <p:cNvPr id="13" name="Text 10"/>
          <p:cNvSpPr/>
          <p:nvPr/>
        </p:nvSpPr>
        <p:spPr>
          <a:xfrm>
            <a:off x="7863840" y="4155948"/>
            <a:ext cx="3794760" cy="566928"/>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Whole scaffold families are held out, so the gap of about 0.1 is the inflation this removes.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4682"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CONTROL</a:t>
            </a:r>
          </a:p>
          <a:p>
            <a:pPr marL="0" indent="0">
              <a:buNone/>
            </a:pP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Is it more than a similarity lookup?</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21</a:t>
            </a:r>
            <a:endParaRPr lang="en-US" sz="900" dirty="0"/>
          </a:p>
        </p:txBody>
      </p:sp>
      <p:sp>
        <p:nvSpPr>
          <p:cNvPr id="6" name="Text 4"/>
          <p:cNvSpPr/>
          <p:nvPr/>
        </p:nvSpPr>
        <p:spPr>
          <a:xfrm>
            <a:off x="548640" y="1719072"/>
            <a:ext cx="11091672" cy="548640"/>
          </a:xfrm>
          <a:prstGeom prst="rect">
            <a:avLst/>
          </a:prstGeom>
          <a:noFill/>
          <a:ln/>
        </p:spPr>
        <p:txBody>
          <a:bodyPr wrap="square" rtlCol="0" anchor="ctr"/>
          <a:lstStyle/>
          <a:p>
            <a:pPr marL="0" indent="0">
              <a:buNone/>
            </a:pPr>
            <a:r>
              <a:rPr lang="en-US" sz="1450" dirty="0">
                <a:solidFill>
                  <a:srgbClr val="22333B"/>
                </a:solidFill>
                <a:latin typeface="Calibri" pitchFamily="34" charset="0"/>
                <a:ea typeface="Calibri" pitchFamily="34" charset="-122"/>
                <a:cs typeface="Calibri" pitchFamily="34" charset="-120"/>
              </a:rPr>
              <a:t>The most deflating explanation for a good QSAR score is that the model has simply memorised which training compound each test compound resembles. So the models were made to beat that strategy explicitly.</a:t>
            </a:r>
            <a:endParaRPr lang="en-US" sz="1450" dirty="0"/>
          </a:p>
        </p:txBody>
      </p:sp>
      <p:sp>
        <p:nvSpPr>
          <p:cNvPr id="7" name="Shape 5"/>
          <p:cNvSpPr/>
          <p:nvPr/>
        </p:nvSpPr>
        <p:spPr>
          <a:xfrm>
            <a:off x="548640" y="2395728"/>
            <a:ext cx="5440680" cy="1481328"/>
          </a:xfrm>
          <a:prstGeom prst="roundRect">
            <a:avLst>
              <a:gd name="adj" fmla="val 5556"/>
            </a:avLst>
          </a:prstGeom>
          <a:solidFill>
            <a:srgbClr val="F5ECE6"/>
          </a:solidFill>
          <a:ln/>
        </p:spPr>
        <p:txBody>
          <a:bodyPr/>
          <a:lstStyle/>
          <a:p>
            <a:endParaRPr lang="en-US"/>
          </a:p>
        </p:txBody>
      </p:sp>
      <p:sp>
        <p:nvSpPr>
          <p:cNvPr id="8" name="Text 6"/>
          <p:cNvSpPr/>
          <p:nvPr/>
        </p:nvSpPr>
        <p:spPr>
          <a:xfrm>
            <a:off x="822960" y="2596896"/>
            <a:ext cx="489204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The baseline: 1-NN read-across</a:t>
            </a:r>
            <a:endParaRPr lang="en-US" sz="1500" dirty="0"/>
          </a:p>
        </p:txBody>
      </p:sp>
      <p:sp>
        <p:nvSpPr>
          <p:cNvPr id="9" name="Text 7"/>
          <p:cNvSpPr/>
          <p:nvPr/>
        </p:nvSpPr>
        <p:spPr>
          <a:xfrm>
            <a:off x="822960" y="3072384"/>
            <a:ext cx="4892040" cy="585216"/>
          </a:xfrm>
          <a:prstGeom prst="rect">
            <a:avLst/>
          </a:prstGeom>
          <a:noFill/>
          <a:ln/>
        </p:spPr>
        <p:txBody>
          <a:bodyPr wrap="square" rtlCol="0" anchor="t"/>
          <a:lstStyle/>
          <a:p>
            <a:pPr marL="0" indent="0">
              <a:lnSpc>
                <a:spcPct val="112000"/>
              </a:lnSpc>
              <a:buNone/>
            </a:pPr>
            <a:r>
              <a:rPr lang="en-US" sz="1250" dirty="0">
                <a:solidFill>
                  <a:srgbClr val="22333B"/>
                </a:solidFill>
                <a:latin typeface="Calibri" pitchFamily="34" charset="0"/>
                <a:ea typeface="Calibri" pitchFamily="34" charset="-122"/>
                <a:cs typeface="Calibri" pitchFamily="34" charset="-120"/>
              </a:rPr>
              <a:t>Assign each test compound the pKi of its single most Tanimoto-similar training compound. No learning, pure nearest-neighbour lookup.</a:t>
            </a:r>
            <a:endParaRPr lang="en-US" sz="1250" dirty="0"/>
          </a:p>
        </p:txBody>
      </p:sp>
      <p:sp>
        <p:nvSpPr>
          <p:cNvPr id="10" name="Shape 8"/>
          <p:cNvSpPr/>
          <p:nvPr/>
        </p:nvSpPr>
        <p:spPr>
          <a:xfrm>
            <a:off x="6199632" y="2395728"/>
            <a:ext cx="5440680" cy="1481328"/>
          </a:xfrm>
          <a:prstGeom prst="roundRect">
            <a:avLst>
              <a:gd name="adj" fmla="val 5556"/>
            </a:avLst>
          </a:prstGeom>
          <a:solidFill>
            <a:srgbClr val="E9F1F0"/>
          </a:solidFill>
          <a:ln/>
        </p:spPr>
        <p:txBody>
          <a:bodyPr/>
          <a:lstStyle/>
          <a:p>
            <a:endParaRPr lang="en-US"/>
          </a:p>
        </p:txBody>
      </p:sp>
      <p:sp>
        <p:nvSpPr>
          <p:cNvPr id="11" name="Text 9"/>
          <p:cNvSpPr/>
          <p:nvPr/>
        </p:nvSpPr>
        <p:spPr>
          <a:xfrm>
            <a:off x="6473952" y="2596896"/>
            <a:ext cx="489204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Why it is the right baseline</a:t>
            </a:r>
            <a:endParaRPr lang="en-US" sz="1500" dirty="0"/>
          </a:p>
        </p:txBody>
      </p:sp>
      <p:sp>
        <p:nvSpPr>
          <p:cNvPr id="12" name="Text 10"/>
          <p:cNvSpPr/>
          <p:nvPr/>
        </p:nvSpPr>
        <p:spPr>
          <a:xfrm>
            <a:off x="6473952" y="3072384"/>
            <a:ext cx="4892040" cy="585216"/>
          </a:xfrm>
          <a:prstGeom prst="rect">
            <a:avLst/>
          </a:prstGeom>
          <a:noFill/>
          <a:ln/>
        </p:spPr>
        <p:txBody>
          <a:bodyPr wrap="square" rtlCol="0" anchor="t"/>
          <a:lstStyle/>
          <a:p>
            <a:pPr marL="0" indent="0">
              <a:lnSpc>
                <a:spcPct val="112000"/>
              </a:lnSpc>
              <a:buNone/>
            </a:pPr>
            <a:r>
              <a:rPr lang="en-US" sz="1250" dirty="0">
                <a:solidFill>
                  <a:srgbClr val="22333B"/>
                </a:solidFill>
                <a:latin typeface="Calibri" pitchFamily="34" charset="0"/>
                <a:ea typeface="Calibri" pitchFamily="34" charset="-122"/>
                <a:cs typeface="Calibri" pitchFamily="34" charset="-120"/>
              </a:rPr>
              <a:t>It is exactly what a fingerprint model could degenerate into. Beating it by a clear margin shows aggregate structure-activity is being learned.</a:t>
            </a:r>
            <a:endParaRPr lang="en-US" sz="1250" dirty="0"/>
          </a:p>
        </p:txBody>
      </p:sp>
      <p:sp>
        <p:nvSpPr>
          <p:cNvPr id="13" name="Text 11"/>
          <p:cNvSpPr/>
          <p:nvPr/>
        </p:nvSpPr>
        <p:spPr>
          <a:xfrm>
            <a:off x="1371600" y="4041648"/>
            <a:ext cx="4206240" cy="868680"/>
          </a:xfrm>
          <a:prstGeom prst="rect">
            <a:avLst/>
          </a:prstGeom>
          <a:noFill/>
          <a:ln/>
        </p:spPr>
        <p:txBody>
          <a:bodyPr wrap="square" rtlCol="0" anchor="ctr"/>
          <a:lstStyle/>
          <a:p>
            <a:pPr marL="0" indent="0">
              <a:buNone/>
            </a:pPr>
            <a:r>
              <a:rPr lang="en-US" sz="4000" b="1" dirty="0">
                <a:solidFill>
                  <a:srgbClr val="116E64"/>
                </a:solidFill>
                <a:latin typeface="Cambria" pitchFamily="34" charset="0"/>
                <a:ea typeface="Cambria" pitchFamily="34" charset="-122"/>
                <a:cs typeface="Cambria" pitchFamily="34" charset="-120"/>
              </a:rPr>
              <a:t>0.35 → 0.56</a:t>
            </a:r>
            <a:endParaRPr lang="en-US" sz="4000" dirty="0"/>
          </a:p>
        </p:txBody>
      </p:sp>
      <p:sp>
        <p:nvSpPr>
          <p:cNvPr id="14" name="Text 12"/>
          <p:cNvSpPr/>
          <p:nvPr/>
        </p:nvSpPr>
        <p:spPr>
          <a:xfrm>
            <a:off x="1371600" y="4937760"/>
            <a:ext cx="420624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5-HT₂A: read-across → model (R²)</a:t>
            </a:r>
            <a:endParaRPr lang="en-US" sz="1300" dirty="0"/>
          </a:p>
        </p:txBody>
      </p:sp>
      <p:sp>
        <p:nvSpPr>
          <p:cNvPr id="15" name="Text 13"/>
          <p:cNvSpPr/>
          <p:nvPr/>
        </p:nvSpPr>
        <p:spPr>
          <a:xfrm>
            <a:off x="6858000" y="4041648"/>
            <a:ext cx="420624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0.44 → 0.64</a:t>
            </a:r>
            <a:endParaRPr lang="en-US" sz="4000" dirty="0"/>
          </a:p>
        </p:txBody>
      </p:sp>
      <p:sp>
        <p:nvSpPr>
          <p:cNvPr id="16" name="Text 14"/>
          <p:cNvSpPr/>
          <p:nvPr/>
        </p:nvSpPr>
        <p:spPr>
          <a:xfrm>
            <a:off x="6858000" y="4937760"/>
            <a:ext cx="420624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D₃: read-across → model (R²)</a:t>
            </a:r>
            <a:endParaRPr lang="en-US" sz="1300" dirty="0"/>
          </a:p>
        </p:txBody>
      </p:sp>
      <p:sp>
        <p:nvSpPr>
          <p:cNvPr id="17" name="Text 15"/>
          <p:cNvSpPr/>
          <p:nvPr/>
        </p:nvSpPr>
        <p:spPr>
          <a:xfrm>
            <a:off x="548640" y="5669280"/>
            <a:ext cx="11091672" cy="457200"/>
          </a:xfrm>
          <a:prstGeom prst="rect">
            <a:avLst/>
          </a:prstGeom>
          <a:noFill/>
          <a:ln/>
        </p:spPr>
        <p:txBody>
          <a:bodyPr wrap="square" rtlCol="0" anchor="ctr"/>
          <a:lstStyle/>
          <a:p>
            <a:pPr marL="0" indent="0" algn="ctr">
              <a:buNone/>
            </a:pPr>
            <a:r>
              <a:rPr lang="en-US" sz="1350" i="1" dirty="0">
                <a:solidFill>
                  <a:srgbClr val="60727A"/>
                </a:solidFill>
                <a:latin typeface="Calibri" pitchFamily="34" charset="0"/>
                <a:ea typeface="Calibri" pitchFamily="34" charset="-122"/>
                <a:cs typeface="Calibri" pitchFamily="34" charset="-120"/>
              </a:rPr>
              <a:t>Read-across reaches R² 0.347 and 0.435; the models beat it by roughly 0.2 R², a 48 to 62 per cent gain on both targets.</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ROBUSTNESS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Not leaning on a few promiscuous drugs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22</a:t>
            </a:r>
            <a:endParaRPr lang="en-US" sz="900" dirty="0"/>
          </a:p>
        </p:txBody>
      </p:sp>
      <p:sp>
        <p:nvSpPr>
          <p:cNvPr id="6" name="Text 4"/>
          <p:cNvSpPr/>
          <p:nvPr/>
        </p:nvSpPr>
        <p:spPr>
          <a:xfrm>
            <a:off x="822960" y="1453336"/>
            <a:ext cx="10218887" cy="905256"/>
          </a:xfrm>
          <a:prstGeom prst="rect">
            <a:avLst/>
          </a:prstGeom>
          <a:noFill/>
          <a:ln/>
        </p:spPr>
        <p:txBody>
          <a:bodyPr wrap="square" rtlCol="0" anchor="ctr"/>
          <a:lstStyle/>
          <a:p>
            <a:pPr marL="0" indent="0">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A natural worry is that performance depends on a handful of well-known multi-target drugs. Removing every compound that engages five or more distinct targets and retraining leaves performance intact, indeed marginally higher. The metric below is R² from the regression models, not MCC.</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1280160" y="2697480"/>
            <a:ext cx="3657600" cy="868680"/>
          </a:xfrm>
          <a:prstGeom prst="rect">
            <a:avLst/>
          </a:prstGeom>
          <a:noFill/>
          <a:ln/>
        </p:spPr>
        <p:txBody>
          <a:bodyPr wrap="square" rtlCol="0" anchor="ctr"/>
          <a:lstStyle/>
          <a:p>
            <a:pPr marL="0" indent="0">
              <a:buNone/>
            </a:pPr>
            <a:r>
              <a:rPr lang="en-US" sz="4000" b="1" dirty="0">
                <a:solidFill>
                  <a:srgbClr val="116E64"/>
                </a:solidFill>
                <a:latin typeface="Cambria" pitchFamily="34" charset="0"/>
                <a:ea typeface="Cambria" pitchFamily="34" charset="-122"/>
                <a:cs typeface="Cambria" pitchFamily="34" charset="-120"/>
              </a:rPr>
              <a:t>R² 0.56 → 0.58</a:t>
            </a:r>
            <a:endParaRPr lang="en-US" sz="4000" dirty="0"/>
          </a:p>
        </p:txBody>
      </p:sp>
      <p:sp>
        <p:nvSpPr>
          <p:cNvPr id="8" name="Text 6"/>
          <p:cNvSpPr/>
          <p:nvPr/>
        </p:nvSpPr>
        <p:spPr>
          <a:xfrm>
            <a:off x="1280160" y="3593592"/>
            <a:ext cx="36576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5-HT₂A · scaffold split, regression</a:t>
            </a:r>
            <a:endParaRPr lang="en-US" sz="1300" dirty="0"/>
          </a:p>
        </p:txBody>
      </p:sp>
      <p:sp>
        <p:nvSpPr>
          <p:cNvPr id="9" name="Text 7"/>
          <p:cNvSpPr/>
          <p:nvPr/>
        </p:nvSpPr>
        <p:spPr>
          <a:xfrm>
            <a:off x="6766560" y="2697480"/>
            <a:ext cx="3657600" cy="868680"/>
          </a:xfrm>
          <a:prstGeom prst="rect">
            <a:avLst/>
          </a:prstGeom>
          <a:noFill/>
          <a:ln/>
        </p:spPr>
        <p:txBody>
          <a:bodyPr wrap="square" rtlCol="0" anchor="ctr"/>
          <a:lstStyle/>
          <a:p>
            <a:pPr marL="0" indent="0">
              <a:buNone/>
            </a:pPr>
            <a:r>
              <a:rPr lang="en-US" sz="4000" b="1" dirty="0">
                <a:solidFill>
                  <a:srgbClr val="BE5638"/>
                </a:solidFill>
                <a:latin typeface="Cambria" pitchFamily="34" charset="0"/>
                <a:ea typeface="Cambria" pitchFamily="34" charset="-122"/>
                <a:cs typeface="Cambria" pitchFamily="34" charset="-120"/>
              </a:rPr>
              <a:t>R² 0.64 → 0.67</a:t>
            </a:r>
            <a:endParaRPr lang="en-US" sz="4000" dirty="0"/>
          </a:p>
        </p:txBody>
      </p:sp>
      <p:sp>
        <p:nvSpPr>
          <p:cNvPr id="10" name="Text 8"/>
          <p:cNvSpPr/>
          <p:nvPr/>
        </p:nvSpPr>
        <p:spPr>
          <a:xfrm>
            <a:off x="6766560" y="3593592"/>
            <a:ext cx="3657600" cy="548640"/>
          </a:xfrm>
          <a:prstGeom prst="rect">
            <a:avLst/>
          </a:prstGeom>
          <a:noFill/>
          <a:ln/>
        </p:spPr>
        <p:txBody>
          <a:bodyPr wrap="square" rtlCol="0" anchor="ctr"/>
          <a:lstStyle/>
          <a:p>
            <a:pPr marL="0" indent="0">
              <a:buNone/>
            </a:pPr>
            <a:r>
              <a:rPr lang="en-US" sz="1300" dirty="0">
                <a:solidFill>
                  <a:srgbClr val="60727A"/>
                </a:solidFill>
                <a:latin typeface="Calibri" pitchFamily="34" charset="0"/>
                <a:ea typeface="Calibri" pitchFamily="34" charset="-122"/>
                <a:cs typeface="Calibri" pitchFamily="34" charset="-120"/>
              </a:rPr>
              <a:t>D₃ · scaffold split, regression</a:t>
            </a:r>
            <a:endParaRPr lang="en-US" sz="1300" dirty="0"/>
          </a:p>
        </p:txBody>
      </p:sp>
      <p:sp>
        <p:nvSpPr>
          <p:cNvPr id="13" name="Text 11"/>
          <p:cNvSpPr/>
          <p:nvPr/>
        </p:nvSpPr>
        <p:spPr>
          <a:xfrm>
            <a:off x="822960" y="4029658"/>
            <a:ext cx="9646920" cy="1284732"/>
          </a:xfrm>
          <a:prstGeom prst="rect">
            <a:avLst/>
          </a:prstGeom>
          <a:noFill/>
          <a:ln/>
        </p:spPr>
        <p:txBody>
          <a:bodyPr wrap="square" rtlCol="0" anchor="t"/>
          <a:lstStyle/>
          <a:p>
            <a:pPr marL="285750" indent="-285750">
              <a:lnSpc>
                <a:spcPct val="112000"/>
              </a:lnSpc>
              <a:buFont typeface="Arial" panose="020B0604020202020204" pitchFamily="34" charset="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136 of 4,620 compounds for 5-HT₂A and 117 of 5,488 for D₃: every molecule recorded against five or more distinct targets.</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22960" y="4901184"/>
            <a:ext cx="9368868" cy="822400"/>
          </a:xfrm>
          <a:prstGeom prst="rect">
            <a:avLst/>
          </a:prstGeom>
          <a:noFill/>
          <a:ln/>
        </p:spPr>
        <p:txBody>
          <a:bodyPr wrap="square" rtlCol="0" anchor="t"/>
          <a:lstStyle/>
          <a:p>
            <a:pPr marL="285750" indent="-285750">
              <a:lnSpc>
                <a:spcPct val="112000"/>
              </a:lnSpc>
              <a:buFont typeface="Arial" panose="020B0604020202020204" pitchFamily="34" charset="0"/>
              <a:buChar char="•"/>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A molecule optimised to hit many targets sits where the structure–activity relationship for any single target is weaker, so it is harder to fit. Removing them leaves a slightly cleaner signal.</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INTERPRETATION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drives the predictions (SHAP)</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23</a:t>
            </a:r>
            <a:endParaRPr lang="en-US" sz="900" dirty="0"/>
          </a:p>
        </p:txBody>
      </p:sp>
      <p:pic>
        <p:nvPicPr>
          <p:cNvPr id="6" name="Image 0" descr="/sessions/sharp-elegant-gauss/mnt/outputs/thesis_clean/figures/shap_descriptors_brand.png"/>
          <p:cNvPicPr>
            <a:picLocks noChangeAspect="1"/>
          </p:cNvPicPr>
          <p:nvPr/>
        </p:nvPicPr>
        <p:blipFill>
          <a:blip r:embed="rId3"/>
          <a:stretch>
            <a:fillRect/>
          </a:stretch>
        </p:blipFill>
        <p:spPr>
          <a:xfrm>
            <a:off x="1796796" y="1691640"/>
            <a:ext cx="8595360" cy="3401568"/>
          </a:xfrm>
          <a:prstGeom prst="rect">
            <a:avLst/>
          </a:prstGeom>
        </p:spPr>
      </p:pic>
      <p:sp>
        <p:nvSpPr>
          <p:cNvPr id="7" name="Text 4"/>
          <p:cNvSpPr/>
          <p:nvPr/>
        </p:nvSpPr>
        <p:spPr>
          <a:xfrm>
            <a:off x="822960" y="5221224"/>
            <a:ext cx="10515600" cy="548640"/>
          </a:xfrm>
          <a:prstGeom prst="rect">
            <a:avLst/>
          </a:prstGeom>
          <a:noFill/>
          <a:ln/>
        </p:spPr>
        <p:txBody>
          <a:bodyPr wrap="square" rtlCol="0" anchor="ctr"/>
          <a:lstStyle/>
          <a:p>
            <a:pPr marL="0" indent="0" algn="ctr">
              <a:buNone/>
            </a:pPr>
            <a:r>
              <a:rPr lang="en-US" sz="1250" i="1" dirty="0">
                <a:solidFill>
                  <a:srgbClr val="60727A"/>
                </a:solidFill>
                <a:latin typeface="Calibri" pitchFamily="34" charset="0"/>
                <a:ea typeface="Calibri" pitchFamily="34" charset="-122"/>
                <a:cs typeface="Calibri" pitchFamily="34" charset="-120"/>
              </a:rPr>
              <a:t>The two targets rely on different property families: 5-HT₂A on charge and electrostatics, dopamine D₃ on molecular shape and topology.</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The task: where the active/inactive line falls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24</a:t>
            </a:r>
            <a:endParaRPr lang="en-US" sz="900" dirty="0"/>
          </a:p>
        </p:txBody>
      </p:sp>
      <p:pic>
        <p:nvPicPr>
          <p:cNvPr id="6" name="Image 0" descr="/sessions/sharp-elegant-gauss/mnt/outputs/thesis_clean/figures/pki_class_threshold.png"/>
          <p:cNvPicPr>
            <a:picLocks noChangeAspect="1"/>
          </p:cNvPicPr>
          <p:nvPr/>
        </p:nvPicPr>
        <p:blipFill>
          <a:blip r:embed="rId3"/>
          <a:stretch>
            <a:fillRect/>
          </a:stretch>
        </p:blipFill>
        <p:spPr>
          <a:xfrm>
            <a:off x="658368" y="1591056"/>
            <a:ext cx="10881360" cy="3950208"/>
          </a:xfrm>
          <a:prstGeom prst="rect">
            <a:avLst/>
          </a:prstGeom>
        </p:spPr>
      </p:pic>
      <p:sp>
        <p:nvSpPr>
          <p:cNvPr id="8" name="Shape 5"/>
          <p:cNvSpPr/>
          <p:nvPr/>
        </p:nvSpPr>
        <p:spPr>
          <a:xfrm>
            <a:off x="548640" y="5925312"/>
            <a:ext cx="11091672" cy="512064"/>
          </a:xfrm>
          <a:prstGeom prst="roundRect">
            <a:avLst>
              <a:gd name="adj" fmla="val 16071"/>
            </a:avLst>
          </a:prstGeom>
          <a:solidFill>
            <a:srgbClr val="F5ECE6"/>
          </a:solidFill>
          <a:ln/>
        </p:spPr>
        <p:txBody>
          <a:bodyPr/>
          <a:lstStyle/>
          <a:p>
            <a:endParaRPr lang="en-US"/>
          </a:p>
        </p:txBody>
      </p:sp>
      <p:sp>
        <p:nvSpPr>
          <p:cNvPr id="9" name="Text 6"/>
          <p:cNvSpPr/>
          <p:nvPr/>
        </p:nvSpPr>
        <p:spPr>
          <a:xfrm>
            <a:off x="868680" y="5925312"/>
            <a:ext cx="10451592" cy="512064"/>
          </a:xfrm>
          <a:prstGeom prst="rect">
            <a:avLst/>
          </a:prstGeom>
          <a:noFill/>
          <a:ln/>
        </p:spPr>
        <p:txBody>
          <a:bodyPr wrap="square" rtlCol="0" anchor="ctr"/>
          <a:lstStyle/>
          <a:p>
            <a:pPr marL="0" indent="0">
              <a:buNone/>
            </a:pPr>
            <a:r>
              <a:rPr lang="en-US" sz="1150" b="1" dirty="0">
                <a:solidFill>
                  <a:srgbClr val="22333B"/>
                </a:solidFill>
                <a:latin typeface="Calibri" pitchFamily="34" charset="0"/>
                <a:ea typeface="Calibri" pitchFamily="34" charset="-122"/>
                <a:cs typeface="Calibri" pitchFamily="34" charset="-120"/>
              </a:rPr>
              <a:t>100 nM splits the library 59/41 and 67/33.  </a:t>
            </a:r>
            <a:r>
              <a:rPr lang="en-US" sz="1150" dirty="0">
                <a:solidFill>
                  <a:srgbClr val="22333B"/>
                </a:solidFill>
                <a:latin typeface="Calibri" pitchFamily="34" charset="0"/>
                <a:ea typeface="Calibri" pitchFamily="34" charset="-122"/>
                <a:cs typeface="Calibri" pitchFamily="34" charset="-120"/>
              </a:rPr>
              <a:t>At 1 µM it would be 85 and 87 per cent active, and MCC falls from 0.63 to 0.35 and 0.43 — too few inactives left to learn a boundary from. The threshold is a modelling decision, and this is the evidence for it.</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The classifier</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25</a:t>
            </a:r>
            <a:endParaRPr lang="en-US" sz="900" dirty="0"/>
          </a:p>
        </p:txBody>
      </p:sp>
      <p:pic>
        <p:nvPicPr>
          <p:cNvPr id="6" name="Image 0" descr="/sessions/sharp-elegant-gauss/mnt/outputs/thesis_clean/figures/confusion_matrix_representative.png"/>
          <p:cNvPicPr>
            <a:picLocks noChangeAspect="1"/>
          </p:cNvPicPr>
          <p:nvPr/>
        </p:nvPicPr>
        <p:blipFill>
          <a:blip r:embed="rId3"/>
          <a:stretch>
            <a:fillRect/>
          </a:stretch>
        </p:blipFill>
        <p:spPr>
          <a:xfrm>
            <a:off x="1065212" y="1609344"/>
            <a:ext cx="10058400" cy="39319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VIRTUAL SCREENING</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the screening metrics measure</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692204" y="1385975"/>
            <a:ext cx="5730862" cy="4073373"/>
          </a:xfrm>
          <a:prstGeom prst="roundRect">
            <a:avLst>
              <a:gd name="adj" fmla="val 4286"/>
            </a:avLst>
          </a:prstGeom>
          <a:solidFill>
            <a:srgbClr val="E9F1F0"/>
          </a:solidFill>
          <a:ln/>
        </p:spPr>
        <p:txBody>
          <a:bodyPr/>
          <a:lstStyle/>
          <a:p>
            <a:endParaRPr lang="en-US"/>
          </a:p>
        </p:txBody>
      </p:sp>
      <p:sp>
        <p:nvSpPr>
          <p:cNvPr id="8" name="Text 6"/>
          <p:cNvSpPr/>
          <p:nvPr/>
        </p:nvSpPr>
        <p:spPr>
          <a:xfrm>
            <a:off x="822960" y="1463104"/>
            <a:ext cx="489204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MCC  ·  0.635 and 0.632</a:t>
            </a:r>
            <a:endParaRPr lang="en-US" sz="1500" dirty="0"/>
          </a:p>
        </p:txBody>
      </p:sp>
      <p:sp>
        <p:nvSpPr>
          <p:cNvPr id="9" name="Text 7"/>
          <p:cNvSpPr/>
          <p:nvPr/>
        </p:nvSpPr>
        <p:spPr>
          <a:xfrm>
            <a:off x="822960" y="1919863"/>
            <a:ext cx="5493864" cy="2904063"/>
          </a:xfrm>
          <a:prstGeom prst="rect">
            <a:avLst/>
          </a:prstGeom>
          <a:noFill/>
          <a:ln/>
        </p:spPr>
        <p:txBody>
          <a:bodyPr wrap="square" rtlCol="0" anchor="t"/>
          <a:lstStyle/>
          <a:p>
            <a:pPr marL="0" indent="0">
              <a:lnSpc>
                <a:spcPct val="112000"/>
              </a:lnSpc>
              <a:buNone/>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Accuracy lies when one class dominates: this library is 59% and 67% active, so always answering "active" scores 59% and is useless. MCC uses all four cells of the confusion matrix, so it only rises when both classes are called correctly. It runs −1 to +1, where 0 is chance.</a:t>
            </a:r>
            <a:endParaRPr lang="en-US" sz="2000" dirty="0">
              <a:latin typeface="Times New Roman" panose="02020603050405020304" pitchFamily="18" charset="0"/>
              <a:cs typeface="Times New Roman" panose="02020603050405020304" pitchFamily="18" charset="0"/>
            </a:endParaRPr>
          </a:p>
        </p:txBody>
      </p:sp>
      <p:sp>
        <p:nvSpPr>
          <p:cNvPr id="10" name="Shape 8"/>
          <p:cNvSpPr/>
          <p:nvPr/>
        </p:nvSpPr>
        <p:spPr>
          <a:xfrm>
            <a:off x="6553822" y="1385975"/>
            <a:ext cx="5504688" cy="2896094"/>
          </a:xfrm>
          <a:prstGeom prst="roundRect">
            <a:avLst>
              <a:gd name="adj" fmla="val 4286"/>
            </a:avLst>
          </a:prstGeom>
          <a:solidFill>
            <a:srgbClr val="F5ECE6"/>
          </a:solidFill>
          <a:ln/>
        </p:spPr>
        <p:txBody>
          <a:bodyPr/>
          <a:lstStyle/>
          <a:p>
            <a:endParaRPr lang="en-US"/>
          </a:p>
        </p:txBody>
      </p:sp>
      <p:sp>
        <p:nvSpPr>
          <p:cNvPr id="11" name="Text 9"/>
          <p:cNvSpPr/>
          <p:nvPr/>
        </p:nvSpPr>
        <p:spPr>
          <a:xfrm>
            <a:off x="6604581" y="1463104"/>
            <a:ext cx="4892040" cy="411480"/>
          </a:xfrm>
          <a:prstGeom prst="rect">
            <a:avLst/>
          </a:prstGeom>
          <a:noFill/>
          <a:ln/>
        </p:spPr>
        <p:txBody>
          <a:bodyPr wrap="square" rtlCol="0" anchor="ctr"/>
          <a:lstStyle/>
          <a:p>
            <a:pPr marL="0" indent="0">
              <a:buNone/>
            </a:pPr>
            <a:r>
              <a:rPr lang="en-US" sz="1500" b="1" dirty="0">
                <a:solidFill>
                  <a:srgbClr val="22333B"/>
                </a:solidFill>
                <a:latin typeface="Cambria" pitchFamily="34" charset="0"/>
                <a:ea typeface="Cambria" pitchFamily="34" charset="-122"/>
                <a:cs typeface="Cambria" pitchFamily="34" charset="-120"/>
              </a:rPr>
              <a:t>Enrichment factor  ·  1.67 and 1.46</a:t>
            </a:r>
            <a:endParaRPr lang="en-US" sz="1500" dirty="0"/>
          </a:p>
        </p:txBody>
      </p:sp>
      <p:sp>
        <p:nvSpPr>
          <p:cNvPr id="12" name="Text 10"/>
          <p:cNvSpPr/>
          <p:nvPr/>
        </p:nvSpPr>
        <p:spPr>
          <a:xfrm>
            <a:off x="6604581" y="1949287"/>
            <a:ext cx="4891913" cy="1584466"/>
          </a:xfrm>
          <a:prstGeom prst="rect">
            <a:avLst/>
          </a:prstGeom>
          <a:noFill/>
          <a:ln/>
        </p:spPr>
        <p:txBody>
          <a:bodyPr wrap="square" rtlCol="0" anchor="t"/>
          <a:lstStyle/>
          <a:p>
            <a:pPr marL="0" indent="0">
              <a:lnSpc>
                <a:spcPct val="112000"/>
              </a:lnSpc>
              <a:buNone/>
            </a:pPr>
            <a:r>
              <a:rPr lang="en-US" dirty="0">
                <a:solidFill>
                  <a:srgbClr val="22333B"/>
                </a:solidFill>
                <a:latin typeface="Times New Roman" panose="02020603050405020304" pitchFamily="18" charset="0"/>
                <a:ea typeface="Calibri" pitchFamily="34" charset="-122"/>
                <a:cs typeface="Times New Roman" panose="02020603050405020304" pitchFamily="18" charset="0"/>
              </a:rPr>
              <a:t>Rank the library by predicted affinity, take the top 1%, and ask how much richer in true actives it is than the library overall. 1.0 is random ranking. The ceiling is 1 over the active fraction: 1.69 and 1.49 here, so this sits at 98% of the maximum achievable.</a:t>
            </a:r>
            <a:endParaRPr lang="en-US" dirty="0">
              <a:latin typeface="Times New Roman" panose="02020603050405020304" pitchFamily="18" charset="0"/>
              <a:cs typeface="Times New Roman" panose="02020603050405020304" pitchFamily="18" charset="0"/>
            </a:endParaRPr>
          </a:p>
        </p:txBody>
      </p:sp>
      <p:pic>
        <p:nvPicPr>
          <p:cNvPr id="14" name="Image 0" descr="/sessions/sharp-elegant-gauss/mnt/outputs/thesis_clean/figures/deck_f_mcc.png"/>
          <p:cNvPicPr>
            <a:picLocks noChangeAspect="1"/>
          </p:cNvPicPr>
          <p:nvPr/>
        </p:nvPicPr>
        <p:blipFill>
          <a:blip r:embed="rId3"/>
          <a:stretch>
            <a:fillRect/>
          </a:stretch>
        </p:blipFill>
        <p:spPr>
          <a:xfrm>
            <a:off x="822960" y="5504628"/>
            <a:ext cx="5257800" cy="610095"/>
          </a:xfrm>
          <a:prstGeom prst="rect">
            <a:avLst/>
          </a:prstGeom>
        </p:spPr>
      </p:pic>
      <p:pic>
        <p:nvPicPr>
          <p:cNvPr id="15" name="Image 1" descr="/sessions/sharp-elegant-gauss/mnt/outputs/thesis_clean/figures/deck_f_ef.png"/>
          <p:cNvPicPr>
            <a:picLocks noChangeAspect="1"/>
          </p:cNvPicPr>
          <p:nvPr/>
        </p:nvPicPr>
        <p:blipFill>
          <a:blip r:embed="rId4"/>
          <a:stretch>
            <a:fillRect/>
          </a:stretch>
        </p:blipFill>
        <p:spPr>
          <a:xfrm>
            <a:off x="8257032" y="4416552"/>
            <a:ext cx="1330452" cy="493776"/>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INTERPRETATION</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the classifier keys on</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28</a:t>
            </a:r>
            <a:endParaRPr lang="en-US" sz="900" dirty="0"/>
          </a:p>
        </p:txBody>
      </p:sp>
      <p:pic>
        <p:nvPicPr>
          <p:cNvPr id="6" name="Image 0" descr="/sessions/sharp-elegant-gauss/mnt/outputs/thesis_clean/figures/shap_classifier.png"/>
          <p:cNvPicPr>
            <a:picLocks noChangeAspect="1"/>
          </p:cNvPicPr>
          <p:nvPr/>
        </p:nvPicPr>
        <p:blipFill>
          <a:blip r:embed="rId3"/>
          <a:stretch>
            <a:fillRect/>
          </a:stretch>
        </p:blipFill>
        <p:spPr>
          <a:xfrm>
            <a:off x="658368" y="1554480"/>
            <a:ext cx="10881360" cy="3749040"/>
          </a:xfrm>
          <a:prstGeom prst="rect">
            <a:avLst/>
          </a:prstGeom>
        </p:spPr>
      </p:pic>
      <p:sp>
        <p:nvSpPr>
          <p:cNvPr id="7" name="Shape 4"/>
          <p:cNvSpPr/>
          <p:nvPr/>
        </p:nvSpPr>
        <p:spPr>
          <a:xfrm>
            <a:off x="484505" y="5486400"/>
            <a:ext cx="11091672" cy="1005840"/>
          </a:xfrm>
          <a:prstGeom prst="roundRect">
            <a:avLst>
              <a:gd name="adj" fmla="val 8182"/>
            </a:avLst>
          </a:prstGeom>
          <a:solidFill>
            <a:srgbClr val="E9F1F0"/>
          </a:solidFill>
          <a:ln/>
        </p:spPr>
        <p:txBody>
          <a:bodyPr/>
          <a:lstStyle/>
          <a:p>
            <a:endParaRPr lang="en-US"/>
          </a:p>
        </p:txBody>
      </p:sp>
      <p:sp>
        <p:nvSpPr>
          <p:cNvPr id="8" name="Text 5"/>
          <p:cNvSpPr/>
          <p:nvPr/>
        </p:nvSpPr>
        <p:spPr>
          <a:xfrm>
            <a:off x="868680" y="5431536"/>
            <a:ext cx="10451592" cy="1005840"/>
          </a:xfrm>
          <a:prstGeom prst="rect">
            <a:avLst/>
          </a:prstGeom>
          <a:noFill/>
          <a:ln/>
        </p:spPr>
        <p:txBody>
          <a:bodyPr wrap="square" rtlCol="0" anchor="ctr"/>
          <a:lstStyle/>
          <a:p>
            <a:pPr marL="0" indent="0">
              <a:buNone/>
            </a:pPr>
            <a:r>
              <a:rPr lang="en-US" sz="1150" b="1" dirty="0">
                <a:solidFill>
                  <a:srgbClr val="22333B"/>
                </a:solidFill>
                <a:latin typeface="Calibri" pitchFamily="34" charset="0"/>
                <a:ea typeface="Calibri" pitchFamily="34" charset="-122"/>
                <a:cs typeface="Calibri" pitchFamily="34" charset="-120"/>
              </a:rPr>
              <a:t>Rank correlation with the regression SHAP: 0.90 and 0.87.  </a:t>
            </a:r>
            <a:r>
              <a:rPr lang="en-US" sz="1150" dirty="0">
                <a:solidFill>
                  <a:srgbClr val="22333B"/>
                </a:solidFill>
                <a:latin typeface="Calibri" pitchFamily="34" charset="0"/>
                <a:ea typeface="Calibri" pitchFamily="34" charset="-122"/>
                <a:cs typeface="Calibri" pitchFamily="34" charset="-120"/>
              </a:rPr>
              <a:t>The same chemistry drives the category call and the continuous prediction, so the interpretation is a property of the data rather than of the loss function. Charge-binned surface areas lead for 5-HT₂A; for D₃, Balaban J alone carries 18 per cent of the attribution. Values are in log-odds, so ranks are comparable to the regression figure but magnitudes are not.</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548640" y="548640"/>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What this work does not establish</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30</a:t>
            </a:r>
            <a:endParaRPr lang="en-US" sz="900" dirty="0"/>
          </a:p>
        </p:txBody>
      </p:sp>
      <p:sp>
        <p:nvSpPr>
          <p:cNvPr id="10" name="Text 8"/>
          <p:cNvSpPr/>
          <p:nvPr/>
        </p:nvSpPr>
        <p:spPr>
          <a:xfrm>
            <a:off x="4526280" y="2075688"/>
            <a:ext cx="2971800" cy="411480"/>
          </a:xfrm>
          <a:prstGeom prst="rect">
            <a:avLst/>
          </a:prstGeom>
          <a:noFill/>
          <a:ln/>
        </p:spPr>
        <p:txBody>
          <a:bodyPr wrap="square" rtlCol="0" anchor="ctr"/>
          <a:lstStyle/>
          <a:p>
            <a:pPr marL="0" indent="0">
              <a:buNone/>
            </a:pPr>
            <a:endParaRPr lang="en-US" sz="1500" dirty="0"/>
          </a:p>
        </p:txBody>
      </p:sp>
      <p:sp>
        <p:nvSpPr>
          <p:cNvPr id="11" name="Text 9"/>
          <p:cNvSpPr/>
          <p:nvPr/>
        </p:nvSpPr>
        <p:spPr>
          <a:xfrm>
            <a:off x="1119673" y="2075688"/>
            <a:ext cx="6378407" cy="1636776"/>
          </a:xfrm>
          <a:prstGeom prst="rect">
            <a:avLst/>
          </a:prstGeom>
          <a:noFill/>
          <a:ln/>
        </p:spPr>
        <p:txBody>
          <a:bodyPr wrap="square" rtlCol="0" anchor="t"/>
          <a:lstStyle/>
          <a:p>
            <a:pPr marL="0" indent="0">
              <a:lnSpc>
                <a:spcPct val="112000"/>
              </a:lnSpc>
              <a:buNone/>
            </a:pPr>
            <a:endParaRPr lang="en-US" sz="1150" dirty="0"/>
          </a:p>
        </p:txBody>
      </p:sp>
      <p:sp>
        <p:nvSpPr>
          <p:cNvPr id="13" name="Text 11"/>
          <p:cNvSpPr/>
          <p:nvPr/>
        </p:nvSpPr>
        <p:spPr>
          <a:xfrm>
            <a:off x="548640" y="3191256"/>
            <a:ext cx="10181564" cy="1170432"/>
          </a:xfrm>
          <a:prstGeom prst="rect">
            <a:avLst/>
          </a:prstGeom>
          <a:noFill/>
          <a:ln/>
        </p:spPr>
        <p:txBody>
          <a:bodyPr wrap="square" rtlCol="0" anchor="ctr"/>
          <a:lstStyle/>
          <a:p>
            <a:pPr marL="342900" indent="-342900">
              <a:buFont typeface="Arial" panose="020B0604020202020204" pitchFamily="34" charset="0"/>
              <a:buChar char="•"/>
            </a:pPr>
            <a:r>
              <a:rPr lang="en-US" sz="2000" dirty="0">
                <a:solidFill>
                  <a:srgbClr val="22333B"/>
                </a:solidFill>
                <a:latin typeface="Times New Roman" panose="02020603050405020304" pitchFamily="18" charset="0"/>
                <a:ea typeface="Cambria" pitchFamily="34" charset="-122"/>
                <a:cs typeface="Times New Roman" panose="02020603050405020304" pitchFamily="18" charset="0"/>
              </a:rPr>
              <a:t>Two targets only</a:t>
            </a:r>
            <a:r>
              <a:rPr lang="en-US" sz="2000" dirty="0">
                <a:latin typeface="Times New Roman" panose="02020603050405020304" pitchFamily="18" charset="0"/>
                <a:cs typeface="Times New Roman" panose="02020603050405020304" pitchFamily="18" charset="0"/>
              </a:rPr>
              <a:t> </a:t>
            </a: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5-HT₂A and D₃ were chosen for data density. The pipeline is general, but the numbers are not yet shown to transfer across the receptor panel.</a:t>
            </a:r>
            <a:endParaRPr lang="en-US" sz="2000" dirty="0">
              <a:latin typeface="Times New Roman" panose="02020603050405020304" pitchFamily="18" charset="0"/>
              <a:cs typeface="Times New Roman" panose="02020603050405020304" pitchFamily="18" charset="0"/>
            </a:endParaRPr>
          </a:p>
          <a:p>
            <a:endParaRPr lang="en-US" sz="2000" dirty="0">
              <a:solidFill>
                <a:srgbClr val="22333B"/>
              </a:solidFill>
              <a:latin typeface="Times New Roman" panose="02020603050405020304" pitchFamily="18" charset="0"/>
              <a:ea typeface="Cambria" pitchFamily="34" charset="-122"/>
              <a:cs typeface="Times New Roman" panose="02020603050405020304" pitchFamily="18" charset="0"/>
            </a:endParaRPr>
          </a:p>
          <a:p>
            <a:pPr marL="342900" indent="-342900">
              <a:buFont typeface="Arial" panose="020B0604020202020204" pitchFamily="34" charset="0"/>
              <a:buChar char="•"/>
            </a:pPr>
            <a:r>
              <a:rPr lang="en-US" sz="2000" dirty="0">
                <a:solidFill>
                  <a:srgbClr val="22333B"/>
                </a:solidFill>
                <a:latin typeface="Times New Roman" panose="02020603050405020304" pitchFamily="18" charset="0"/>
                <a:ea typeface="Cambria" pitchFamily="34" charset="-122"/>
                <a:cs typeface="Times New Roman" panose="02020603050405020304" pitchFamily="18" charset="0"/>
              </a:rPr>
              <a:t>2D representation</a:t>
            </a: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ECFP4 and 2D descriptors carry no explicit conformation or protein structure, so binding-mode effects are invisible to the model.</a:t>
            </a:r>
          </a:p>
          <a:p>
            <a:endParaRPr lang="en-US" sz="2000" dirty="0">
              <a:solidFill>
                <a:srgbClr val="22333B"/>
              </a:solidFill>
              <a:latin typeface="Times New Roman" panose="02020603050405020304" pitchFamily="18" charset="0"/>
              <a:ea typeface="Cambria" pitchFamily="34" charset="-122"/>
              <a:cs typeface="Times New Roman" panose="02020603050405020304" pitchFamily="18" charset="0"/>
            </a:endParaRPr>
          </a:p>
          <a:p>
            <a:pPr marL="342900" indent="-342900">
              <a:buFont typeface="Arial" panose="020B0604020202020204" pitchFamily="34" charset="0"/>
              <a:buChar char="•"/>
            </a:pPr>
            <a:r>
              <a:rPr lang="en-US" sz="2000" dirty="0">
                <a:solidFill>
                  <a:srgbClr val="22333B"/>
                </a:solidFill>
                <a:latin typeface="Times New Roman" panose="02020603050405020304" pitchFamily="18" charset="0"/>
                <a:ea typeface="Cambria" pitchFamily="34" charset="-122"/>
                <a:cs typeface="Times New Roman" panose="02020603050405020304" pitchFamily="18" charset="0"/>
              </a:rPr>
              <a:t>Scope of tuning and ablation</a:t>
            </a:r>
            <a:r>
              <a:rPr lang="en-US" sz="2000" dirty="0">
                <a:latin typeface="Times New Roman" panose="02020603050405020304" pitchFamily="18" charset="0"/>
                <a:cs typeface="Times New Roman" panose="02020603050405020304" pitchFamily="18" charset="0"/>
              </a:rPr>
              <a:t> </a:t>
            </a: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Hyperparameters are fixed sensible defaults, not per-fold tuned; nested CV would be the rigorous protocol. The promiscuity ablation covers the regression models only, not the classifiers.</a:t>
            </a:r>
            <a:endParaRPr lang="en-US" sz="2000" dirty="0">
              <a:latin typeface="Times New Roman" panose="02020603050405020304" pitchFamily="18" charset="0"/>
              <a:cs typeface="Times New Roman" panose="02020603050405020304" pitchFamily="18" charset="0"/>
            </a:endParaRPr>
          </a:p>
          <a:p>
            <a:endParaRPr lang="en-US" sz="2000" dirty="0">
              <a:solidFill>
                <a:srgbClr val="22333B"/>
              </a:solidFill>
              <a:latin typeface="Times New Roman" panose="02020603050405020304" pitchFamily="18" charset="0"/>
              <a:ea typeface="Cambria" pitchFamily="34" charset="-122"/>
              <a:cs typeface="Times New Roman" panose="02020603050405020304" pitchFamily="18" charset="0"/>
            </a:endParaRPr>
          </a:p>
          <a:p>
            <a:pPr marL="342900" indent="-342900">
              <a:buFont typeface="Arial" panose="020B0604020202020204" pitchFamily="34" charset="0"/>
              <a:buChar char="•"/>
            </a:pPr>
            <a:r>
              <a:rPr lang="en-US" sz="2000" dirty="0">
                <a:solidFill>
                  <a:srgbClr val="22333B"/>
                </a:solidFill>
                <a:latin typeface="Times New Roman" panose="02020603050405020304" pitchFamily="18" charset="0"/>
                <a:ea typeface="Cambria" pitchFamily="34" charset="-122"/>
                <a:cs typeface="Times New Roman" panose="02020603050405020304" pitchFamily="18" charset="0"/>
              </a:rPr>
              <a:t>No external test set</a:t>
            </a:r>
            <a:r>
              <a:rPr lang="en-US" sz="2000" dirty="0">
                <a:latin typeface="Times New Roman" panose="02020603050405020304" pitchFamily="18" charset="0"/>
                <a:cs typeface="Times New Roman" panose="02020603050405020304" pitchFamily="18" charset="0"/>
              </a:rPr>
              <a:t> </a:t>
            </a: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Validation is internal, albeit leakage-controlled and repeated. A prospective or external set would be the stronger claim.</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822960" y="4315968"/>
            <a:ext cx="2971800" cy="411480"/>
          </a:xfrm>
          <a:prstGeom prst="rect">
            <a:avLst/>
          </a:prstGeom>
          <a:noFill/>
          <a:ln/>
        </p:spPr>
        <p:txBody>
          <a:bodyPr wrap="square" rtlCol="0" anchor="ctr"/>
          <a:lstStyle/>
          <a:p>
            <a:pPr marL="0" indent="0">
              <a:buNone/>
            </a:pPr>
            <a:endParaRPr lang="en-US" sz="1500" dirty="0"/>
          </a:p>
        </p:txBody>
      </p:sp>
      <p:sp>
        <p:nvSpPr>
          <p:cNvPr id="17" name="Text 15"/>
          <p:cNvSpPr/>
          <p:nvPr/>
        </p:nvSpPr>
        <p:spPr>
          <a:xfrm>
            <a:off x="845353" y="3712464"/>
            <a:ext cx="4275287" cy="658368"/>
          </a:xfrm>
          <a:prstGeom prst="rect">
            <a:avLst/>
          </a:prstGeom>
          <a:noFill/>
          <a:ln/>
        </p:spPr>
        <p:txBody>
          <a:bodyPr wrap="square" rtlCol="0" anchor="t"/>
          <a:lstStyle/>
          <a:p>
            <a:pPr>
              <a:lnSpc>
                <a:spcPct val="112000"/>
              </a:lnSpc>
            </a:pPr>
            <a:endParaRPr lang="en-US" sz="1150" dirty="0"/>
          </a:p>
        </p:txBody>
      </p:sp>
      <p:sp>
        <p:nvSpPr>
          <p:cNvPr id="22" name="Text 20"/>
          <p:cNvSpPr/>
          <p:nvPr/>
        </p:nvSpPr>
        <p:spPr>
          <a:xfrm>
            <a:off x="8229600" y="4315968"/>
            <a:ext cx="2971800" cy="411480"/>
          </a:xfrm>
          <a:prstGeom prst="rect">
            <a:avLst/>
          </a:prstGeom>
          <a:noFill/>
          <a:ln/>
        </p:spPr>
        <p:txBody>
          <a:bodyPr wrap="square" rtlCol="0" anchor="ctr"/>
          <a:lstStyle/>
          <a:p>
            <a:pPr marL="0" indent="0">
              <a:buNone/>
            </a:pP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10896"/>
            <a:ext cx="10058400" cy="274320"/>
          </a:xfrm>
          <a:prstGeom prst="rect">
            <a:avLst/>
          </a:prstGeom>
          <a:noFill/>
          <a:ln/>
        </p:spPr>
        <p:txBody>
          <a:bodyPr wrap="square" rtlCol="0" anchor="ctr"/>
          <a:lstStyle/>
          <a:p>
            <a:pPr marL="0" indent="0">
              <a:buNone/>
            </a:pPr>
            <a:r>
              <a:rPr lang="en-US" sz="1200" b="1" kern="0" spc="300" dirty="0">
                <a:solidFill>
                  <a:srgbClr val="116E64"/>
                </a:solidFill>
                <a:latin typeface="Calibri" pitchFamily="34" charset="0"/>
                <a:ea typeface="Calibri" pitchFamily="34" charset="-122"/>
                <a:cs typeface="Calibri" pitchFamily="34" charset="-120"/>
              </a:rPr>
              <a:t>CONCLUSIONS</a:t>
            </a:r>
            <a:endParaRPr lang="en-US" sz="1200" dirty="0"/>
          </a:p>
        </p:txBody>
      </p:sp>
      <p:sp>
        <p:nvSpPr>
          <p:cNvPr id="3" name="Text 1"/>
          <p:cNvSpPr/>
          <p:nvPr/>
        </p:nvSpPr>
        <p:spPr>
          <a:xfrm>
            <a:off x="548640" y="532598"/>
            <a:ext cx="11064240" cy="822960"/>
          </a:xfrm>
          <a:prstGeom prst="rect">
            <a:avLst/>
          </a:prstGeom>
          <a:noFill/>
          <a:ln/>
        </p:spPr>
        <p:txBody>
          <a:bodyPr wrap="square" rtlCol="0" anchor="ctr"/>
          <a:lstStyle/>
          <a:p>
            <a:pPr marL="0" indent="0">
              <a:buNone/>
            </a:pPr>
            <a:r>
              <a:rPr lang="en-US" sz="2900" b="1" dirty="0">
                <a:solidFill>
                  <a:srgbClr val="22333B"/>
                </a:solidFill>
                <a:latin typeface="Cambria" pitchFamily="34" charset="0"/>
                <a:ea typeface="Cambria" pitchFamily="34" charset="-122"/>
                <a:cs typeface="Cambria" pitchFamily="34" charset="-120"/>
              </a:rPr>
              <a:t>Contributions and next steps</a:t>
            </a:r>
            <a:endParaRPr lang="en-US" sz="2900" dirty="0"/>
          </a:p>
        </p:txBody>
      </p:sp>
      <p:sp>
        <p:nvSpPr>
          <p:cNvPr id="4" name="Text 2"/>
          <p:cNvSpPr/>
          <p:nvPr/>
        </p:nvSpPr>
        <p:spPr>
          <a:xfrm>
            <a:off x="548640" y="6455664"/>
            <a:ext cx="9144000" cy="274320"/>
          </a:xfrm>
          <a:prstGeom prst="rect">
            <a:avLst/>
          </a:prstGeom>
          <a:noFill/>
          <a:ln/>
        </p:spPr>
        <p:txBody>
          <a:bodyPr wrap="square" rtlCol="0" anchor="ctr"/>
          <a:lstStyle/>
          <a:p>
            <a:pPr marL="0" indent="0">
              <a:buNone/>
            </a:pPr>
            <a:r>
              <a:rPr lang="en-US" sz="900" dirty="0">
                <a:solidFill>
                  <a:srgbClr val="60727A"/>
                </a:solidFill>
                <a:latin typeface="Calibri" pitchFamily="34" charset="0"/>
                <a:ea typeface="Calibri" pitchFamily="34" charset="-122"/>
                <a:cs typeface="Calibri" pitchFamily="34" charset="-120"/>
              </a:rPr>
              <a:t>MSc Molecular &amp; Medical Biotechnology · University of Verona</a:t>
            </a:r>
            <a:endParaRPr lang="en-US" sz="900" dirty="0"/>
          </a:p>
        </p:txBody>
      </p:sp>
      <p:sp>
        <p:nvSpPr>
          <p:cNvPr id="5" name="Text 3"/>
          <p:cNvSpPr/>
          <p:nvPr/>
        </p:nvSpPr>
        <p:spPr>
          <a:xfrm>
            <a:off x="10972800" y="6455664"/>
            <a:ext cx="731520" cy="274320"/>
          </a:xfrm>
          <a:prstGeom prst="rect">
            <a:avLst/>
          </a:prstGeom>
          <a:noFill/>
          <a:ln/>
        </p:spPr>
        <p:txBody>
          <a:bodyPr wrap="square" rtlCol="0" anchor="ctr"/>
          <a:lstStyle/>
          <a:p>
            <a:pPr marL="0" indent="0" algn="r">
              <a:buNone/>
            </a:pPr>
            <a:r>
              <a:rPr lang="en-US" sz="900" dirty="0">
                <a:solidFill>
                  <a:srgbClr val="60727A"/>
                </a:solidFill>
                <a:latin typeface="Calibri" pitchFamily="34" charset="0"/>
                <a:ea typeface="Calibri" pitchFamily="34" charset="-122"/>
                <a:cs typeface="Calibri" pitchFamily="34" charset="-120"/>
              </a:rPr>
              <a:t>31</a:t>
            </a:r>
            <a:endParaRPr lang="en-US" sz="900" dirty="0"/>
          </a:p>
        </p:txBody>
      </p:sp>
      <p:sp>
        <p:nvSpPr>
          <p:cNvPr id="6" name="Text 4"/>
          <p:cNvSpPr/>
          <p:nvPr/>
        </p:nvSpPr>
        <p:spPr>
          <a:xfrm>
            <a:off x="548640" y="1737360"/>
            <a:ext cx="11091672" cy="4572000"/>
          </a:xfrm>
          <a:prstGeom prst="rect">
            <a:avLst/>
          </a:prstGeom>
          <a:noFill/>
          <a:ln/>
        </p:spPr>
        <p:txBody>
          <a:bodyPr wrap="square" rtlCol="0" anchor="t"/>
          <a:lstStyle/>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A curated clinical-stage GPCR ligand dataset that did not exist in this form: 719 molecules, 3,011 records, characterised across fifteen descriptors.</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As a virtual screen, the strongest result: MCC 0.63 on both receptors, with top-1% enrichment at 98% of its achievable ceiling.</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Underneath it, a leakage-controlled affinity model at scaffold R² 0.56–0.64, with chance, baseline and robustness controls behind every number.</a:t>
            </a:r>
            <a:endParaRPr lang="en-US" sz="2000" dirty="0">
              <a:latin typeface="Times New Roman" panose="02020603050405020304" pitchFamily="18" charset="0"/>
              <a:cs typeface="Times New Roman" panose="02020603050405020304" pitchFamily="18" charset="0"/>
            </a:endParaRPr>
          </a:p>
          <a:p>
            <a:pPr marL="177800" indent="-177800">
              <a:spcAft>
                <a:spcPts val="800"/>
              </a:spcAft>
              <a:buSzPct val="100000"/>
              <a:buChar char="•"/>
            </a:pPr>
            <a:r>
              <a:rPr lang="en-US" sz="2000" dirty="0">
                <a:solidFill>
                  <a:srgbClr val="22333B"/>
                </a:solidFill>
                <a:latin typeface="Times New Roman" panose="02020603050405020304" pitchFamily="18" charset="0"/>
                <a:ea typeface="Calibri" pitchFamily="34" charset="-122"/>
                <a:cs typeface="Times New Roman" panose="02020603050405020304" pitchFamily="18" charset="0"/>
              </a:rPr>
              <a:t>SHAP shows the two receptors are driven by different property families: charge for 5-HT₂A, molecular topology for D₃.</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1501</TotalTime>
  <Words>6240</Words>
  <Application>Microsoft Office PowerPoint</Application>
  <PresentationFormat>Custom</PresentationFormat>
  <Paragraphs>360</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Dagmawi Tarekegn Fikadu</cp:lastModifiedBy>
  <cp:revision>27</cp:revision>
  <dcterms:created xsi:type="dcterms:W3CDTF">2026-09-09T08:16:46Z</dcterms:created>
  <dcterms:modified xsi:type="dcterms:W3CDTF">2026-10-13T01:30:01Z</dcterms:modified>
</cp:coreProperties>
</file>